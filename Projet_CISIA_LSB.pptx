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Italics" charset="1" panose="020F05020202040A0204"/>
      <p:regular r:id="rId26"/>
    </p:embeddedFont>
    <p:embeddedFont>
      <p:font typeface="Arial Bold" charset="1" panose="020B0704020202020204"/>
      <p:regular r:id="rId27"/>
    </p:embeddedFont>
    <p:embeddedFont>
      <p:font typeface="Arimo" charset="1" panose="020B0604020202020204"/>
      <p:regular r:id="rId28"/>
    </p:embeddedFont>
    <p:embeddedFont>
      <p:font typeface="Calibri (MS) Bold" charset="1" panose="020F0702030404030204"/>
      <p:regular r:id="rId30"/>
    </p:embeddedFont>
    <p:embeddedFont>
      <p:font typeface="Calibri (MS)" charset="1" panose="020F0502020204030204"/>
      <p:regular r:id="rId33"/>
    </p:embeddedFont>
    <p:embeddedFont>
      <p:font typeface="TT Rounds Condensed" charset="1" panose="02000506030000020003"/>
      <p:regular r:id="rId35"/>
    </p:embeddedFont>
    <p:embeddedFont>
      <p:font typeface="TT Rounds Condensed Bold" charset="1" panose="020008060300000200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4.xml" Type="http://schemas.openxmlformats.org/officeDocument/2006/relationships/notesSlide"/><Relationship Id="rId32" Target="notesSlides/notesSlide5.xml" Type="http://schemas.openxmlformats.org/officeDocument/2006/relationships/notesSlide"/><Relationship Id="rId33" Target="fonts/font33.fntdata" Type="http://schemas.openxmlformats.org/officeDocument/2006/relationships/font"/><Relationship Id="rId34" Target="notesSlides/notesSlide6.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à toutes et à tous. Je m’appelle Léo Segalini Briant. Aujourd’hui je vous présente CISIA Santé, un projet réalisé dans le cadre de ma certification CIF.</a:t>
            </a:r>
          </a:p>
          <a:p>
            <a:r>
              <a:rPr lang="en-US"/>
              <a:t/>
            </a:r>
          </a:p>
          <a:p>
            <a:r>
              <a:rPr lang="en-US"/>
              <a:t>CISIA Santé est une solution d’aide à la décision pour les établissements hospitaliers. Elle vise à prioriser les patients qui, à la sortie d’hospitalisation, présentent un risque élevé de revenir à l’hôpital dans les trente jours.</a:t>
            </a:r>
          </a:p>
          <a:p>
            <a:r>
              <a:rPr lang="en-US"/>
              <a:t/>
            </a:r>
          </a:p>
          <a:p>
            <a:r>
              <a:rPr lang="en-US"/>
              <a:t>Je vais d’abord poser le problème métier, puis montrer comment la solution fonctionne, avec une démonstration live, et enfin expliquer les choix techniques, de sécurité et d’éthique.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message principal est simple : priorisez les sorties à risque **avant** la réadmission, pas après.</a:t>
            </a:r>
          </a:p>
          <a:p>
            <a:r>
              <a:rPr lang="en-US"/>
              <a:t/>
            </a:r>
          </a:p>
          <a:p>
            <a:r>
              <a:rPr lang="en-US"/>
              <a:t>CISIA produit un score de risque de réadmission à trente jours. Ce score est **explicable** — on sait pourquoi un patient est signalé — et le traitement reste **cent pour cent local** : les données de santé ne partent pas vers un cloud tiers.</a:t>
            </a:r>
          </a:p>
          <a:p>
            <a:r>
              <a:rPr lang="en-US"/>
              <a:t/>
            </a:r>
          </a:p>
          <a:p>
            <a:r>
              <a:rPr lang="en-US"/>
              <a:t>Deux précisions importantes pour le jury. Premièrement, toutes les données de cette démonstration sont **synthétiques** : elles ne correspondent à aucun patient réel. Deuxièmement, CISIA est une **aide à la priorisation**, pas un dispositif de diagnostic et pas un substitut au jugement clinique.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problème que pose le sujet, et que rencontrent les établissements, se résume à une question : après une sortie, **qui** faut-il rappeler ou accompagner en priorité ?</a:t>
            </a:r>
          </a:p>
          <a:p>
            <a:r>
              <a:rPr lang="en-US"/>
              <a:t/>
            </a:r>
          </a:p>
          <a:p>
            <a:r>
              <a:rPr lang="en-US"/>
              <a:t>Sans outil adapté, l’établissement perd plusieurs choses chaque jour. D’abord, il n’a pas de vision **objective et homogène** du risque : la priorisation repose surtout sur l’expérience individuelle. Ensuite, on peut sur-investir du temps de suivi sur des patients à faible risque, pendant que des situations plus fragiles passent entre les mailles. Ensuite, quand une alerte est décidée, il y a souvent **peu de traçabilité** pour justifier pourquoi ce patient-là et pas un autre. Enfin, dès qu’on touche aux données de santé, la pression du **RGPD** et du **secret médical** est maximale : on ne peut pas improviser une IA opaque ou externalisée.</a:t>
            </a:r>
          </a:p>
          <a:p>
            <a:r>
              <a:rPr lang="en-US"/>
              <a:t/>
            </a:r>
          </a:p>
          <a:p>
            <a:r>
              <a:rPr lang="en-US"/>
              <a:t>C’est exactement le cadre dans lequel s’inscrit CISIA.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un établissement, CISIA apporte quatre bénéfices concrets.</a:t>
            </a:r>
          </a:p>
          <a:p>
            <a:r>
              <a:rPr lang="en-US"/>
              <a:t/>
            </a:r>
          </a:p>
          <a:p>
            <a:r>
              <a:rPr lang="en-US"/>
              <a:t>Premier bénéfice : **prioriser les bonnes sorties**. Le coordinateur ou l’équipe de parcours voit clairement qui nécessite un suivi renforcé dans les trente jours.</a:t>
            </a:r>
          </a:p>
          <a:p>
            <a:r>
              <a:rPr lang="en-US"/>
              <a:t/>
            </a:r>
          </a:p>
          <a:p>
            <a:r>
              <a:rPr lang="en-US"/>
              <a:t>Deuxième bénéfice : **prouver la conformité**. Chaque variable utilisée dans le score a un usage documenté ; ce qui est sensible ou hors périmètre est exclu de façon explicite, pas oublié.</a:t>
            </a:r>
          </a:p>
          <a:p>
            <a:r>
              <a:rPr lang="en-US"/>
              <a:t/>
            </a:r>
          </a:p>
          <a:p>
            <a:r>
              <a:rPr lang="en-US"/>
              <a:t>Troisième bénéfice : **intégrer sans exposer le dossier patient au cloud**. Le moteur tourne en local, sur le poste ou le serveur de l’établissement.</a:t>
            </a:r>
          </a:p>
          <a:p>
            <a:r>
              <a:rPr lang="en-US"/>
              <a:t/>
            </a:r>
          </a:p>
          <a:p>
            <a:r>
              <a:rPr lang="en-US"/>
              <a:t>Quatrième bénéfice : **comprendre chaque alerte**. Derrière le pourcentage, on fournit les facteurs qui poussent le risque, pour que l’équipe puisse discuter et agir, pas seulement “croire” un 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fonctionnement tient en quatre étapes.</a:t>
            </a:r>
          </a:p>
          <a:p>
            <a:r>
              <a:rPr lang="en-US"/>
              <a:t/>
            </a:r>
          </a:p>
          <a:p>
            <a:r>
              <a:rPr lang="en-US"/>
              <a:t>On part des **données de séjour** : ce qui a été collecté pendant l’hospitalisation — profil, diagnostics, biologie, constantes, médicaments, et éventuellement le suivi post-sortie pour un second score.</a:t>
            </a:r>
          </a:p>
          <a:p>
            <a:r>
              <a:rPr lang="en-US"/>
              <a:t/>
            </a:r>
          </a:p>
          <a:p>
            <a:r>
              <a:rPr lang="en-US"/>
              <a:t>Ensuite, le système **calcule un risque** : une probabilité exprimée en pourcentage.</a:t>
            </a:r>
          </a:p>
          <a:p>
            <a:r>
              <a:rPr lang="en-US"/>
              <a:t/>
            </a:r>
          </a:p>
          <a:p>
            <a:r>
              <a:rPr lang="en-US"/>
              <a:t>Si cette probabilité dépasse un **seuil d’alerte** calibré, on déclenche une **alerte de suivi**.</a:t>
            </a:r>
          </a:p>
          <a:p>
            <a:r>
              <a:rPr lang="en-US"/>
              <a:t/>
            </a:r>
          </a:p>
          <a:p>
            <a:r>
              <a:rPr lang="en-US"/>
              <a:t>Enfin, l’équipe agit : rappel, visite, renforcement du plan de sortie — selon les protocoles de l’établissement.</a:t>
            </a:r>
          </a:p>
          <a:p>
            <a:r>
              <a:rPr lang="en-US"/>
              <a:t/>
            </a:r>
          </a:p>
          <a:p>
            <a:r>
              <a:rPr lang="en-US"/>
              <a:t>En un coup d’œil, l’utilisateur voit trois choses : le pourcentage de risque, le seuil, et une recommandation du type “suivi renforcé”.</a:t>
            </a:r>
          </a:p>
          <a:p>
            <a:r>
              <a:rPr lang="en-US"/>
              <a:t/>
            </a:r>
          </a:p>
          <a:p>
            <a:r>
              <a:rPr lang="en-US"/>
              <a:t>Petit point méthodologique : le seuil n’est pas choisi “au feeling”. Il est calé pour maximiser une métrique qui privilégie le **rappel**, c’est-à-dire pour limiter le risque de rater un patient vraiment à risque.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l’écran clé du produit : dès la sortie, on visualise le risque de réadmission et les actions prioritaires.</a:t>
            </a:r>
          </a:p>
          <a:p>
            <a:r>
              <a:rPr lang="en-US"/>
              <a:t/>
            </a:r>
          </a:p>
          <a:p>
            <a:r>
              <a:rPr lang="en-US"/>
              <a:t>Sur la diapositive, l’exemple pédagogique montre un patient très au-dessus du seuil. En production calibrée de notre démo, le seuil du score sortie est de l’ordre de vingt pour cent pour le modèle retenu — l’idée reste la même : au-dessus du seuil, badge de suivi renforcé.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Nous ne livrons pas une boîte noire. Chaque alerte s’accompagne d’une explication des facteurs qui influencent le risque. Cela permet de communiquer avec l’équipe de suivi sur des éléments concrets.</a:t>
            </a:r>
          </a:p>
          <a:p>
            <a:r>
              <a:rPr lang="en-US"/>
              <a:t/>
            </a:r>
          </a:p>
          <a:p>
            <a:r>
              <a:rPr lang="en-US"/>
              <a:t>Les familles de facteurs couvrent notamment : le **profil patient** — âge, comorbidités, historique ; les **constantes et la biologie** ; le **type et le déroulement du séjour** — durée, motif, services ; et la **médication** — prescriptions et complexité du traitement.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Au-delà des facteurs techniques, nous produisons aussi une justification en **langage métier**, compréhensible par le staff sans jargon statistique.</a:t>
            </a:r>
          </a:p>
          <a:p>
            <a:r>
              <a:rPr lang="en-US"/>
              <a:t/>
            </a:r>
          </a:p>
          <a:p>
            <a:r>
              <a:rPr lang="en-US"/>
              <a:t>Trois points de vigilance. Premièrement, l’analyse peut s’appuyer sur des comptes-rendus **masqués**, traités **localement** sur le poste. Deuxièmement, **aucune identité nominative** n’est envoyée sur Internet : conformité RGPD et secret médical. Troisièmement, le résultat est une phrase claire, actionnable.</a:t>
            </a:r>
          </a:p>
          <a:p>
            <a:r>
              <a:rPr lang="en-US"/>
              <a:t/>
            </a:r>
          </a:p>
          <a:p>
            <a:r>
              <a:rPr lang="en-US"/>
              <a:t>Important pour le jury : il y a **deux briques d’IA distinctes**. Le **modèle tabulaire** — forêt aléatoire ou régression logistique — calcule le **score en pourcentage**. Le **LLM local**, de type Qwen, sert à reformuler ou briefer du texte clinique masqué. Le LLM **ne calcule pas** le risque de réadmission.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CISIA s’organise en deux modules sur un socle unique.</a:t>
            </a:r>
          </a:p>
          <a:p>
            <a:r>
              <a:rPr lang="en-US"/>
              <a:t/>
            </a:r>
          </a:p>
          <a:p>
            <a:r>
              <a:rPr lang="en-US"/>
              <a:t>**CISIA Readmit** est le cœur de l’offre. Il s’adresse à la coordination, à la direction et à la gouvernance : score de risque, explicabilité, registre, audit des biais.</a:t>
            </a:r>
          </a:p>
          <a:p>
            <a:r>
              <a:rPr lang="en-US"/>
              <a:t/>
            </a:r>
          </a:p>
          <a:p>
            <a:r>
              <a:rPr lang="en-US"/>
              <a:t>**CISIA Flow** est l’ancrage terrain, optionnel. Il s’adresse aux soignants : plan d’étage, occupation des lits, alertes temps réel. Dans la démo, certains services sont en monitoring continu machine, d’autres en saisie manuelle des constantes par les infirmières — y compris le poids.</a:t>
            </a:r>
          </a:p>
          <a:p>
            <a:r>
              <a:rPr lang="en-US"/>
              <a:t/>
            </a:r>
          </a:p>
          <a:p>
            <a:r>
              <a:rPr lang="en-US"/>
              <a:t>Readmit décide et documente ; Flow ancre dans le quotidien du service.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sécurité n’est pas un chapitre collé après coup : elle structure le produit.</a:t>
            </a:r>
          </a:p>
          <a:p>
            <a:r>
              <a:rPr lang="en-US"/>
              <a:t/>
            </a:r>
          </a:p>
          <a:p>
            <a:r>
              <a:rPr lang="en-US"/>
              <a:t>Premier pilier : le **contrôle local**. Le traitement des données de santé reste sous supervision de l’établissement.</a:t>
            </a:r>
          </a:p>
          <a:p>
            <a:r>
              <a:rPr lang="en-US"/>
              <a:t/>
            </a:r>
          </a:p>
          <a:p>
            <a:r>
              <a:rPr lang="en-US"/>
              <a:t>Deuxième pilier : l’**exclusion** des proxys socio-économiques individuels non collectés en milieu hospitalier. Sur la slide, le libellé évoque l’exclusion de ces variables sensibles du calcul du score — c’est une exigence éthique et réglementaire du sujet.</a:t>
            </a:r>
          </a:p>
          <a:p>
            <a:r>
              <a:rPr lang="en-US"/>
              <a:t/>
            </a:r>
          </a:p>
          <a:p>
            <a:r>
              <a:rPr lang="en-US"/>
              <a:t>Troisième pilier : un **registre traçable**. Chaque colonne a une sensibilité et un usage : autorisé pour le score, signalé seulement, ou exclu.</a:t>
            </a:r>
          </a:p>
          <a:p>
            <a:r>
              <a:rPr lang="en-US"/>
              <a:t/>
            </a:r>
          </a:p>
          <a:p>
            <a:r>
              <a:rPr lang="en-US"/>
              <a:t>Quatrième pilier : l’**identité anonymisée**. Le nominatif est isolé dans un coffre ; le moteur de score travaille sur des données pseudonymisées.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Quatre différenciateurs résument notre positionnement.</a:t>
            </a:r>
          </a:p>
          <a:p>
            <a:r>
              <a:rPr lang="en-US"/>
              <a:t/>
            </a:r>
          </a:p>
          <a:p>
            <a:r>
              <a:rPr lang="en-US"/>
              <a:t>**Local first** : l’IA tourne sur le poste ou le serveur local, ce qui garantit la souveraineté des données.</a:t>
            </a:r>
          </a:p>
          <a:p>
            <a:r>
              <a:rPr lang="en-US"/>
              <a:t/>
            </a:r>
          </a:p>
          <a:p>
            <a:r>
              <a:rPr lang="en-US"/>
              <a:t>**Explicable** : chaque score a une explication SHAP et une traduction métier.</a:t>
            </a:r>
          </a:p>
          <a:p>
            <a:r>
              <a:rPr lang="en-US"/>
              <a:t/>
            </a:r>
          </a:p>
          <a:p>
            <a:r>
              <a:rPr lang="en-US"/>
              <a:t>**Gouvernable** : registre RGPD et audit des biais sont intégrés au parcours, pas dans un PDF annexe oublié.</a:t>
            </a:r>
          </a:p>
          <a:p>
            <a:r>
              <a:rPr lang="en-US"/>
              <a:t/>
            </a:r>
          </a:p>
          <a:p>
            <a:r>
              <a:rPr lang="en-US"/>
              <a:t>**Prêt à démontrer** : un parcours jury en quelques clics permet de dérouler score, fiche, biais et registre sans formation longue.</a:t>
            </a:r>
          </a:p>
          <a:p>
            <a:r>
              <a:rPr lang="en-US"/>
              <a:t/>
            </a:r>
          </a:p>
          <a:p>
            <a:r>
              <a:rPr lang="en-US"/>
              <a:t>Ce n’est pas “encore une IA hospitalière générique” : c’est une chaîne complète, du CSV au score, avec conformité et démontrabilité.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Avant même d’appliquer le modèle, on traite la **qualité des données**, parce que des sources cliniques hétérogènes produisent des trous, des valeurs aberrantes et des incohérences.</a:t>
            </a:r>
          </a:p>
          <a:p>
            <a:r>
              <a:rPr lang="en-US"/>
              <a:t/>
            </a:r>
          </a:p>
          <a:p>
            <a:r>
              <a:rPr lang="en-US"/>
              <a:t>Nous identifions par exemple des durées de séjour incohérentes, des constantes hors plage physiologique, des signaux d’objets connectés de mauvaise qualité, ou des dates d’actes hors de la fenêtre du séjour — souvent injectées volontairement dans le jeu synthétique pour l’audit pédagogique.</a:t>
            </a:r>
          </a:p>
          <a:p>
            <a:r>
              <a:rPr lang="en-US"/>
              <a:t/>
            </a:r>
          </a:p>
          <a:p>
            <a:r>
              <a:rPr lang="en-US"/>
              <a:t>Ce qui n’est pas fiable n’entre pas silencieusement dans le score : on l’exclut, on le corrige, ou on le flag. Résultat attendu côté métier : **moins de fausses alertes**, donc une meilleure adoption par les équipes.</a:t>
            </a:r>
          </a:p>
          <a:p>
            <a:r>
              <a:rPr lang="en-US"/>
              <a:t/>
            </a:r>
          </a:p>
          <a:p>
            <a:r>
              <a:rPr lang="en-US"/>
              <a:t>Pour l’entraînement, autre règle métier forte : on ne garde que les sorties à **domicile**. Les décès — et plus largement les modes de sortie hors domicile — sont exclus de la cohorte d’apprentissage, pour éviter toute fuite absurde du type prédire une réadmission après un décès.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modélisation, nous avons comparé plusieurs algorithmes sur **les mêmes splits patient-level** : une référence naïve, une régression logistique, une forêt aléatoire, LightGBM, un réseau de neurones de type MLP, et également un gradient boosting de type HistGB dans le benchmark.</a:t>
            </a:r>
          </a:p>
          <a:p>
            <a:r>
              <a:rPr lang="en-US"/>
              <a:t/>
            </a:r>
          </a:p>
          <a:p>
            <a:r>
              <a:rPr lang="en-US"/>
              <a:t>Le protocole n’utilise **pas** cent pour cent des données pour entraîner et cent pour cent pour tester. Nous découpons au niveau **patient** environ **soixante-dix pour cent** en entraînement, **quinze pour cent** en validation, et **quinze pour cent** en test. Un même patient ne peut pas être à la fois dans le train et dans le test : cela évite la fuite d’information.</a:t>
            </a:r>
          </a:p>
          <a:p>
            <a:r>
              <a:rPr lang="en-US"/>
              <a:t/>
            </a:r>
          </a:p>
          <a:p>
            <a:r>
              <a:rPr lang="en-US"/>
              <a:t>Le **critère de sélection** du modèle retenu est le **PR-AUC sur le jeu test**, adapté aux classes déséquilibrées — l’accuracy serait trompeuse. Le **seuil d’alerte** est choisi pour maximiser le **F2 sur la validation**, afin de privilégier le rappel.</a:t>
            </a:r>
          </a:p>
          <a:p>
            <a:r>
              <a:rPr lang="en-US"/>
              <a:t/>
            </a:r>
          </a:p>
          <a:p>
            <a:r>
              <a:rPr lang="en-US"/>
              <a:t>Sur ce run, la **forêt aléatoire** est **première en PR-AUC test** (environ **zéro virgule cinquante-huit**), devant la logistique puis LightGBM. Elle est donc alignée avec le critère officiel **et** figée en production pédagogique.</a:t>
            </a:r>
          </a:p>
          <a:p>
            <a:r>
              <a:rPr lang="en-US"/>
              <a:t/>
            </a:r>
          </a:p>
          <a:p>
            <a:r>
              <a:rPr lang="en-US"/>
              <a:t>**Pourquoi RF plutôt que LightGBM**, même quand un boosting peut gagner de peu ou afficher un meilleur F2 : LightGBM a ici un **F2 plus haut** (environ zéro virgule soixante-dix-huit) mais un **PR-AUC plus bas** (environ zéro virgule cinquante-trois). Or on **sélectionne sur le ranking PR-AUC**, pas sur un seul seuil F2. Ensuite : **SHAP** plus simple et stable, **une seule dépendance sklearn**, moins de sensibilité aux hyperparamètres Optuna sur ~480 séjours, et un écart de ranking souvent **négligeable** d’un seed à l’autre. Le graphique `documentation/assets/comparaison_modeles_rf.png` montre explicitement **RETENU prod** versus **1ᵉʳ PR-AUC** quand ils divergent. Le MLP, lui, chute en test : surapprentissage typique sur petit effectif.</a:t>
            </a:r>
          </a:p>
          <a:p>
            <a:r>
              <a:rPr lang="en-US"/>
              <a:t/>
            </a:r>
          </a:p>
          <a:p>
            <a:r>
              <a:rPr lang="en-US"/>
              <a:t>Pour une mise en production future avec un **beaucoup plus grand** volume, un HistGB ou LightGBM redeviendrait souvent plus efficace : on le documente dans l’app et les notebooks, sans l’imposer sur ce volume.</a:t>
            </a:r>
          </a:p>
          <a:p>
            <a:r>
              <a:rPr lang="en-US"/>
              <a:t/>
            </a:r>
          </a:p>
          <a:p>
            <a:r>
              <a:rPr lang="en-US"/>
              <a:t>Pour le **score télé** post-sortie, la production actuelle retient plutôt une **régression logistique**, avec un seuil calibré de l’ordre de quinze pour cent, tandis que le score sortie RF utilise un seuil calibré de l’ordre de vingt pour cent.</a:t>
            </a:r>
          </a:p>
          <a:p>
            <a:r>
              <a:rPr lang="en-US"/>
              <a:t/>
            </a:r>
          </a:p>
          <a:p>
            <a:r>
              <a:rPr lang="en-US"/>
              <a:t>Dernier point unités : chaque constante a une **unité canonique fixe** — millimètres de mercure pour la tension, degrés Celsius pour la température, pour cent pour la SpO₂, kilogrammes pour le poids. On n’entraîne pas sur un mélange d’unités pour une même mesure ; en revanche on ne convertit pas toutes les constantes vers une seule unité globale : ce sont des colonnes distinctes, normalisées statistiquement si besoin.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Sur l’équité, notre ligne est claire : **on mesure, on ne cache pas**.</a:t>
            </a:r>
          </a:p>
          <a:p>
            <a:r>
              <a:rPr lang="en-US"/>
              <a:t/>
            </a:r>
          </a:p>
          <a:p>
            <a:r>
              <a:rPr lang="en-US"/>
              <a:t>Nous ne prétendons pas qu’un modèle est automatiquement équitable. Nous fournissons un audit des performances selon le sexe, l’âge et le territoire, pour rendre visibles d’éventuels écarts. Ces écarts doivent pouvoir être discutés en comité qualité ou éthique.</a:t>
            </a:r>
          </a:p>
          <a:p>
            <a:r>
              <a:rPr lang="en-US"/>
              <a:t/>
            </a:r>
          </a:p>
          <a:p>
            <a:r>
              <a:rPr lang="en-US"/>
              <a:t>Cette transparence renforce la crédibilité auprès des médecins, des soignants et de la direction : mieux vaut montrer un biais pour le corriger que le dissimuler derrière un score unique.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coller le produit au quotidien, voici un scénario type côté coordinateur.</a:t>
            </a:r>
          </a:p>
          <a:p>
            <a:r>
              <a:rPr lang="en-US"/>
              <a:t/>
            </a:r>
          </a:p>
          <a:p>
            <a:r>
              <a:rPr lang="en-US"/>
              <a:t>À **huit heures trente**, il **filtre** les sorties de la veille ou du jour et ne garde que celles au-dessus du seuil.</a:t>
            </a:r>
          </a:p>
          <a:p>
            <a:r>
              <a:rPr lang="en-US"/>
              <a:t/>
            </a:r>
          </a:p>
          <a:p>
            <a:r>
              <a:rPr lang="en-US"/>
              <a:t>Ensuite, il ouvre la fiche pour une **analyse approfondie** : score, facteurs SHAP, éventuellement brief métier.</a:t>
            </a:r>
          </a:p>
          <a:p>
            <a:r>
              <a:rPr lang="en-US"/>
              <a:t/>
            </a:r>
          </a:p>
          <a:p>
            <a:r>
              <a:rPr lang="en-US"/>
              <a:t>Puis il déclenche une **action ciblée** : appel, visite à domicile, alerte à l’équipe de parcours, selon le protocole local.</a:t>
            </a:r>
          </a:p>
          <a:p>
            <a:r>
              <a:rPr lang="en-US"/>
              <a:t/>
            </a:r>
          </a:p>
          <a:p>
            <a:r>
              <a:rPr lang="en-US"/>
              <a:t>Enfin, le **patient est suivi** : on peut croiser avec Flow pour le signal terrain, ou simplement tracer que le suivi a été engagé.</a:t>
            </a:r>
          </a:p>
          <a:p>
            <a:r>
              <a:rPr lang="en-US"/>
              <a:t/>
            </a:r>
          </a:p>
          <a:p>
            <a:r>
              <a:rPr lang="en-US"/>
              <a:t>CISIA ne remplace pas cette chaîne humaine : il la **priorise** et la **documente**.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conclure. CISIA Readmit, c’est trois promesses.</a:t>
            </a:r>
          </a:p>
          <a:p>
            <a:r>
              <a:rPr lang="en-US"/>
              <a:t/>
            </a:r>
          </a:p>
          <a:p>
            <a:r>
              <a:rPr lang="en-US"/>
              <a:t>**Moins** de réadmissions découvertes trop tard, parce qu’on priorise à la sortie.</a:t>
            </a:r>
          </a:p>
          <a:p>
            <a:r>
              <a:rPr lang="en-US"/>
              <a:t/>
            </a:r>
          </a:p>
          <a:p>
            <a:r>
              <a:rPr lang="en-US"/>
              <a:t>**Plus** de suivi là où le risque est réellement concentré.</a:t>
            </a:r>
          </a:p>
          <a:p>
            <a:r>
              <a:rPr lang="en-US"/>
              <a:t/>
            </a:r>
          </a:p>
          <a:p>
            <a:r>
              <a:rPr lang="en-US"/>
              <a:t>Et tout cela **sans compromettre le secret médical** : traitement local, identité isolée, registre, explications, audit des biais.</a:t>
            </a:r>
          </a:p>
          <a:p>
            <a:r>
              <a:rPr lang="en-US"/>
              <a:t/>
            </a:r>
          </a:p>
          <a:p>
            <a:r>
              <a:rPr lang="en-US"/>
              <a:t>Je vous remercie pour votre attention. Je suis disponible pour vos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notesSlides/notesSlide4.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notesSlides/notesSlide7.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2" Target="../notesSlides/notesSlide10.xml" Type="http://schemas.openxmlformats.org/officeDocument/2006/relationships/notesSlide"/><Relationship Id="rId3" Target="../media/image1.jpe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png" Type="http://schemas.openxmlformats.org/officeDocument/2006/relationships/image"/><Relationship Id="rId11" Target="../media/image51.svg" Type="http://schemas.openxmlformats.org/officeDocument/2006/relationships/image"/><Relationship Id="rId2" Target="../notesSlides/notesSlide11.xml" Type="http://schemas.openxmlformats.org/officeDocument/2006/relationships/notesSlide"/><Relationship Id="rId3" Target="../media/image1.jpe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5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6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0" y="0"/>
            <a:ext cx="18301840" cy="10295039"/>
            <a:chOff x="0" y="0"/>
            <a:chExt cx="24402453" cy="13726719"/>
          </a:xfrm>
        </p:grpSpPr>
        <p:sp>
          <p:nvSpPr>
            <p:cNvPr name="Freeform 7" id="7"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4"/>
              <a:stretch>
                <a:fillRect l="-1" t="0" r="-1" b="0"/>
              </a:stretch>
            </a:blipFill>
          </p:spPr>
        </p:sp>
      </p:grpSp>
      <p:grpSp>
        <p:nvGrpSpPr>
          <p:cNvPr name="Group 8" id="8"/>
          <p:cNvGrpSpPr/>
          <p:nvPr/>
        </p:nvGrpSpPr>
        <p:grpSpPr>
          <a:xfrm rot="0">
            <a:off x="0" y="0"/>
            <a:ext cx="18301840" cy="10295039"/>
            <a:chOff x="0" y="0"/>
            <a:chExt cx="24402453" cy="13726719"/>
          </a:xfrm>
        </p:grpSpPr>
        <p:sp>
          <p:nvSpPr>
            <p:cNvPr name="Freeform 9" id="9"/>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35686"/>
              </a:srgbClr>
            </a:solidFill>
          </p:spPr>
        </p:sp>
      </p:grpSp>
      <p:grpSp>
        <p:nvGrpSpPr>
          <p:cNvPr name="Group 10" id="10"/>
          <p:cNvGrpSpPr/>
          <p:nvPr/>
        </p:nvGrpSpPr>
        <p:grpSpPr>
          <a:xfrm rot="0">
            <a:off x="7295417" y="3282591"/>
            <a:ext cx="3729771" cy="3729866"/>
            <a:chOff x="0" y="0"/>
            <a:chExt cx="4973028" cy="4973155"/>
          </a:xfrm>
        </p:grpSpPr>
        <p:sp>
          <p:nvSpPr>
            <p:cNvPr name="Freeform 11" id="11" descr="preencoded.png"/>
            <p:cNvSpPr/>
            <p:nvPr/>
          </p:nvSpPr>
          <p:spPr>
            <a:xfrm flipH="false" flipV="false" rot="0">
              <a:off x="0" y="0"/>
              <a:ext cx="4973066" cy="4973193"/>
            </a:xfrm>
            <a:custGeom>
              <a:avLst/>
              <a:gdLst/>
              <a:ahLst/>
              <a:cxnLst/>
              <a:rect r="r" b="b" t="t" l="l"/>
              <a:pathLst>
                <a:path h="4973193" w="4973066">
                  <a:moveTo>
                    <a:pt x="0" y="0"/>
                  </a:moveTo>
                  <a:lnTo>
                    <a:pt x="4973066" y="0"/>
                  </a:lnTo>
                  <a:lnTo>
                    <a:pt x="4973066" y="4973193"/>
                  </a:lnTo>
                  <a:lnTo>
                    <a:pt x="0" y="4973193"/>
                  </a:lnTo>
                  <a:lnTo>
                    <a:pt x="0" y="0"/>
                  </a:lnTo>
                  <a:close/>
                </a:path>
              </a:pathLst>
            </a:custGeom>
            <a:blipFill>
              <a:blip r:embed="rId5"/>
              <a:stretch>
                <a:fillRect l="-1"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11081652" y="0"/>
            <a:ext cx="7206348" cy="10295039"/>
            <a:chOff x="0" y="0"/>
            <a:chExt cx="9608464" cy="13726719"/>
          </a:xfrm>
        </p:grpSpPr>
        <p:sp>
          <p:nvSpPr>
            <p:cNvPr name="Freeform 7" id="7"/>
            <p:cNvSpPr/>
            <p:nvPr/>
          </p:nvSpPr>
          <p:spPr>
            <a:xfrm flipH="false" flipV="false" rot="0">
              <a:off x="0" y="0"/>
              <a:ext cx="9608439" cy="13726668"/>
            </a:xfrm>
            <a:custGeom>
              <a:avLst/>
              <a:gdLst/>
              <a:ahLst/>
              <a:cxnLst/>
              <a:rect r="r" b="b" t="t" l="l"/>
              <a:pathLst>
                <a:path h="13726668" w="9608439">
                  <a:moveTo>
                    <a:pt x="0" y="0"/>
                  </a:moveTo>
                  <a:lnTo>
                    <a:pt x="9608439" y="0"/>
                  </a:lnTo>
                  <a:lnTo>
                    <a:pt x="9608439" y="13726668"/>
                  </a:lnTo>
                  <a:lnTo>
                    <a:pt x="0" y="13726668"/>
                  </a:lnTo>
                  <a:lnTo>
                    <a:pt x="0" y="0"/>
                  </a:lnTo>
                  <a:close/>
                </a:path>
              </a:pathLst>
            </a:custGeom>
            <a:blipFill>
              <a:blip r:embed="rId4"/>
              <a:stretch>
                <a:fillRect l="-1" t="0" r="-1" b="0"/>
              </a:stretch>
            </a:blipFill>
          </p:spPr>
        </p:sp>
      </p:grpSp>
      <p:sp>
        <p:nvSpPr>
          <p:cNvPr name="TextBox 8" id="8"/>
          <p:cNvSpPr txBox="true"/>
          <p:nvPr/>
        </p:nvSpPr>
        <p:spPr>
          <a:xfrm rot="0">
            <a:off x="992991" y="2350160"/>
            <a:ext cx="9452677" cy="1039063"/>
          </a:xfrm>
          <a:prstGeom prst="rect">
            <a:avLst/>
          </a:prstGeom>
        </p:spPr>
        <p:txBody>
          <a:bodyPr anchor="t" rtlCol="false" tIns="0" lIns="0" bIns="0" rIns="0">
            <a:spAutoFit/>
          </a:bodyPr>
          <a:lstStyle/>
          <a:p>
            <a:pPr algn="l">
              <a:lnSpc>
                <a:spcPts val="6931"/>
              </a:lnSpc>
            </a:pPr>
            <a:r>
              <a:rPr lang="en-US" sz="5554" i="true">
                <a:solidFill>
                  <a:srgbClr val="006747"/>
                </a:solidFill>
                <a:latin typeface="Calibri (MS) Italics"/>
                <a:ea typeface="Calibri (MS) Italics"/>
                <a:cs typeface="Calibri (MS) Italics"/>
                <a:sym typeface="Calibri (MS) Italics"/>
              </a:rPr>
              <a:t>CISIA Santé</a:t>
            </a:r>
          </a:p>
        </p:txBody>
      </p:sp>
      <p:sp>
        <p:nvSpPr>
          <p:cNvPr name="TextBox 9" id="9"/>
          <p:cNvSpPr txBox="true"/>
          <p:nvPr/>
        </p:nvSpPr>
        <p:spPr>
          <a:xfrm rot="0">
            <a:off x="993277" y="3455546"/>
            <a:ext cx="9226458" cy="2707176"/>
          </a:xfrm>
          <a:prstGeom prst="rect">
            <a:avLst/>
          </a:prstGeom>
        </p:spPr>
        <p:txBody>
          <a:bodyPr anchor="t" rtlCol="false" tIns="0" lIns="0" bIns="0" rIns="0">
            <a:spAutoFit/>
          </a:bodyPr>
          <a:lstStyle/>
          <a:p>
            <a:pPr algn="l">
              <a:lnSpc>
                <a:spcPts val="7493"/>
              </a:lnSpc>
            </a:pPr>
            <a:r>
              <a:rPr lang="en-US" sz="6004" b="true">
                <a:solidFill>
                  <a:srgbClr val="006747"/>
                </a:solidFill>
                <a:latin typeface="Arial Bold"/>
                <a:ea typeface="Arial Bold"/>
                <a:cs typeface="Arial Bold"/>
                <a:sym typeface="Arial Bold"/>
              </a:rPr>
              <a:t>Priorisez les sorties à risque avant la réadmission.</a:t>
            </a:r>
          </a:p>
        </p:txBody>
      </p:sp>
      <p:sp>
        <p:nvSpPr>
          <p:cNvPr name="TextBox 10" id="10"/>
          <p:cNvSpPr txBox="true"/>
          <p:nvPr/>
        </p:nvSpPr>
        <p:spPr>
          <a:xfrm rot="0">
            <a:off x="992991" y="6493012"/>
            <a:ext cx="10367762" cy="549231"/>
          </a:xfrm>
          <a:prstGeom prst="rect">
            <a:avLst/>
          </a:prstGeom>
        </p:spPr>
        <p:txBody>
          <a:bodyPr anchor="t" rtlCol="false" tIns="0" lIns="0" bIns="0" rIns="0">
            <a:spAutoFit/>
          </a:bodyPr>
          <a:lstStyle/>
          <a:p>
            <a:pPr algn="l">
              <a:lnSpc>
                <a:spcPts val="3474"/>
              </a:lnSpc>
            </a:pPr>
            <a:r>
              <a:rPr lang="en-US" sz="2176">
                <a:solidFill>
                  <a:srgbClr val="4B4A4A"/>
                </a:solidFill>
                <a:latin typeface="Arimo"/>
                <a:ea typeface="Arimo"/>
                <a:cs typeface="Arimo"/>
                <a:sym typeface="Arimo"/>
              </a:rPr>
              <a:t>Score de réadmission à 30 jours · explicable · 100 % local</a:t>
            </a:r>
          </a:p>
        </p:txBody>
      </p:sp>
      <p:grpSp>
        <p:nvGrpSpPr>
          <p:cNvPr name="Group 11" id="11"/>
          <p:cNvGrpSpPr/>
          <p:nvPr/>
        </p:nvGrpSpPr>
        <p:grpSpPr>
          <a:xfrm rot="0">
            <a:off x="988219" y="7356662"/>
            <a:ext cx="3567783" cy="440579"/>
            <a:chOff x="0" y="0"/>
            <a:chExt cx="4757045" cy="587438"/>
          </a:xfrm>
        </p:grpSpPr>
        <p:sp>
          <p:nvSpPr>
            <p:cNvPr name="Freeform 12" id="12"/>
            <p:cNvSpPr/>
            <p:nvPr/>
          </p:nvSpPr>
          <p:spPr>
            <a:xfrm flipH="false" flipV="false" rot="0">
              <a:off x="0" y="0"/>
              <a:ext cx="4757034" cy="587375"/>
            </a:xfrm>
            <a:custGeom>
              <a:avLst/>
              <a:gdLst/>
              <a:ahLst/>
              <a:cxnLst/>
              <a:rect r="r" b="b" t="t" l="l"/>
              <a:pathLst>
                <a:path h="587375" w="4757034">
                  <a:moveTo>
                    <a:pt x="0" y="278384"/>
                  </a:moveTo>
                  <a:cubicBezTo>
                    <a:pt x="0" y="124714"/>
                    <a:pt x="108092" y="0"/>
                    <a:pt x="241280" y="0"/>
                  </a:cubicBezTo>
                  <a:lnTo>
                    <a:pt x="4515753" y="0"/>
                  </a:lnTo>
                  <a:cubicBezTo>
                    <a:pt x="4649051" y="0"/>
                    <a:pt x="4757034" y="124714"/>
                    <a:pt x="4757034" y="278384"/>
                  </a:cubicBezTo>
                  <a:lnTo>
                    <a:pt x="4757034" y="308991"/>
                  </a:lnTo>
                  <a:cubicBezTo>
                    <a:pt x="4757034" y="462788"/>
                    <a:pt x="4648942" y="587375"/>
                    <a:pt x="4515753" y="587375"/>
                  </a:cubicBezTo>
                  <a:lnTo>
                    <a:pt x="241280" y="587375"/>
                  </a:lnTo>
                  <a:cubicBezTo>
                    <a:pt x="108092" y="587375"/>
                    <a:pt x="0" y="462788"/>
                    <a:pt x="0" y="308991"/>
                  </a:cubicBezTo>
                  <a:close/>
                </a:path>
              </a:pathLst>
            </a:custGeom>
            <a:blipFill>
              <a:blip r:embed="rId5">
                <a:alphaModFix amt="0"/>
              </a:blip>
              <a:stretch>
                <a:fillRect l="0" t="-132067" r="-15378" b="-132078"/>
              </a:stretch>
            </a:blipFill>
            <a:ln w="9532" cap="sq">
              <a:solidFill>
                <a:srgbClr val="006747"/>
              </a:solidFill>
              <a:prstDash val="solid"/>
              <a:miter/>
            </a:ln>
          </p:spPr>
        </p:sp>
      </p:grpSp>
      <p:sp>
        <p:nvSpPr>
          <p:cNvPr name="TextBox 13" id="13"/>
          <p:cNvSpPr txBox="true"/>
          <p:nvPr/>
        </p:nvSpPr>
        <p:spPr>
          <a:xfrm rot="0">
            <a:off x="1162955" y="7437225"/>
            <a:ext cx="3766271" cy="267853"/>
          </a:xfrm>
          <a:prstGeom prst="rect">
            <a:avLst/>
          </a:prstGeom>
        </p:spPr>
        <p:txBody>
          <a:bodyPr anchor="t" rtlCol="false" tIns="0" lIns="0" bIns="0" rIns="0">
            <a:spAutoFit/>
          </a:bodyPr>
          <a:lstStyle/>
          <a:p>
            <a:pPr algn="l">
              <a:lnSpc>
                <a:spcPts val="1729"/>
              </a:lnSpc>
            </a:pPr>
            <a:r>
              <a:rPr lang="en-US" sz="1501">
                <a:solidFill>
                  <a:srgbClr val="006747"/>
                </a:solidFill>
                <a:latin typeface="Arimo"/>
                <a:ea typeface="Arimo"/>
                <a:cs typeface="Arimo"/>
                <a:sym typeface="Arimo"/>
              </a:rPr>
              <a:t>Léo Segalini Briant · Certification CIF</a:t>
            </a:r>
          </a:p>
        </p:txBody>
      </p:sp>
      <p:grpSp>
        <p:nvGrpSpPr>
          <p:cNvPr name="Group 14" id="14"/>
          <p:cNvGrpSpPr/>
          <p:nvPr/>
        </p:nvGrpSpPr>
        <p:grpSpPr>
          <a:xfrm rot="0">
            <a:off x="5236902" y="7356662"/>
            <a:ext cx="3446739" cy="440579"/>
            <a:chOff x="0" y="0"/>
            <a:chExt cx="4595652" cy="587438"/>
          </a:xfrm>
        </p:grpSpPr>
        <p:sp>
          <p:nvSpPr>
            <p:cNvPr name="Freeform 15" id="15"/>
            <p:cNvSpPr/>
            <p:nvPr/>
          </p:nvSpPr>
          <p:spPr>
            <a:xfrm flipH="false" flipV="false" rot="0">
              <a:off x="0" y="0"/>
              <a:ext cx="4595620" cy="587375"/>
            </a:xfrm>
            <a:custGeom>
              <a:avLst/>
              <a:gdLst/>
              <a:ahLst/>
              <a:cxnLst/>
              <a:rect r="r" b="b" t="t" l="l"/>
              <a:pathLst>
                <a:path h="587375" w="4595620">
                  <a:moveTo>
                    <a:pt x="0" y="278384"/>
                  </a:moveTo>
                  <a:cubicBezTo>
                    <a:pt x="0" y="124714"/>
                    <a:pt x="104888" y="0"/>
                    <a:pt x="234128" y="0"/>
                  </a:cubicBezTo>
                  <a:lnTo>
                    <a:pt x="4361492" y="0"/>
                  </a:lnTo>
                  <a:cubicBezTo>
                    <a:pt x="4490839" y="0"/>
                    <a:pt x="4595620" y="124714"/>
                    <a:pt x="4595620" y="278384"/>
                  </a:cubicBezTo>
                  <a:lnTo>
                    <a:pt x="4595620" y="308991"/>
                  </a:lnTo>
                  <a:cubicBezTo>
                    <a:pt x="4595620" y="462788"/>
                    <a:pt x="4490732" y="587375"/>
                    <a:pt x="4361492" y="587375"/>
                  </a:cubicBezTo>
                  <a:lnTo>
                    <a:pt x="234128" y="587375"/>
                  </a:lnTo>
                  <a:cubicBezTo>
                    <a:pt x="104888" y="587375"/>
                    <a:pt x="0" y="462788"/>
                    <a:pt x="0" y="308991"/>
                  </a:cubicBezTo>
                  <a:close/>
                </a:path>
              </a:pathLst>
            </a:custGeom>
            <a:blipFill>
              <a:blip r:embed="rId5">
                <a:alphaModFix amt="0"/>
              </a:blip>
              <a:stretch>
                <a:fillRect l="0" t="-131263" r="-18903" b="-131274"/>
              </a:stretch>
            </a:blipFill>
            <a:ln w="9532" cap="sq">
              <a:solidFill>
                <a:srgbClr val="006747"/>
              </a:solidFill>
              <a:prstDash val="solid"/>
              <a:miter/>
            </a:ln>
          </p:spPr>
        </p:sp>
      </p:grpSp>
      <p:sp>
        <p:nvSpPr>
          <p:cNvPr name="TextBox 16" id="16"/>
          <p:cNvSpPr txBox="true"/>
          <p:nvPr/>
        </p:nvSpPr>
        <p:spPr>
          <a:xfrm rot="0">
            <a:off x="5411572" y="7437225"/>
            <a:ext cx="3738629" cy="258318"/>
          </a:xfrm>
          <a:prstGeom prst="rect">
            <a:avLst/>
          </a:prstGeom>
        </p:spPr>
        <p:txBody>
          <a:bodyPr anchor="t" rtlCol="false" tIns="0" lIns="0" bIns="0" rIns="0">
            <a:spAutoFit/>
          </a:bodyPr>
          <a:lstStyle/>
          <a:p>
            <a:pPr algn="l">
              <a:lnSpc>
                <a:spcPts val="1729"/>
              </a:lnSpc>
            </a:pPr>
            <a:r>
              <a:rPr lang="en-US" sz="1501">
                <a:solidFill>
                  <a:srgbClr val="006747"/>
                </a:solidFill>
                <a:latin typeface="Arimo"/>
                <a:ea typeface="Arimo"/>
                <a:cs typeface="Arimo"/>
                <a:sym typeface="Arimo"/>
              </a:rPr>
              <a:t>Données synthétiques · Démo locale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101147"/>
            <a:ext cx="1476746" cy="431044"/>
            <a:chOff x="0" y="0"/>
            <a:chExt cx="1968995" cy="574726"/>
          </a:xfrm>
        </p:grpSpPr>
        <p:sp>
          <p:nvSpPr>
            <p:cNvPr name="Freeform 7" id="7"/>
            <p:cNvSpPr/>
            <p:nvPr/>
          </p:nvSpPr>
          <p:spPr>
            <a:xfrm flipH="false" flipV="false" rot="0">
              <a:off x="0" y="0"/>
              <a:ext cx="1969008" cy="574802"/>
            </a:xfrm>
            <a:custGeom>
              <a:avLst/>
              <a:gdLst/>
              <a:ahLst/>
              <a:cxnLst/>
              <a:rect r="r" b="b" t="t" l="l"/>
              <a:pathLst>
                <a:path h="574802" w="1969008">
                  <a:moveTo>
                    <a:pt x="0" y="272415"/>
                  </a:moveTo>
                  <a:cubicBezTo>
                    <a:pt x="0" y="121920"/>
                    <a:pt x="121920" y="0"/>
                    <a:pt x="272415" y="0"/>
                  </a:cubicBezTo>
                  <a:lnTo>
                    <a:pt x="1696593" y="0"/>
                  </a:lnTo>
                  <a:cubicBezTo>
                    <a:pt x="1847088" y="0"/>
                    <a:pt x="1969008" y="121920"/>
                    <a:pt x="1969008" y="272415"/>
                  </a:cubicBezTo>
                  <a:lnTo>
                    <a:pt x="1969008" y="302387"/>
                  </a:lnTo>
                  <a:cubicBezTo>
                    <a:pt x="1969008" y="452882"/>
                    <a:pt x="1847088" y="574802"/>
                    <a:pt x="1696593"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2955" y="1166784"/>
            <a:ext cx="1139123" cy="285007"/>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CONTEXTE</a:t>
            </a:r>
          </a:p>
        </p:txBody>
      </p:sp>
      <p:sp>
        <p:nvSpPr>
          <p:cNvPr name="TextBox 9" id="9"/>
          <p:cNvSpPr txBox="true"/>
          <p:nvPr/>
        </p:nvSpPr>
        <p:spPr>
          <a:xfrm rot="0">
            <a:off x="993277" y="1591075"/>
            <a:ext cx="16324316" cy="127818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Le défi clinique</a:t>
            </a:r>
          </a:p>
        </p:txBody>
      </p:sp>
      <p:grpSp>
        <p:nvGrpSpPr>
          <p:cNvPr name="Group 10" id="10"/>
          <p:cNvGrpSpPr/>
          <p:nvPr/>
        </p:nvGrpSpPr>
        <p:grpSpPr>
          <a:xfrm rot="0">
            <a:off x="992991" y="2869263"/>
            <a:ext cx="5260438" cy="5260572"/>
            <a:chOff x="0" y="0"/>
            <a:chExt cx="7013918" cy="7014096"/>
          </a:xfrm>
        </p:grpSpPr>
        <p:sp>
          <p:nvSpPr>
            <p:cNvPr name="Freeform 11" id="11" descr="preencoded.png"/>
            <p:cNvSpPr/>
            <p:nvPr/>
          </p:nvSpPr>
          <p:spPr>
            <a:xfrm flipH="false" flipV="false" rot="0">
              <a:off x="0" y="0"/>
              <a:ext cx="7013956" cy="7014083"/>
            </a:xfrm>
            <a:custGeom>
              <a:avLst/>
              <a:gdLst/>
              <a:ahLst/>
              <a:cxnLst/>
              <a:rect r="r" b="b" t="t" l="l"/>
              <a:pathLst>
                <a:path h="7014083" w="7013956">
                  <a:moveTo>
                    <a:pt x="0" y="0"/>
                  </a:moveTo>
                  <a:lnTo>
                    <a:pt x="7013956" y="0"/>
                  </a:lnTo>
                  <a:lnTo>
                    <a:pt x="7013956" y="7014083"/>
                  </a:lnTo>
                  <a:lnTo>
                    <a:pt x="0" y="7014083"/>
                  </a:lnTo>
                  <a:lnTo>
                    <a:pt x="0" y="0"/>
                  </a:lnTo>
                  <a:close/>
                </a:path>
              </a:pathLst>
            </a:custGeom>
            <a:blipFill>
              <a:blip r:embed="rId4"/>
              <a:stretch>
                <a:fillRect l="-1" t="0" r="0" b="0"/>
              </a:stretch>
            </a:blipFill>
          </p:spPr>
        </p:sp>
      </p:grpSp>
      <p:sp>
        <p:nvSpPr>
          <p:cNvPr name="TextBox 12" id="12"/>
          <p:cNvSpPr txBox="true"/>
          <p:nvPr/>
        </p:nvSpPr>
        <p:spPr>
          <a:xfrm rot="0">
            <a:off x="6716938" y="2697813"/>
            <a:ext cx="10363000" cy="620531"/>
          </a:xfrm>
          <a:prstGeom prst="rect">
            <a:avLst/>
          </a:prstGeom>
        </p:spPr>
        <p:txBody>
          <a:bodyPr anchor="t" rtlCol="false" tIns="0" lIns="0" bIns="0" rIns="0">
            <a:spAutoFit/>
          </a:bodyPr>
          <a:lstStyle/>
          <a:p>
            <a:pPr algn="ctr">
              <a:lnSpc>
                <a:spcPts val="4791"/>
              </a:lnSpc>
            </a:pPr>
            <a:r>
              <a:rPr lang="en-US" sz="3002" b="true">
                <a:solidFill>
                  <a:srgbClr val="006747"/>
                </a:solidFill>
                <a:latin typeface="Calibri (MS) Bold"/>
                <a:ea typeface="Calibri (MS) Bold"/>
                <a:cs typeface="Calibri (MS) Bold"/>
                <a:sym typeface="Calibri (MS) Bold"/>
              </a:rPr>
              <a:t>Qui doit être rappelé/accompagné en priorité après la sortie ?</a:t>
            </a:r>
          </a:p>
        </p:txBody>
      </p:sp>
      <p:sp>
        <p:nvSpPr>
          <p:cNvPr name="TextBox 13" id="13"/>
          <p:cNvSpPr txBox="true"/>
          <p:nvPr/>
        </p:nvSpPr>
        <p:spPr>
          <a:xfrm rot="0">
            <a:off x="7094134" y="4141403"/>
            <a:ext cx="9985804" cy="1157042"/>
          </a:xfrm>
          <a:prstGeom prst="rect">
            <a:avLst/>
          </a:prstGeom>
        </p:spPr>
        <p:txBody>
          <a:bodyPr anchor="t" rtlCol="false" tIns="0" lIns="0" bIns="0" rIns="0">
            <a:spAutoFit/>
          </a:bodyPr>
          <a:lstStyle/>
          <a:p>
            <a:pPr algn="l">
              <a:lnSpc>
                <a:spcPts val="4110"/>
              </a:lnSpc>
            </a:pPr>
            <a:r>
              <a:rPr lang="en-US" sz="3293" b="true">
                <a:solidFill>
                  <a:srgbClr val="006747"/>
                </a:solidFill>
                <a:latin typeface="Calibri (MS) Bold"/>
                <a:ea typeface="Calibri (MS) Bold"/>
                <a:cs typeface="Calibri (MS) Bold"/>
                <a:sym typeface="Calibri (MS) Bold"/>
              </a:rPr>
              <a:t>Ce que vous perdez chaque jour sans solution</a:t>
            </a:r>
          </a:p>
        </p:txBody>
      </p:sp>
      <p:grpSp>
        <p:nvGrpSpPr>
          <p:cNvPr name="Group 14" id="14"/>
          <p:cNvGrpSpPr/>
          <p:nvPr/>
        </p:nvGrpSpPr>
        <p:grpSpPr>
          <a:xfrm rot="0">
            <a:off x="7082338" y="5538488"/>
            <a:ext cx="4908756" cy="748118"/>
            <a:chOff x="0" y="0"/>
            <a:chExt cx="10738828" cy="1636649"/>
          </a:xfrm>
        </p:grpSpPr>
        <p:sp>
          <p:nvSpPr>
            <p:cNvPr name="Freeform 15" id="15"/>
            <p:cNvSpPr/>
            <p:nvPr/>
          </p:nvSpPr>
          <p:spPr>
            <a:xfrm flipH="false" flipV="false" rot="0">
              <a:off x="0" y="0"/>
              <a:ext cx="10738739" cy="1636642"/>
            </a:xfrm>
            <a:custGeom>
              <a:avLst/>
              <a:gdLst/>
              <a:ahLst/>
              <a:cxnLst/>
              <a:rect r="r" b="b" t="t" l="l"/>
              <a:pathLst>
                <a:path h="1636642" w="10738739">
                  <a:moveTo>
                    <a:pt x="0" y="193012"/>
                  </a:moveTo>
                  <a:cubicBezTo>
                    <a:pt x="0" y="86389"/>
                    <a:pt x="155067" y="0"/>
                    <a:pt x="346456" y="0"/>
                  </a:cubicBezTo>
                  <a:lnTo>
                    <a:pt x="10392283" y="0"/>
                  </a:lnTo>
                  <a:cubicBezTo>
                    <a:pt x="10583672" y="0"/>
                    <a:pt x="10738739" y="86389"/>
                    <a:pt x="10738739" y="193012"/>
                  </a:cubicBezTo>
                  <a:lnTo>
                    <a:pt x="10738739" y="1443630"/>
                  </a:lnTo>
                  <a:cubicBezTo>
                    <a:pt x="10738739" y="1550253"/>
                    <a:pt x="10583672" y="1636642"/>
                    <a:pt x="10392283" y="1636642"/>
                  </a:cubicBezTo>
                  <a:lnTo>
                    <a:pt x="346456" y="1636642"/>
                  </a:lnTo>
                  <a:cubicBezTo>
                    <a:pt x="155067" y="1636642"/>
                    <a:pt x="0" y="1550253"/>
                    <a:pt x="0" y="1443630"/>
                  </a:cubicBezTo>
                  <a:close/>
                </a:path>
              </a:pathLst>
            </a:custGeom>
            <a:solidFill>
              <a:srgbClr val="E5F9F2">
                <a:alpha val="90196"/>
              </a:srgbClr>
            </a:solidFill>
            <a:ln w="38128" cap="sq">
              <a:solidFill>
                <a:srgbClr val="006747"/>
              </a:solidFill>
              <a:prstDash val="solid"/>
              <a:miter/>
            </a:ln>
          </p:spPr>
        </p:sp>
      </p:grpSp>
      <p:sp>
        <p:nvSpPr>
          <p:cNvPr name="TextBox 16" id="16"/>
          <p:cNvSpPr txBox="true"/>
          <p:nvPr/>
        </p:nvSpPr>
        <p:spPr>
          <a:xfrm rot="0">
            <a:off x="8077884" y="5752977"/>
            <a:ext cx="2917664" cy="283490"/>
          </a:xfrm>
          <a:prstGeom prst="rect">
            <a:avLst/>
          </a:prstGeom>
        </p:spPr>
        <p:txBody>
          <a:bodyPr anchor="t" rtlCol="false" tIns="0" lIns="0" bIns="0" rIns="0">
            <a:spAutoFit/>
          </a:bodyPr>
          <a:lstStyle/>
          <a:p>
            <a:pPr algn="ctr">
              <a:lnSpc>
                <a:spcPts val="2055"/>
              </a:lnSpc>
            </a:pPr>
            <a:r>
              <a:rPr lang="en-US" sz="1646" b="true">
                <a:solidFill>
                  <a:srgbClr val="4B4A4A"/>
                </a:solidFill>
                <a:latin typeface="Calibri (MS) Bold"/>
                <a:ea typeface="Calibri (MS) Bold"/>
                <a:cs typeface="Calibri (MS) Bold"/>
                <a:sym typeface="Calibri (MS) Bold"/>
              </a:rPr>
              <a:t>Aucune vision objective du risque</a:t>
            </a:r>
          </a:p>
        </p:txBody>
      </p:sp>
      <p:grpSp>
        <p:nvGrpSpPr>
          <p:cNvPr name="Group 17" id="17"/>
          <p:cNvGrpSpPr/>
          <p:nvPr/>
        </p:nvGrpSpPr>
        <p:grpSpPr>
          <a:xfrm rot="0">
            <a:off x="12136563" y="5538488"/>
            <a:ext cx="4908848" cy="748118"/>
            <a:chOff x="0" y="0"/>
            <a:chExt cx="10739031" cy="1636649"/>
          </a:xfrm>
        </p:grpSpPr>
        <p:sp>
          <p:nvSpPr>
            <p:cNvPr name="Freeform 18" id="18"/>
            <p:cNvSpPr/>
            <p:nvPr/>
          </p:nvSpPr>
          <p:spPr>
            <a:xfrm flipH="false" flipV="false" rot="0">
              <a:off x="0" y="0"/>
              <a:ext cx="10738993" cy="1636675"/>
            </a:xfrm>
            <a:custGeom>
              <a:avLst/>
              <a:gdLst/>
              <a:ahLst/>
              <a:cxnLst/>
              <a:rect r="r" b="b" t="t" l="l"/>
              <a:pathLst>
                <a:path h="1636675" w="10738993">
                  <a:moveTo>
                    <a:pt x="0" y="160214"/>
                  </a:moveTo>
                  <a:cubicBezTo>
                    <a:pt x="0" y="71743"/>
                    <a:pt x="154686" y="0"/>
                    <a:pt x="345440" y="0"/>
                  </a:cubicBezTo>
                  <a:lnTo>
                    <a:pt x="10393553" y="0"/>
                  </a:lnTo>
                  <a:cubicBezTo>
                    <a:pt x="10584307" y="0"/>
                    <a:pt x="10738993" y="71743"/>
                    <a:pt x="10738993" y="160214"/>
                  </a:cubicBezTo>
                  <a:lnTo>
                    <a:pt x="10738993" y="1476446"/>
                  </a:lnTo>
                  <a:cubicBezTo>
                    <a:pt x="10738993" y="1564918"/>
                    <a:pt x="10584307" y="1636675"/>
                    <a:pt x="10393553" y="1636675"/>
                  </a:cubicBezTo>
                  <a:lnTo>
                    <a:pt x="345440" y="1636675"/>
                  </a:lnTo>
                  <a:cubicBezTo>
                    <a:pt x="154686" y="1636675"/>
                    <a:pt x="0" y="1564918"/>
                    <a:pt x="0" y="1476446"/>
                  </a:cubicBezTo>
                  <a:close/>
                </a:path>
              </a:pathLst>
            </a:custGeom>
            <a:solidFill>
              <a:srgbClr val="E5F9F2">
                <a:alpha val="90196"/>
              </a:srgbClr>
            </a:solidFill>
            <a:ln w="38128" cap="sq">
              <a:solidFill>
                <a:srgbClr val="006747"/>
              </a:solidFill>
              <a:prstDash val="solid"/>
              <a:miter/>
            </a:ln>
          </p:spPr>
        </p:sp>
      </p:grpSp>
      <p:sp>
        <p:nvSpPr>
          <p:cNvPr name="TextBox 19" id="19"/>
          <p:cNvSpPr txBox="true"/>
          <p:nvPr/>
        </p:nvSpPr>
        <p:spPr>
          <a:xfrm rot="0">
            <a:off x="13043490" y="5752977"/>
            <a:ext cx="3103431" cy="283490"/>
          </a:xfrm>
          <a:prstGeom prst="rect">
            <a:avLst/>
          </a:prstGeom>
        </p:spPr>
        <p:txBody>
          <a:bodyPr anchor="t" rtlCol="false" tIns="0" lIns="0" bIns="0" rIns="0">
            <a:spAutoFit/>
          </a:bodyPr>
          <a:lstStyle/>
          <a:p>
            <a:pPr algn="ctr">
              <a:lnSpc>
                <a:spcPts val="2055"/>
              </a:lnSpc>
            </a:pPr>
            <a:r>
              <a:rPr lang="en-US" sz="1646" b="true">
                <a:solidFill>
                  <a:srgbClr val="4B4A4A"/>
                </a:solidFill>
                <a:latin typeface="Calibri (MS) Bold"/>
                <a:ea typeface="Calibri (MS) Bold"/>
                <a:cs typeface="Calibri (MS) Bold"/>
                <a:sym typeface="Calibri (MS) Bold"/>
              </a:rPr>
              <a:t>Charge inutile sur les faibles risques</a:t>
            </a:r>
          </a:p>
        </p:txBody>
      </p:sp>
      <p:grpSp>
        <p:nvGrpSpPr>
          <p:cNvPr name="Group 20" id="20"/>
          <p:cNvGrpSpPr/>
          <p:nvPr/>
        </p:nvGrpSpPr>
        <p:grpSpPr>
          <a:xfrm rot="0">
            <a:off x="7078120" y="6527590"/>
            <a:ext cx="4908756" cy="748118"/>
            <a:chOff x="0" y="0"/>
            <a:chExt cx="10738828" cy="1636649"/>
          </a:xfrm>
        </p:grpSpPr>
        <p:sp>
          <p:nvSpPr>
            <p:cNvPr name="Freeform 21" id="21"/>
            <p:cNvSpPr/>
            <p:nvPr/>
          </p:nvSpPr>
          <p:spPr>
            <a:xfrm flipH="false" flipV="false" rot="0">
              <a:off x="0" y="0"/>
              <a:ext cx="10738739" cy="1636675"/>
            </a:xfrm>
            <a:custGeom>
              <a:avLst/>
              <a:gdLst/>
              <a:ahLst/>
              <a:cxnLst/>
              <a:rect r="r" b="b" t="t" l="l"/>
              <a:pathLst>
                <a:path h="1636675" w="10738739">
                  <a:moveTo>
                    <a:pt x="0" y="160214"/>
                  </a:moveTo>
                  <a:cubicBezTo>
                    <a:pt x="0" y="71743"/>
                    <a:pt x="154686" y="0"/>
                    <a:pt x="345440" y="0"/>
                  </a:cubicBezTo>
                  <a:lnTo>
                    <a:pt x="10393299" y="0"/>
                  </a:lnTo>
                  <a:cubicBezTo>
                    <a:pt x="10584053" y="0"/>
                    <a:pt x="10738739" y="71743"/>
                    <a:pt x="10738739" y="160214"/>
                  </a:cubicBezTo>
                  <a:lnTo>
                    <a:pt x="10738739" y="1476446"/>
                  </a:lnTo>
                  <a:cubicBezTo>
                    <a:pt x="10738739" y="1564918"/>
                    <a:pt x="10584053" y="1636675"/>
                    <a:pt x="10393299" y="1636675"/>
                  </a:cubicBezTo>
                  <a:lnTo>
                    <a:pt x="345440" y="1636675"/>
                  </a:lnTo>
                  <a:cubicBezTo>
                    <a:pt x="154686" y="1636675"/>
                    <a:pt x="0" y="1564918"/>
                    <a:pt x="0" y="1476446"/>
                  </a:cubicBezTo>
                  <a:close/>
                </a:path>
              </a:pathLst>
            </a:custGeom>
            <a:solidFill>
              <a:srgbClr val="E5F9F2">
                <a:alpha val="90196"/>
              </a:srgbClr>
            </a:solidFill>
            <a:ln w="38128" cap="sq">
              <a:solidFill>
                <a:srgbClr val="006747"/>
              </a:solidFill>
              <a:prstDash val="solid"/>
              <a:miter/>
            </a:ln>
          </p:spPr>
        </p:sp>
      </p:grpSp>
      <p:sp>
        <p:nvSpPr>
          <p:cNvPr name="TextBox 22" id="22"/>
          <p:cNvSpPr txBox="true"/>
          <p:nvPr/>
        </p:nvSpPr>
        <p:spPr>
          <a:xfrm rot="0">
            <a:off x="7280026" y="6740853"/>
            <a:ext cx="4499070" cy="283490"/>
          </a:xfrm>
          <a:prstGeom prst="rect">
            <a:avLst/>
          </a:prstGeom>
        </p:spPr>
        <p:txBody>
          <a:bodyPr anchor="t" rtlCol="false" tIns="0" lIns="0" bIns="0" rIns="0">
            <a:spAutoFit/>
          </a:bodyPr>
          <a:lstStyle/>
          <a:p>
            <a:pPr algn="ctr">
              <a:lnSpc>
                <a:spcPts val="2055"/>
              </a:lnSpc>
            </a:pPr>
            <a:r>
              <a:rPr lang="en-US" sz="1646" b="true">
                <a:solidFill>
                  <a:srgbClr val="4B4A4A"/>
                </a:solidFill>
                <a:latin typeface="Calibri (MS) Bold"/>
                <a:ea typeface="Calibri (MS) Bold"/>
                <a:cs typeface="Calibri (MS) Bold"/>
                <a:sym typeface="Calibri (MS) Bold"/>
              </a:rPr>
              <a:t>Peu de traçabilité pour justifier une alerte</a:t>
            </a:r>
          </a:p>
        </p:txBody>
      </p:sp>
      <p:grpSp>
        <p:nvGrpSpPr>
          <p:cNvPr name="Group 23" id="23"/>
          <p:cNvGrpSpPr/>
          <p:nvPr/>
        </p:nvGrpSpPr>
        <p:grpSpPr>
          <a:xfrm rot="0">
            <a:off x="12136563" y="6527590"/>
            <a:ext cx="4908848" cy="748118"/>
            <a:chOff x="0" y="0"/>
            <a:chExt cx="10739031" cy="1636649"/>
          </a:xfrm>
        </p:grpSpPr>
        <p:sp>
          <p:nvSpPr>
            <p:cNvPr name="Freeform 24" id="24"/>
            <p:cNvSpPr/>
            <p:nvPr/>
          </p:nvSpPr>
          <p:spPr>
            <a:xfrm flipH="false" flipV="false" rot="0">
              <a:off x="0" y="0"/>
              <a:ext cx="10738993" cy="1636675"/>
            </a:xfrm>
            <a:custGeom>
              <a:avLst/>
              <a:gdLst/>
              <a:ahLst/>
              <a:cxnLst/>
              <a:rect r="r" b="b" t="t" l="l"/>
              <a:pathLst>
                <a:path h="1636675" w="10738993">
                  <a:moveTo>
                    <a:pt x="0" y="160214"/>
                  </a:moveTo>
                  <a:cubicBezTo>
                    <a:pt x="0" y="71743"/>
                    <a:pt x="154686" y="0"/>
                    <a:pt x="345440" y="0"/>
                  </a:cubicBezTo>
                  <a:lnTo>
                    <a:pt x="10393553" y="0"/>
                  </a:lnTo>
                  <a:cubicBezTo>
                    <a:pt x="10584307" y="0"/>
                    <a:pt x="10738993" y="71743"/>
                    <a:pt x="10738993" y="160214"/>
                  </a:cubicBezTo>
                  <a:lnTo>
                    <a:pt x="10738993" y="1476446"/>
                  </a:lnTo>
                  <a:cubicBezTo>
                    <a:pt x="10738993" y="1564918"/>
                    <a:pt x="10584307" y="1636675"/>
                    <a:pt x="10393553" y="1636675"/>
                  </a:cubicBezTo>
                  <a:lnTo>
                    <a:pt x="345440" y="1636675"/>
                  </a:lnTo>
                  <a:cubicBezTo>
                    <a:pt x="154686" y="1636675"/>
                    <a:pt x="0" y="1564918"/>
                    <a:pt x="0" y="1476446"/>
                  </a:cubicBezTo>
                  <a:close/>
                </a:path>
              </a:pathLst>
            </a:custGeom>
            <a:solidFill>
              <a:srgbClr val="E5F9F2">
                <a:alpha val="90196"/>
              </a:srgbClr>
            </a:solidFill>
            <a:ln w="38128" cap="sq">
              <a:solidFill>
                <a:srgbClr val="006747"/>
              </a:solidFill>
              <a:prstDash val="solid"/>
              <a:miter/>
            </a:ln>
          </p:spPr>
        </p:sp>
      </p:grpSp>
      <p:sp>
        <p:nvSpPr>
          <p:cNvPr name="TextBox 25" id="25"/>
          <p:cNvSpPr txBox="true"/>
          <p:nvPr/>
        </p:nvSpPr>
        <p:spPr>
          <a:xfrm rot="0">
            <a:off x="13203904" y="6740853"/>
            <a:ext cx="2774167" cy="283490"/>
          </a:xfrm>
          <a:prstGeom prst="rect">
            <a:avLst/>
          </a:prstGeom>
        </p:spPr>
        <p:txBody>
          <a:bodyPr anchor="t" rtlCol="false" tIns="0" lIns="0" bIns="0" rIns="0">
            <a:spAutoFit/>
          </a:bodyPr>
          <a:lstStyle/>
          <a:p>
            <a:pPr algn="ctr">
              <a:lnSpc>
                <a:spcPts val="2055"/>
              </a:lnSpc>
            </a:pPr>
            <a:r>
              <a:rPr lang="en-US" sz="1646" b="true">
                <a:solidFill>
                  <a:srgbClr val="4B4A4A"/>
                </a:solidFill>
                <a:latin typeface="Calibri (MS) Bold"/>
                <a:ea typeface="Calibri (MS) Bold"/>
                <a:cs typeface="Calibri (MS) Bold"/>
                <a:sym typeface="Calibri (MS) Bold"/>
              </a:rPr>
              <a:t>Pression RGPD &amp; secret médical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sp>
        <p:nvSpPr>
          <p:cNvPr name="TextBox 6" id="6"/>
          <p:cNvSpPr txBox="true"/>
          <p:nvPr/>
        </p:nvSpPr>
        <p:spPr>
          <a:xfrm rot="0">
            <a:off x="992991" y="2345246"/>
            <a:ext cx="16315868" cy="1029538"/>
          </a:xfrm>
          <a:prstGeom prst="rect">
            <a:avLst/>
          </a:prstGeom>
        </p:spPr>
        <p:txBody>
          <a:bodyPr anchor="t" rtlCol="false" tIns="0" lIns="0" bIns="0" rIns="0">
            <a:spAutoFit/>
          </a:bodyPr>
          <a:lstStyle/>
          <a:p>
            <a:pPr algn="ctr">
              <a:lnSpc>
                <a:spcPts val="6744"/>
              </a:lnSpc>
            </a:pPr>
            <a:r>
              <a:rPr lang="en-US" sz="5404" b="true">
                <a:solidFill>
                  <a:srgbClr val="006747"/>
                </a:solidFill>
                <a:latin typeface="Calibri (MS) Bold"/>
                <a:ea typeface="Calibri (MS) Bold"/>
                <a:cs typeface="Calibri (MS) Bold"/>
                <a:sym typeface="Calibri (MS) Bold"/>
              </a:rPr>
              <a:t>Bénéfices pour votre établissement</a:t>
            </a:r>
          </a:p>
        </p:txBody>
      </p:sp>
      <p:grpSp>
        <p:nvGrpSpPr>
          <p:cNvPr name="Group 7" id="7"/>
          <p:cNvGrpSpPr/>
          <p:nvPr/>
        </p:nvGrpSpPr>
        <p:grpSpPr>
          <a:xfrm rot="0">
            <a:off x="975169" y="4197134"/>
            <a:ext cx="3866359" cy="2263928"/>
            <a:chOff x="0" y="0"/>
            <a:chExt cx="5155146" cy="3018571"/>
          </a:xfrm>
        </p:grpSpPr>
        <p:sp>
          <p:nvSpPr>
            <p:cNvPr name="Freeform 8" id="8"/>
            <p:cNvSpPr/>
            <p:nvPr/>
          </p:nvSpPr>
          <p:spPr>
            <a:xfrm flipH="false" flipV="false" rot="0">
              <a:off x="0" y="0"/>
              <a:ext cx="5155184" cy="3018647"/>
            </a:xfrm>
            <a:custGeom>
              <a:avLst/>
              <a:gdLst/>
              <a:ahLst/>
              <a:cxnLst/>
              <a:rect r="r" b="b" t="t" l="l"/>
              <a:pathLst>
                <a:path h="3018647" w="5155184">
                  <a:moveTo>
                    <a:pt x="0" y="503145"/>
                  </a:moveTo>
                  <a:cubicBezTo>
                    <a:pt x="0" y="225262"/>
                    <a:pt x="344678" y="0"/>
                    <a:pt x="769874" y="0"/>
                  </a:cubicBezTo>
                  <a:lnTo>
                    <a:pt x="4385310" y="0"/>
                  </a:lnTo>
                  <a:cubicBezTo>
                    <a:pt x="4810506" y="0"/>
                    <a:pt x="5155184" y="225262"/>
                    <a:pt x="5155184" y="503145"/>
                  </a:cubicBezTo>
                  <a:lnTo>
                    <a:pt x="5155184" y="2515476"/>
                  </a:lnTo>
                  <a:cubicBezTo>
                    <a:pt x="5155184" y="2793360"/>
                    <a:pt x="4810506" y="3018647"/>
                    <a:pt x="4385310" y="3018647"/>
                  </a:cubicBezTo>
                  <a:lnTo>
                    <a:pt x="769874" y="3018647"/>
                  </a:lnTo>
                  <a:cubicBezTo>
                    <a:pt x="344678" y="3018538"/>
                    <a:pt x="0" y="2793359"/>
                    <a:pt x="0" y="2515476"/>
                  </a:cubicBezTo>
                  <a:close/>
                </a:path>
              </a:pathLst>
            </a:custGeom>
            <a:solidFill>
              <a:srgbClr val="E7FAF3"/>
            </a:solidFill>
          </p:spPr>
        </p:sp>
      </p:grpSp>
      <p:grpSp>
        <p:nvGrpSpPr>
          <p:cNvPr name="Group 9" id="9"/>
          <p:cNvGrpSpPr/>
          <p:nvPr/>
        </p:nvGrpSpPr>
        <p:grpSpPr>
          <a:xfrm rot="0">
            <a:off x="2441258" y="3732905"/>
            <a:ext cx="934183" cy="886520"/>
            <a:chOff x="0" y="0"/>
            <a:chExt cx="1245578" cy="1182027"/>
          </a:xfrm>
        </p:grpSpPr>
        <p:sp>
          <p:nvSpPr>
            <p:cNvPr name="Freeform 10" id="10"/>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Freeform 11" id="11" descr="preencoded.png"/>
          <p:cNvSpPr/>
          <p:nvPr/>
        </p:nvSpPr>
        <p:spPr>
          <a:xfrm flipH="false" flipV="false" rot="0">
            <a:off x="2755830" y="4007444"/>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4">
              <a:extLst>
                <a:ext uri="{96DAC541-7B7A-43D3-8B79-37D633B846F1}">
                  <asvg:svgBlip xmlns:asvg="http://schemas.microsoft.com/office/drawing/2016/SVG/main" r:embed="rId5"/>
                </a:ext>
              </a:extLst>
            </a:blip>
            <a:stretch>
              <a:fillRect l="-1388" t="0" r="-1388" b="0"/>
            </a:stretch>
          </a:blipFill>
        </p:spPr>
      </p:sp>
      <p:sp>
        <p:nvSpPr>
          <p:cNvPr name="TextBox 12" id="12"/>
          <p:cNvSpPr txBox="true"/>
          <p:nvPr/>
        </p:nvSpPr>
        <p:spPr>
          <a:xfrm rot="0">
            <a:off x="1315479" y="4912119"/>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Prioriser les bonnes sorties</a:t>
            </a:r>
          </a:p>
        </p:txBody>
      </p:sp>
      <p:grpSp>
        <p:nvGrpSpPr>
          <p:cNvPr name="Group 13" id="13"/>
          <p:cNvGrpSpPr/>
          <p:nvPr/>
        </p:nvGrpSpPr>
        <p:grpSpPr>
          <a:xfrm rot="0">
            <a:off x="9262682" y="4140898"/>
            <a:ext cx="3866359" cy="2320164"/>
            <a:chOff x="0" y="0"/>
            <a:chExt cx="5155146" cy="3093552"/>
          </a:xfrm>
        </p:grpSpPr>
        <p:sp>
          <p:nvSpPr>
            <p:cNvPr name="Freeform 14" id="14"/>
            <p:cNvSpPr/>
            <p:nvPr/>
          </p:nvSpPr>
          <p:spPr>
            <a:xfrm flipH="false" flipV="false" rot="0">
              <a:off x="0" y="0"/>
              <a:ext cx="5155184" cy="3093628"/>
            </a:xfrm>
            <a:custGeom>
              <a:avLst/>
              <a:gdLst/>
              <a:ahLst/>
              <a:cxnLst/>
              <a:rect r="r" b="b" t="t" l="l"/>
              <a:pathLst>
                <a:path h="3093628" w="5155184">
                  <a:moveTo>
                    <a:pt x="0" y="515643"/>
                  </a:moveTo>
                  <a:cubicBezTo>
                    <a:pt x="0" y="230857"/>
                    <a:pt x="344678" y="0"/>
                    <a:pt x="769874" y="0"/>
                  </a:cubicBezTo>
                  <a:lnTo>
                    <a:pt x="4385310" y="0"/>
                  </a:lnTo>
                  <a:cubicBezTo>
                    <a:pt x="4810506" y="0"/>
                    <a:pt x="5155184" y="230857"/>
                    <a:pt x="5155184" y="515643"/>
                  </a:cubicBezTo>
                  <a:lnTo>
                    <a:pt x="5155184" y="2577960"/>
                  </a:lnTo>
                  <a:cubicBezTo>
                    <a:pt x="5155184" y="2862746"/>
                    <a:pt x="4810506" y="3093628"/>
                    <a:pt x="4385310" y="3093628"/>
                  </a:cubicBezTo>
                  <a:lnTo>
                    <a:pt x="769874" y="3093628"/>
                  </a:lnTo>
                  <a:cubicBezTo>
                    <a:pt x="344678" y="3093518"/>
                    <a:pt x="0" y="2862746"/>
                    <a:pt x="0" y="2577960"/>
                  </a:cubicBezTo>
                  <a:close/>
                </a:path>
              </a:pathLst>
            </a:custGeom>
            <a:solidFill>
              <a:srgbClr val="E7FAF3"/>
            </a:solidFill>
          </p:spPr>
        </p:sp>
      </p:grpSp>
      <p:grpSp>
        <p:nvGrpSpPr>
          <p:cNvPr name="Group 15" id="15"/>
          <p:cNvGrpSpPr/>
          <p:nvPr/>
        </p:nvGrpSpPr>
        <p:grpSpPr>
          <a:xfrm rot="0">
            <a:off x="10620099" y="3732905"/>
            <a:ext cx="934183" cy="886520"/>
            <a:chOff x="0" y="0"/>
            <a:chExt cx="1245578" cy="1182027"/>
          </a:xfrm>
        </p:grpSpPr>
        <p:sp>
          <p:nvSpPr>
            <p:cNvPr name="Freeform 16" id="16"/>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TextBox 17" id="17"/>
          <p:cNvSpPr txBox="true"/>
          <p:nvPr/>
        </p:nvSpPr>
        <p:spPr>
          <a:xfrm rot="0">
            <a:off x="9583922" y="4932140"/>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Prouver la conformité</a:t>
            </a:r>
          </a:p>
        </p:txBody>
      </p:sp>
      <p:grpSp>
        <p:nvGrpSpPr>
          <p:cNvPr name="Group 18" id="18"/>
          <p:cNvGrpSpPr/>
          <p:nvPr/>
        </p:nvGrpSpPr>
        <p:grpSpPr>
          <a:xfrm rot="0">
            <a:off x="13450281" y="4140899"/>
            <a:ext cx="3866359" cy="2320164"/>
            <a:chOff x="0" y="0"/>
            <a:chExt cx="5155146" cy="3093552"/>
          </a:xfrm>
        </p:grpSpPr>
        <p:sp>
          <p:nvSpPr>
            <p:cNvPr name="Freeform 19" id="19"/>
            <p:cNvSpPr/>
            <p:nvPr/>
          </p:nvSpPr>
          <p:spPr>
            <a:xfrm flipH="false" flipV="false" rot="0">
              <a:off x="0" y="0"/>
              <a:ext cx="5155184" cy="3093628"/>
            </a:xfrm>
            <a:custGeom>
              <a:avLst/>
              <a:gdLst/>
              <a:ahLst/>
              <a:cxnLst/>
              <a:rect r="r" b="b" t="t" l="l"/>
              <a:pathLst>
                <a:path h="3093628" w="5155184">
                  <a:moveTo>
                    <a:pt x="0" y="515643"/>
                  </a:moveTo>
                  <a:cubicBezTo>
                    <a:pt x="0" y="230857"/>
                    <a:pt x="344678" y="0"/>
                    <a:pt x="769874" y="0"/>
                  </a:cubicBezTo>
                  <a:lnTo>
                    <a:pt x="4385310" y="0"/>
                  </a:lnTo>
                  <a:cubicBezTo>
                    <a:pt x="4810506" y="0"/>
                    <a:pt x="5155184" y="230857"/>
                    <a:pt x="5155184" y="515643"/>
                  </a:cubicBezTo>
                  <a:lnTo>
                    <a:pt x="5155184" y="2577960"/>
                  </a:lnTo>
                  <a:cubicBezTo>
                    <a:pt x="5155184" y="2862746"/>
                    <a:pt x="4810506" y="3093628"/>
                    <a:pt x="4385310" y="3093628"/>
                  </a:cubicBezTo>
                  <a:lnTo>
                    <a:pt x="769874" y="3093628"/>
                  </a:lnTo>
                  <a:cubicBezTo>
                    <a:pt x="344678" y="3093518"/>
                    <a:pt x="0" y="2862746"/>
                    <a:pt x="0" y="2577960"/>
                  </a:cubicBezTo>
                  <a:close/>
                </a:path>
              </a:pathLst>
            </a:custGeom>
            <a:solidFill>
              <a:srgbClr val="E7FAF3"/>
            </a:solidFill>
          </p:spPr>
        </p:sp>
      </p:grpSp>
      <p:grpSp>
        <p:nvGrpSpPr>
          <p:cNvPr name="Group 20" id="20"/>
          <p:cNvGrpSpPr/>
          <p:nvPr/>
        </p:nvGrpSpPr>
        <p:grpSpPr>
          <a:xfrm rot="0">
            <a:off x="14916369" y="3676669"/>
            <a:ext cx="934183" cy="886520"/>
            <a:chOff x="0" y="0"/>
            <a:chExt cx="1245578" cy="1182027"/>
          </a:xfrm>
        </p:grpSpPr>
        <p:sp>
          <p:nvSpPr>
            <p:cNvPr name="Freeform 21" id="21"/>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TextBox 22" id="22"/>
          <p:cNvSpPr txBox="true"/>
          <p:nvPr/>
        </p:nvSpPr>
        <p:spPr>
          <a:xfrm rot="0">
            <a:off x="13790590" y="4865408"/>
            <a:ext cx="3221965" cy="963682"/>
          </a:xfrm>
          <a:prstGeom prst="rect">
            <a:avLst/>
          </a:prstGeom>
        </p:spPr>
        <p:txBody>
          <a:bodyPr anchor="t" rtlCol="false" tIns="0" lIns="0" bIns="0" rIns="0">
            <a:spAutoFit/>
          </a:bodyPr>
          <a:lstStyle/>
          <a:p>
            <a:pPr algn="l">
              <a:lnSpc>
                <a:spcPts val="3035"/>
              </a:lnSpc>
            </a:pPr>
            <a:r>
              <a:rPr lang="en-US" sz="2431" b="true">
                <a:solidFill>
                  <a:srgbClr val="4B4A4A"/>
                </a:solidFill>
                <a:latin typeface="Calibri (MS) Bold"/>
                <a:ea typeface="Calibri (MS) Bold"/>
                <a:cs typeface="Calibri (MS) Bold"/>
                <a:sym typeface="Calibri (MS) Bold"/>
              </a:rPr>
              <a:t>Intégrer sans exposer le DPI au cloud</a:t>
            </a:r>
          </a:p>
        </p:txBody>
      </p:sp>
      <p:grpSp>
        <p:nvGrpSpPr>
          <p:cNvPr name="Group 23" id="23"/>
          <p:cNvGrpSpPr/>
          <p:nvPr/>
        </p:nvGrpSpPr>
        <p:grpSpPr>
          <a:xfrm rot="0">
            <a:off x="5074120" y="4198087"/>
            <a:ext cx="3866359" cy="2262976"/>
            <a:chOff x="0" y="0"/>
            <a:chExt cx="5155146" cy="3017301"/>
          </a:xfrm>
        </p:grpSpPr>
        <p:sp>
          <p:nvSpPr>
            <p:cNvPr name="Freeform 24" id="24"/>
            <p:cNvSpPr/>
            <p:nvPr/>
          </p:nvSpPr>
          <p:spPr>
            <a:xfrm flipH="false" flipV="false" rot="0">
              <a:off x="0" y="0"/>
              <a:ext cx="5155184" cy="3017377"/>
            </a:xfrm>
            <a:custGeom>
              <a:avLst/>
              <a:gdLst/>
              <a:ahLst/>
              <a:cxnLst/>
              <a:rect r="r" b="b" t="t" l="l"/>
              <a:pathLst>
                <a:path h="3017377" w="5155184">
                  <a:moveTo>
                    <a:pt x="0" y="502933"/>
                  </a:moveTo>
                  <a:cubicBezTo>
                    <a:pt x="0" y="225167"/>
                    <a:pt x="344678" y="0"/>
                    <a:pt x="769874" y="0"/>
                  </a:cubicBezTo>
                  <a:lnTo>
                    <a:pt x="4385310" y="0"/>
                  </a:lnTo>
                  <a:cubicBezTo>
                    <a:pt x="4810506" y="0"/>
                    <a:pt x="5155184" y="225167"/>
                    <a:pt x="5155184" y="502933"/>
                  </a:cubicBezTo>
                  <a:lnTo>
                    <a:pt x="5155184" y="2514418"/>
                  </a:lnTo>
                  <a:cubicBezTo>
                    <a:pt x="5155184" y="2792184"/>
                    <a:pt x="4810506" y="3017377"/>
                    <a:pt x="4385310" y="3017377"/>
                  </a:cubicBezTo>
                  <a:lnTo>
                    <a:pt x="769874" y="3017377"/>
                  </a:lnTo>
                  <a:cubicBezTo>
                    <a:pt x="344678" y="3017268"/>
                    <a:pt x="0" y="2792184"/>
                    <a:pt x="0" y="2514418"/>
                  </a:cubicBezTo>
                  <a:close/>
                </a:path>
              </a:pathLst>
            </a:custGeom>
            <a:solidFill>
              <a:srgbClr val="E7FAF3"/>
            </a:solidFill>
          </p:spPr>
        </p:sp>
      </p:grpSp>
      <p:grpSp>
        <p:nvGrpSpPr>
          <p:cNvPr name="Group 25" id="25"/>
          <p:cNvGrpSpPr/>
          <p:nvPr/>
        </p:nvGrpSpPr>
        <p:grpSpPr>
          <a:xfrm rot="0">
            <a:off x="6391504" y="3732905"/>
            <a:ext cx="934183" cy="886520"/>
            <a:chOff x="0" y="0"/>
            <a:chExt cx="1245578" cy="1182027"/>
          </a:xfrm>
        </p:grpSpPr>
        <p:sp>
          <p:nvSpPr>
            <p:cNvPr name="Freeform 26" id="26"/>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Freeform 27" id="27" descr="Reading"/>
          <p:cNvSpPr/>
          <p:nvPr/>
        </p:nvSpPr>
        <p:spPr>
          <a:xfrm flipH="false" flipV="false" rot="0">
            <a:off x="6687969" y="4009349"/>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5377253" y="4916891"/>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Comprendre chaque alerte</a:t>
            </a:r>
          </a:p>
        </p:txBody>
      </p:sp>
      <p:sp>
        <p:nvSpPr>
          <p:cNvPr name="Freeform 29" id="29" descr="preencoded.png"/>
          <p:cNvSpPr/>
          <p:nvPr/>
        </p:nvSpPr>
        <p:spPr>
          <a:xfrm flipH="false" flipV="false" rot="0">
            <a:off x="10897495" y="4007444"/>
            <a:ext cx="340309" cy="340309"/>
          </a:xfrm>
          <a:custGeom>
            <a:avLst/>
            <a:gdLst/>
            <a:ahLst/>
            <a:cxnLst/>
            <a:rect r="r" b="b" t="t" l="l"/>
            <a:pathLst>
              <a:path h="340309" w="340309">
                <a:moveTo>
                  <a:pt x="0" y="0"/>
                </a:moveTo>
                <a:lnTo>
                  <a:pt x="340310" y="0"/>
                </a:lnTo>
                <a:lnTo>
                  <a:pt x="340310" y="340309"/>
                </a:lnTo>
                <a:lnTo>
                  <a:pt x="0" y="340309"/>
                </a:lnTo>
                <a:lnTo>
                  <a:pt x="0" y="0"/>
                </a:lnTo>
                <a:close/>
              </a:path>
            </a:pathLst>
          </a:custGeom>
          <a:blipFill>
            <a:blip r:embed="rId8">
              <a:extLst>
                <a:ext uri="{96DAC541-7B7A-43D3-8B79-37D633B846F1}">
                  <asvg:svgBlip xmlns:asvg="http://schemas.microsoft.com/office/drawing/2016/SVG/main" r:embed="rId9"/>
                </a:ext>
              </a:extLst>
            </a:blip>
            <a:stretch>
              <a:fillRect l="0" t="-12500" r="0" b="-12499"/>
            </a:stretch>
          </a:blipFill>
        </p:spPr>
      </p:sp>
      <p:sp>
        <p:nvSpPr>
          <p:cNvPr name="Freeform 30" id="30" descr="preencoded.png"/>
          <p:cNvSpPr/>
          <p:nvPr/>
        </p:nvSpPr>
        <p:spPr>
          <a:xfrm flipH="false" flipV="false" rot="0">
            <a:off x="15212835" y="3934997"/>
            <a:ext cx="341262" cy="341262"/>
          </a:xfrm>
          <a:custGeom>
            <a:avLst/>
            <a:gdLst/>
            <a:ahLst/>
            <a:cxnLst/>
            <a:rect r="r" b="b" t="t" l="l"/>
            <a:pathLst>
              <a:path h="341262" w="341262">
                <a:moveTo>
                  <a:pt x="0" y="0"/>
                </a:moveTo>
                <a:lnTo>
                  <a:pt x="341261" y="0"/>
                </a:lnTo>
                <a:lnTo>
                  <a:pt x="341261" y="341261"/>
                </a:lnTo>
                <a:lnTo>
                  <a:pt x="0" y="341261"/>
                </a:lnTo>
                <a:lnTo>
                  <a:pt x="0" y="0"/>
                </a:lnTo>
                <a:close/>
              </a:path>
            </a:pathLst>
          </a:custGeom>
          <a:blipFill>
            <a:blip r:embed="rId10">
              <a:extLst>
                <a:ext uri="{96DAC541-7B7A-43D3-8B79-37D633B846F1}">
                  <asvg:svgBlip xmlns:asvg="http://schemas.microsoft.com/office/drawing/2016/SVG/main" r:embed="rId11"/>
                </a:ext>
              </a:extLst>
            </a:blip>
            <a:stretch>
              <a:fillRect l="-6944" t="0" r="-6944"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sp>
        <p:nvSpPr>
          <p:cNvPr name="TextBox 6" id="6"/>
          <p:cNvSpPr txBox="true"/>
          <p:nvPr/>
        </p:nvSpPr>
        <p:spPr>
          <a:xfrm rot="0">
            <a:off x="992991" y="831666"/>
            <a:ext cx="16315868" cy="940918"/>
          </a:xfrm>
          <a:prstGeom prst="rect">
            <a:avLst/>
          </a:prstGeom>
        </p:spPr>
        <p:txBody>
          <a:bodyPr anchor="t" rtlCol="false" tIns="0" lIns="0" bIns="0" rIns="0">
            <a:spAutoFit/>
          </a:bodyPr>
          <a:lstStyle/>
          <a:p>
            <a:pPr algn="ctr">
              <a:lnSpc>
                <a:spcPts val="6744"/>
              </a:lnSpc>
            </a:pPr>
            <a:r>
              <a:rPr lang="en-US" sz="5404" b="true">
                <a:solidFill>
                  <a:srgbClr val="006747"/>
                </a:solidFill>
                <a:latin typeface="Calibri (MS) Bold"/>
                <a:ea typeface="Calibri (MS) Bold"/>
                <a:cs typeface="Calibri (MS) Bold"/>
                <a:sym typeface="Calibri (MS) Bold"/>
              </a:rPr>
              <a:t>Comment ça marche</a:t>
            </a:r>
          </a:p>
        </p:txBody>
      </p:sp>
      <p:grpSp>
        <p:nvGrpSpPr>
          <p:cNvPr name="Group 7" id="7"/>
          <p:cNvGrpSpPr/>
          <p:nvPr/>
        </p:nvGrpSpPr>
        <p:grpSpPr>
          <a:xfrm rot="0">
            <a:off x="1808740" y="2232231"/>
            <a:ext cx="14684216" cy="6441405"/>
            <a:chOff x="0" y="0"/>
            <a:chExt cx="19578955" cy="8588540"/>
          </a:xfrm>
        </p:grpSpPr>
        <p:sp>
          <p:nvSpPr>
            <p:cNvPr name="Freeform 8" id="8" descr="preencoded.png"/>
            <p:cNvSpPr/>
            <p:nvPr/>
          </p:nvSpPr>
          <p:spPr>
            <a:xfrm flipH="false" flipV="false" rot="0">
              <a:off x="0" y="0"/>
              <a:ext cx="19578955" cy="8588502"/>
            </a:xfrm>
            <a:custGeom>
              <a:avLst/>
              <a:gdLst/>
              <a:ahLst/>
              <a:cxnLst/>
              <a:rect r="r" b="b" t="t" l="l"/>
              <a:pathLst>
                <a:path h="8588502" w="19578955">
                  <a:moveTo>
                    <a:pt x="0" y="0"/>
                  </a:moveTo>
                  <a:lnTo>
                    <a:pt x="19578955" y="0"/>
                  </a:lnTo>
                  <a:lnTo>
                    <a:pt x="19578955" y="8588502"/>
                  </a:lnTo>
                  <a:lnTo>
                    <a:pt x="0" y="8588502"/>
                  </a:lnTo>
                  <a:lnTo>
                    <a:pt x="0" y="0"/>
                  </a:lnTo>
                  <a:close/>
                </a:path>
              </a:pathLst>
            </a:custGeom>
            <a:blipFill>
              <a:blip r:embed="rId4"/>
              <a:stretch>
                <a:fillRect l="-3" t="0" r="-3" b="0"/>
              </a:stretch>
            </a:blipFill>
          </p:spPr>
        </p:sp>
      </p:grpSp>
      <p:sp>
        <p:nvSpPr>
          <p:cNvPr name="TextBox 9" id="9"/>
          <p:cNvSpPr txBox="true"/>
          <p:nvPr/>
        </p:nvSpPr>
        <p:spPr>
          <a:xfrm rot="0">
            <a:off x="6258897" y="6933371"/>
            <a:ext cx="2219306" cy="445008"/>
          </a:xfrm>
          <a:prstGeom prst="rect">
            <a:avLst/>
          </a:prstGeom>
        </p:spPr>
        <p:txBody>
          <a:bodyPr anchor="t" rtlCol="false" tIns="0" lIns="0" bIns="0" rIns="0">
            <a:spAutoFit/>
          </a:bodyPr>
          <a:lstStyle/>
          <a:p>
            <a:pPr algn="ctr">
              <a:lnSpc>
                <a:spcPts val="2997"/>
              </a:lnSpc>
            </a:pPr>
            <a:r>
              <a:rPr lang="en-US" sz="2401" b="true">
                <a:solidFill>
                  <a:srgbClr val="006747"/>
                </a:solidFill>
                <a:latin typeface="Calibri (MS) Bold"/>
                <a:ea typeface="Calibri (MS) Bold"/>
                <a:cs typeface="Calibri (MS) Bold"/>
                <a:sym typeface="Calibri (MS) Bold"/>
              </a:rPr>
              <a:t>Calcul risque</a:t>
            </a:r>
          </a:p>
        </p:txBody>
      </p:sp>
      <p:sp>
        <p:nvSpPr>
          <p:cNvPr name="TextBox 10" id="10"/>
          <p:cNvSpPr txBox="true"/>
          <p:nvPr/>
        </p:nvSpPr>
        <p:spPr>
          <a:xfrm rot="0">
            <a:off x="6258897" y="7443778"/>
            <a:ext cx="2219306" cy="651643"/>
          </a:xfrm>
          <a:prstGeom prst="rect">
            <a:avLst/>
          </a:prstGeom>
        </p:spPr>
        <p:txBody>
          <a:bodyPr anchor="t" rtlCol="false" tIns="0" lIns="0" bIns="0" rIns="0">
            <a:spAutoFit/>
          </a:bodyPr>
          <a:lstStyle/>
          <a:p>
            <a:pPr algn="ctr">
              <a:lnSpc>
                <a:spcPts val="2318"/>
              </a:lnSpc>
            </a:pPr>
            <a:r>
              <a:rPr lang="en-US" sz="1951">
                <a:solidFill>
                  <a:srgbClr val="4B4A4A"/>
                </a:solidFill>
                <a:latin typeface="Calibri (MS)"/>
                <a:ea typeface="Calibri (MS)"/>
                <a:cs typeface="Calibri (MS)"/>
                <a:sym typeface="Calibri (MS)"/>
              </a:rPr>
              <a:t>Score automatisé en pourcentage</a:t>
            </a:r>
          </a:p>
        </p:txBody>
      </p:sp>
      <p:sp>
        <p:nvSpPr>
          <p:cNvPr name="TextBox 11" id="11"/>
          <p:cNvSpPr txBox="true"/>
          <p:nvPr/>
        </p:nvSpPr>
        <p:spPr>
          <a:xfrm rot="0">
            <a:off x="13309102" y="6535988"/>
            <a:ext cx="2219306" cy="842381"/>
          </a:xfrm>
          <a:prstGeom prst="rect">
            <a:avLst/>
          </a:prstGeom>
        </p:spPr>
        <p:txBody>
          <a:bodyPr anchor="t" rtlCol="false" tIns="0" lIns="0" bIns="0" rIns="0">
            <a:spAutoFit/>
          </a:bodyPr>
          <a:lstStyle/>
          <a:p>
            <a:pPr algn="ctr">
              <a:lnSpc>
                <a:spcPts val="2997"/>
              </a:lnSpc>
            </a:pPr>
            <a:r>
              <a:rPr lang="en-US" sz="2401" b="true">
                <a:solidFill>
                  <a:srgbClr val="006747"/>
                </a:solidFill>
                <a:latin typeface="Calibri (MS) Bold"/>
                <a:ea typeface="Calibri (MS) Bold"/>
                <a:cs typeface="Calibri (MS) Bold"/>
                <a:sym typeface="Calibri (MS) Bold"/>
              </a:rPr>
              <a:t>Action équipe</a:t>
            </a:r>
          </a:p>
        </p:txBody>
      </p:sp>
      <p:sp>
        <p:nvSpPr>
          <p:cNvPr name="TextBox 12" id="12"/>
          <p:cNvSpPr txBox="true"/>
          <p:nvPr/>
        </p:nvSpPr>
        <p:spPr>
          <a:xfrm rot="0">
            <a:off x="13309102" y="7443778"/>
            <a:ext cx="2219306" cy="651643"/>
          </a:xfrm>
          <a:prstGeom prst="rect">
            <a:avLst/>
          </a:prstGeom>
        </p:spPr>
        <p:txBody>
          <a:bodyPr anchor="t" rtlCol="false" tIns="0" lIns="0" bIns="0" rIns="0">
            <a:spAutoFit/>
          </a:bodyPr>
          <a:lstStyle/>
          <a:p>
            <a:pPr algn="ctr">
              <a:lnSpc>
                <a:spcPts val="2318"/>
              </a:lnSpc>
            </a:pPr>
            <a:r>
              <a:rPr lang="en-US" sz="1951">
                <a:solidFill>
                  <a:srgbClr val="4B4A4A"/>
                </a:solidFill>
                <a:latin typeface="Calibri (MS)"/>
                <a:ea typeface="Calibri (MS)"/>
                <a:cs typeface="Calibri (MS)"/>
                <a:sym typeface="Calibri (MS)"/>
              </a:rPr>
              <a:t>Intervention et recommandation</a:t>
            </a:r>
          </a:p>
        </p:txBody>
      </p:sp>
      <p:sp>
        <p:nvSpPr>
          <p:cNvPr name="TextBox 13" id="13"/>
          <p:cNvSpPr txBox="true"/>
          <p:nvPr/>
        </p:nvSpPr>
        <p:spPr>
          <a:xfrm rot="0">
            <a:off x="2811504" y="2763545"/>
            <a:ext cx="2219306" cy="842381"/>
          </a:xfrm>
          <a:prstGeom prst="rect">
            <a:avLst/>
          </a:prstGeom>
        </p:spPr>
        <p:txBody>
          <a:bodyPr anchor="t" rtlCol="false" tIns="0" lIns="0" bIns="0" rIns="0">
            <a:spAutoFit/>
          </a:bodyPr>
          <a:lstStyle/>
          <a:p>
            <a:pPr algn="ctr">
              <a:lnSpc>
                <a:spcPts val="2997"/>
              </a:lnSpc>
            </a:pPr>
            <a:r>
              <a:rPr lang="en-US" sz="2401" b="true">
                <a:solidFill>
                  <a:srgbClr val="006747"/>
                </a:solidFill>
                <a:latin typeface="Calibri (MS) Bold"/>
                <a:ea typeface="Calibri (MS) Bold"/>
                <a:cs typeface="Calibri (MS) Bold"/>
                <a:sym typeface="Calibri (MS) Bold"/>
              </a:rPr>
              <a:t>Données séjour</a:t>
            </a:r>
          </a:p>
        </p:txBody>
      </p:sp>
      <p:sp>
        <p:nvSpPr>
          <p:cNvPr name="TextBox 14" id="14"/>
          <p:cNvSpPr txBox="true"/>
          <p:nvPr/>
        </p:nvSpPr>
        <p:spPr>
          <a:xfrm rot="0">
            <a:off x="2811504" y="3671335"/>
            <a:ext cx="2219306" cy="953643"/>
          </a:xfrm>
          <a:prstGeom prst="rect">
            <a:avLst/>
          </a:prstGeom>
        </p:spPr>
        <p:txBody>
          <a:bodyPr anchor="t" rtlCol="false" tIns="0" lIns="0" bIns="0" rIns="0">
            <a:spAutoFit/>
          </a:bodyPr>
          <a:lstStyle/>
          <a:p>
            <a:pPr algn="ctr">
              <a:lnSpc>
                <a:spcPts val="2318"/>
              </a:lnSpc>
            </a:pPr>
            <a:r>
              <a:rPr lang="en-US" sz="1951">
                <a:solidFill>
                  <a:srgbClr val="4B4A4A"/>
                </a:solidFill>
                <a:latin typeface="Calibri (MS)"/>
                <a:ea typeface="Calibri (MS)"/>
                <a:cs typeface="Calibri (MS)"/>
                <a:sym typeface="Calibri (MS)"/>
              </a:rPr>
              <a:t>Collecte des paramètres patients</a:t>
            </a:r>
          </a:p>
        </p:txBody>
      </p:sp>
      <p:sp>
        <p:nvSpPr>
          <p:cNvPr name="TextBox 15" id="15"/>
          <p:cNvSpPr txBox="true"/>
          <p:nvPr/>
        </p:nvSpPr>
        <p:spPr>
          <a:xfrm rot="0">
            <a:off x="9833448" y="2763545"/>
            <a:ext cx="2219306" cy="445008"/>
          </a:xfrm>
          <a:prstGeom prst="rect">
            <a:avLst/>
          </a:prstGeom>
        </p:spPr>
        <p:txBody>
          <a:bodyPr anchor="t" rtlCol="false" tIns="0" lIns="0" bIns="0" rIns="0">
            <a:spAutoFit/>
          </a:bodyPr>
          <a:lstStyle/>
          <a:p>
            <a:pPr algn="ctr">
              <a:lnSpc>
                <a:spcPts val="2997"/>
              </a:lnSpc>
            </a:pPr>
            <a:r>
              <a:rPr lang="en-US" sz="2401" b="true">
                <a:solidFill>
                  <a:srgbClr val="006747"/>
                </a:solidFill>
                <a:latin typeface="Calibri (MS) Bold"/>
                <a:ea typeface="Calibri (MS) Bold"/>
                <a:cs typeface="Calibri (MS) Bold"/>
                <a:sym typeface="Calibri (MS) Bold"/>
              </a:rPr>
              <a:t>Alerte suivi</a:t>
            </a:r>
          </a:p>
        </p:txBody>
      </p:sp>
      <p:sp>
        <p:nvSpPr>
          <p:cNvPr name="TextBox 16" id="16"/>
          <p:cNvSpPr txBox="true"/>
          <p:nvPr/>
        </p:nvSpPr>
        <p:spPr>
          <a:xfrm rot="0">
            <a:off x="9833448" y="3273952"/>
            <a:ext cx="2219306" cy="651643"/>
          </a:xfrm>
          <a:prstGeom prst="rect">
            <a:avLst/>
          </a:prstGeom>
        </p:spPr>
        <p:txBody>
          <a:bodyPr anchor="t" rtlCol="false" tIns="0" lIns="0" bIns="0" rIns="0">
            <a:spAutoFit/>
          </a:bodyPr>
          <a:lstStyle/>
          <a:p>
            <a:pPr algn="ctr">
              <a:lnSpc>
                <a:spcPts val="2318"/>
              </a:lnSpc>
            </a:pPr>
            <a:r>
              <a:rPr lang="en-US" sz="1951">
                <a:solidFill>
                  <a:srgbClr val="4B4A4A"/>
                </a:solidFill>
                <a:latin typeface="Calibri (MS)"/>
                <a:ea typeface="Calibri (MS)"/>
                <a:cs typeface="Calibri (MS)"/>
                <a:sym typeface="Calibri (MS)"/>
              </a:rPr>
              <a:t>Notification si seuil dépassé</a:t>
            </a:r>
          </a:p>
        </p:txBody>
      </p:sp>
      <p:sp>
        <p:nvSpPr>
          <p:cNvPr name="TextBox 17" id="17"/>
          <p:cNvSpPr txBox="true"/>
          <p:nvPr/>
        </p:nvSpPr>
        <p:spPr>
          <a:xfrm rot="0">
            <a:off x="535438" y="8827427"/>
            <a:ext cx="17230954" cy="492928"/>
          </a:xfrm>
          <a:prstGeom prst="rect">
            <a:avLst/>
          </a:prstGeom>
        </p:spPr>
        <p:txBody>
          <a:bodyPr anchor="t" rtlCol="false" tIns="0" lIns="0" bIns="0" rIns="0">
            <a:spAutoFit/>
          </a:bodyPr>
          <a:lstStyle/>
          <a:p>
            <a:pPr algn="ctr">
              <a:lnSpc>
                <a:spcPts val="2974"/>
              </a:lnSpc>
            </a:pPr>
            <a:r>
              <a:rPr lang="en-US" sz="1951" b="true">
                <a:solidFill>
                  <a:srgbClr val="4B4A4A"/>
                </a:solidFill>
                <a:latin typeface="Calibri (MS) Bold"/>
                <a:ea typeface="Calibri (MS) Bold"/>
                <a:cs typeface="Calibri (MS) Bold"/>
                <a:sym typeface="Calibri (MS) Bold"/>
              </a:rPr>
              <a:t>En 1 coup d'œil : % de risque, seuil d'alerte, recommandation « suivi renforcé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632280"/>
            <a:ext cx="2364134" cy="431044"/>
            <a:chOff x="0" y="0"/>
            <a:chExt cx="3152178" cy="574726"/>
          </a:xfrm>
        </p:grpSpPr>
        <p:sp>
          <p:nvSpPr>
            <p:cNvPr name="Freeform 7" id="7"/>
            <p:cNvSpPr/>
            <p:nvPr/>
          </p:nvSpPr>
          <p:spPr>
            <a:xfrm flipH="false" flipV="false" rot="0">
              <a:off x="0" y="0"/>
              <a:ext cx="3152140" cy="574802"/>
            </a:xfrm>
            <a:custGeom>
              <a:avLst/>
              <a:gdLst/>
              <a:ahLst/>
              <a:cxnLst/>
              <a:rect r="r" b="b" t="t" l="l"/>
              <a:pathLst>
                <a:path h="574802" w="3152140">
                  <a:moveTo>
                    <a:pt x="0" y="272415"/>
                  </a:moveTo>
                  <a:cubicBezTo>
                    <a:pt x="0" y="121920"/>
                    <a:pt x="121920" y="0"/>
                    <a:pt x="272415" y="0"/>
                  </a:cubicBezTo>
                  <a:lnTo>
                    <a:pt x="2879725" y="0"/>
                  </a:lnTo>
                  <a:cubicBezTo>
                    <a:pt x="3030220" y="0"/>
                    <a:pt x="3152140" y="121920"/>
                    <a:pt x="3152140" y="272415"/>
                  </a:cubicBezTo>
                  <a:lnTo>
                    <a:pt x="3152140" y="302387"/>
                  </a:lnTo>
                  <a:cubicBezTo>
                    <a:pt x="3152140" y="452882"/>
                    <a:pt x="3030220" y="574802"/>
                    <a:pt x="2879725"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2955" y="1698698"/>
            <a:ext cx="2006584" cy="286912"/>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FONCTIONNALITÉS</a:t>
            </a:r>
          </a:p>
        </p:txBody>
      </p:sp>
      <p:sp>
        <p:nvSpPr>
          <p:cNvPr name="TextBox 9" id="9"/>
          <p:cNvSpPr txBox="true"/>
          <p:nvPr/>
        </p:nvSpPr>
        <p:spPr>
          <a:xfrm rot="0">
            <a:off x="992991" y="2033949"/>
            <a:ext cx="16315868" cy="1029538"/>
          </a:xfrm>
          <a:prstGeom prst="rect">
            <a:avLst/>
          </a:prstGeom>
        </p:spPr>
        <p:txBody>
          <a:bodyPr anchor="t" rtlCol="false" tIns="0" lIns="0" bIns="0" rIns="0">
            <a:spAutoFit/>
          </a:bodyPr>
          <a:lstStyle/>
          <a:p>
            <a:pPr algn="ctr">
              <a:lnSpc>
                <a:spcPts val="6744"/>
              </a:lnSpc>
            </a:pPr>
            <a:r>
              <a:rPr lang="en-US" sz="5404" b="true">
                <a:solidFill>
                  <a:srgbClr val="006747"/>
                </a:solidFill>
                <a:latin typeface="Calibri (MS) Bold"/>
                <a:ea typeface="Calibri (MS) Bold"/>
                <a:cs typeface="Calibri (MS) Bold"/>
                <a:sym typeface="Calibri (MS) Bold"/>
              </a:rPr>
              <a:t>Écran clé : score &amp; alerte</a:t>
            </a:r>
          </a:p>
        </p:txBody>
      </p:sp>
      <p:sp>
        <p:nvSpPr>
          <p:cNvPr name="TextBox 10" id="10"/>
          <p:cNvSpPr txBox="true"/>
          <p:nvPr/>
        </p:nvSpPr>
        <p:spPr>
          <a:xfrm rot="0">
            <a:off x="535438" y="3007728"/>
            <a:ext cx="17230954" cy="577806"/>
          </a:xfrm>
          <a:prstGeom prst="rect">
            <a:avLst/>
          </a:prstGeom>
        </p:spPr>
        <p:txBody>
          <a:bodyPr anchor="t" rtlCol="false" tIns="0" lIns="0" bIns="0" rIns="0">
            <a:spAutoFit/>
          </a:bodyPr>
          <a:lstStyle/>
          <a:p>
            <a:pPr algn="ctr">
              <a:lnSpc>
                <a:spcPts val="3354"/>
              </a:lnSpc>
            </a:pPr>
            <a:r>
              <a:rPr lang="en-US" sz="2101">
                <a:solidFill>
                  <a:srgbClr val="000000"/>
                </a:solidFill>
                <a:latin typeface="Calibri (MS)"/>
                <a:ea typeface="Calibri (MS)"/>
                <a:cs typeface="Calibri (MS)"/>
                <a:sym typeface="Calibri (MS)"/>
              </a:rPr>
              <a:t>Dès la sortie, visualisez immédiatement le risque de réadmission et les actions prioritaires.</a:t>
            </a:r>
          </a:p>
        </p:txBody>
      </p:sp>
      <p:sp>
        <p:nvSpPr>
          <p:cNvPr name="TextBox 11" id="11"/>
          <p:cNvSpPr txBox="true"/>
          <p:nvPr/>
        </p:nvSpPr>
        <p:spPr>
          <a:xfrm rot="0">
            <a:off x="597779" y="8010573"/>
            <a:ext cx="16805434" cy="539706"/>
          </a:xfrm>
          <a:prstGeom prst="rect">
            <a:avLst/>
          </a:prstGeom>
        </p:spPr>
        <p:txBody>
          <a:bodyPr anchor="t" rtlCol="false" tIns="0" lIns="0" bIns="0" rIns="0">
            <a:spAutoFit/>
          </a:bodyPr>
          <a:lstStyle/>
          <a:p>
            <a:pPr algn="ctr">
              <a:lnSpc>
                <a:spcPts val="3354"/>
              </a:lnSpc>
            </a:pPr>
            <a:r>
              <a:rPr lang="en-US" sz="2101" spc="-12">
                <a:solidFill>
                  <a:srgbClr val="4B4A4A"/>
                </a:solidFill>
                <a:latin typeface="TT Rounds Condensed"/>
                <a:ea typeface="TT Rounds Condensed"/>
                <a:cs typeface="TT Rounds Condensed"/>
                <a:sym typeface="TT Rounds Condensed"/>
              </a:rPr>
              <a:t>         </a:t>
            </a:r>
            <a:r>
              <a:rPr lang="en-US" b="true" sz="2101" spc="-12">
                <a:solidFill>
                  <a:srgbClr val="4B4A4A"/>
                </a:solidFill>
                <a:latin typeface="TT Rounds Condensed Bold"/>
                <a:ea typeface="TT Rounds Condensed Bold"/>
                <a:cs typeface="TT Rounds Condensed Bold"/>
                <a:sym typeface="TT Rounds Condensed Bold"/>
              </a:rPr>
              <a:t>Exemple démo :</a:t>
            </a:r>
            <a:r>
              <a:rPr lang="en-US" sz="2101" spc="-12">
                <a:solidFill>
                  <a:srgbClr val="4B4A4A"/>
                </a:solidFill>
                <a:latin typeface="TT Rounds Condensed"/>
                <a:ea typeface="TT Rounds Condensed"/>
                <a:cs typeface="TT Rounds Condensed"/>
                <a:sym typeface="TT Rounds Condensed"/>
              </a:rPr>
              <a:t> Patient avec un risque de </a:t>
            </a:r>
            <a:r>
              <a:rPr lang="en-US" sz="2101" spc="-12">
                <a:solidFill>
                  <a:srgbClr val="006747"/>
                </a:solidFill>
                <a:latin typeface="TT Rounds Condensed"/>
                <a:ea typeface="TT Rounds Condensed"/>
                <a:cs typeface="TT Rounds Condensed"/>
                <a:sym typeface="TT Rounds Condensed"/>
              </a:rPr>
              <a:t>85%</a:t>
            </a:r>
            <a:r>
              <a:rPr lang="en-US" sz="2101" spc="-12">
                <a:solidFill>
                  <a:srgbClr val="4B4A4A"/>
                </a:solidFill>
                <a:latin typeface="TT Rounds Condensed"/>
                <a:ea typeface="TT Rounds Condensed"/>
                <a:cs typeface="TT Rounds Condensed"/>
                <a:sym typeface="TT Rounds Condensed"/>
              </a:rPr>
              <a:t> de réadmission, bien au-dessus du seuil d'alerte de </a:t>
            </a:r>
            <a:r>
              <a:rPr lang="en-US" sz="2101" spc="-12">
                <a:solidFill>
                  <a:srgbClr val="006747"/>
                </a:solidFill>
                <a:latin typeface="TT Rounds Condensed"/>
                <a:ea typeface="TT Rounds Condensed"/>
                <a:cs typeface="TT Rounds Condensed"/>
                <a:sym typeface="TT Rounds Condensed"/>
              </a:rPr>
              <a:t>48%</a:t>
            </a:r>
            <a:r>
              <a:rPr lang="en-US" sz="2101" spc="-12">
                <a:solidFill>
                  <a:srgbClr val="4B4A4A"/>
                </a:solidFill>
                <a:latin typeface="TT Rounds Condensed"/>
                <a:ea typeface="TT Rounds Condensed"/>
                <a:cs typeface="TT Rounds Condensed"/>
                <a:sym typeface="TT Rounds Condensed"/>
              </a:rPr>
              <a:t>.       </a:t>
            </a:r>
          </a:p>
        </p:txBody>
      </p:sp>
      <p:grpSp>
        <p:nvGrpSpPr>
          <p:cNvPr name="Group 12" id="12"/>
          <p:cNvGrpSpPr/>
          <p:nvPr/>
        </p:nvGrpSpPr>
        <p:grpSpPr>
          <a:xfrm rot="0">
            <a:off x="535724" y="4522508"/>
            <a:ext cx="5520242" cy="1520114"/>
            <a:chOff x="0" y="0"/>
            <a:chExt cx="7360323" cy="2026818"/>
          </a:xfrm>
        </p:grpSpPr>
        <p:sp>
          <p:nvSpPr>
            <p:cNvPr name="Freeform 13" id="13"/>
            <p:cNvSpPr/>
            <p:nvPr/>
          </p:nvSpPr>
          <p:spPr>
            <a:xfrm flipH="false" flipV="false" rot="0">
              <a:off x="0" y="0"/>
              <a:ext cx="7360285" cy="2026779"/>
            </a:xfrm>
            <a:custGeom>
              <a:avLst/>
              <a:gdLst/>
              <a:ahLst/>
              <a:cxnLst/>
              <a:rect r="r" b="b" t="t" l="l"/>
              <a:pathLst>
                <a:path h="2026779" w="7360285">
                  <a:moveTo>
                    <a:pt x="0" y="337796"/>
                  </a:moveTo>
                  <a:cubicBezTo>
                    <a:pt x="0" y="151248"/>
                    <a:pt x="290576" y="0"/>
                    <a:pt x="648970" y="0"/>
                  </a:cubicBezTo>
                  <a:lnTo>
                    <a:pt x="6711315" y="0"/>
                  </a:lnTo>
                  <a:cubicBezTo>
                    <a:pt x="7069709" y="0"/>
                    <a:pt x="7360285" y="151248"/>
                    <a:pt x="7360285" y="337796"/>
                  </a:cubicBezTo>
                  <a:lnTo>
                    <a:pt x="7360285" y="1688982"/>
                  </a:lnTo>
                  <a:cubicBezTo>
                    <a:pt x="7360285" y="1875530"/>
                    <a:pt x="7069709" y="2026779"/>
                    <a:pt x="6711315" y="2026779"/>
                  </a:cubicBezTo>
                  <a:lnTo>
                    <a:pt x="648970" y="2026779"/>
                  </a:lnTo>
                  <a:cubicBezTo>
                    <a:pt x="290576" y="2026869"/>
                    <a:pt x="0" y="1875597"/>
                    <a:pt x="0" y="1688982"/>
                  </a:cubicBezTo>
                  <a:close/>
                </a:path>
              </a:pathLst>
            </a:custGeom>
            <a:solidFill>
              <a:srgbClr val="E7FAF3"/>
            </a:solidFill>
          </p:spPr>
        </p:sp>
      </p:grpSp>
      <p:grpSp>
        <p:nvGrpSpPr>
          <p:cNvPr name="Group 14" id="14"/>
          <p:cNvGrpSpPr/>
          <p:nvPr/>
        </p:nvGrpSpPr>
        <p:grpSpPr>
          <a:xfrm rot="0">
            <a:off x="2867816" y="4092283"/>
            <a:ext cx="855164" cy="864251"/>
            <a:chOff x="0" y="0"/>
            <a:chExt cx="1140219" cy="1152334"/>
          </a:xfrm>
        </p:grpSpPr>
        <p:sp>
          <p:nvSpPr>
            <p:cNvPr name="Freeform 15" id="15"/>
            <p:cNvSpPr/>
            <p:nvPr/>
          </p:nvSpPr>
          <p:spPr>
            <a:xfrm flipH="false" flipV="false" rot="0">
              <a:off x="0" y="0"/>
              <a:ext cx="1140206" cy="1152398"/>
            </a:xfrm>
            <a:custGeom>
              <a:avLst/>
              <a:gdLst/>
              <a:ahLst/>
              <a:cxnLst/>
              <a:rect r="r" b="b" t="t" l="l"/>
              <a:pathLst>
                <a:path h="1152398" w="1140206">
                  <a:moveTo>
                    <a:pt x="0" y="576199"/>
                  </a:moveTo>
                  <a:cubicBezTo>
                    <a:pt x="0" y="257937"/>
                    <a:pt x="255270" y="0"/>
                    <a:pt x="570103" y="0"/>
                  </a:cubicBezTo>
                  <a:cubicBezTo>
                    <a:pt x="884936" y="0"/>
                    <a:pt x="1140206" y="257937"/>
                    <a:pt x="1140206" y="576199"/>
                  </a:cubicBezTo>
                  <a:cubicBezTo>
                    <a:pt x="1140206" y="894461"/>
                    <a:pt x="884936" y="1152398"/>
                    <a:pt x="570103" y="1152398"/>
                  </a:cubicBezTo>
                  <a:cubicBezTo>
                    <a:pt x="255270" y="1152398"/>
                    <a:pt x="0" y="894334"/>
                    <a:pt x="0" y="576199"/>
                  </a:cubicBezTo>
                  <a:close/>
                </a:path>
              </a:pathLst>
            </a:custGeom>
            <a:solidFill>
              <a:srgbClr val="006747"/>
            </a:solidFill>
          </p:spPr>
        </p:sp>
      </p:grpSp>
      <p:sp>
        <p:nvSpPr>
          <p:cNvPr name="TextBox 16" id="16"/>
          <p:cNvSpPr txBox="true"/>
          <p:nvPr/>
        </p:nvSpPr>
        <p:spPr>
          <a:xfrm rot="0">
            <a:off x="1134066" y="5039754"/>
            <a:ext cx="4600204" cy="437229"/>
          </a:xfrm>
          <a:prstGeom prst="rect">
            <a:avLst/>
          </a:prstGeom>
        </p:spPr>
        <p:txBody>
          <a:bodyPr anchor="t" rtlCol="false" tIns="0" lIns="0" bIns="0" rIns="0">
            <a:spAutoFit/>
          </a:bodyPr>
          <a:lstStyle/>
          <a:p>
            <a:pPr algn="ctr">
              <a:lnSpc>
                <a:spcPts val="3354"/>
              </a:lnSpc>
            </a:pPr>
            <a:r>
              <a:rPr lang="en-US" sz="2101" b="true">
                <a:solidFill>
                  <a:srgbClr val="4B4A4A"/>
                </a:solidFill>
                <a:latin typeface="Calibri (MS) Bold"/>
                <a:ea typeface="Calibri (MS) Bold"/>
                <a:cs typeface="Calibri (MS) Bold"/>
                <a:sym typeface="Calibri (MS) Bold"/>
              </a:rPr>
              <a:t>Probabilité de réadmission à 30 jours</a:t>
            </a:r>
          </a:p>
        </p:txBody>
      </p:sp>
      <p:sp>
        <p:nvSpPr>
          <p:cNvPr name="Freeform 17" id="17" descr="1 circle"/>
          <p:cNvSpPr/>
          <p:nvPr/>
        </p:nvSpPr>
        <p:spPr>
          <a:xfrm flipH="false" flipV="false" rot="0">
            <a:off x="3072365" y="4288869"/>
            <a:ext cx="446951" cy="471068"/>
          </a:xfrm>
          <a:custGeom>
            <a:avLst/>
            <a:gdLst/>
            <a:ahLst/>
            <a:cxnLst/>
            <a:rect r="r" b="b" t="t" l="l"/>
            <a:pathLst>
              <a:path h="471068" w="446951">
                <a:moveTo>
                  <a:pt x="0" y="0"/>
                </a:moveTo>
                <a:lnTo>
                  <a:pt x="446951" y="0"/>
                </a:lnTo>
                <a:lnTo>
                  <a:pt x="446951" y="471069"/>
                </a:lnTo>
                <a:lnTo>
                  <a:pt x="0" y="471069"/>
                </a:lnTo>
                <a:lnTo>
                  <a:pt x="0" y="0"/>
                </a:lnTo>
                <a:close/>
              </a:path>
            </a:pathLst>
          </a:custGeom>
          <a:blipFill>
            <a:blip r:embed="rId4">
              <a:extLst>
                <a:ext uri="{96DAC541-7B7A-43D3-8B79-37D633B846F1}">
                  <asvg:svgBlip xmlns:asvg="http://schemas.microsoft.com/office/drawing/2016/SVG/main" r:embed="rId5"/>
                </a:ext>
              </a:extLst>
            </a:blip>
            <a:stretch>
              <a:fillRect l="0" t="0" r="-5395" b="0"/>
            </a:stretch>
          </a:blipFill>
        </p:spPr>
      </p:sp>
      <p:grpSp>
        <p:nvGrpSpPr>
          <p:cNvPr name="Group 18" id="18"/>
          <p:cNvGrpSpPr/>
          <p:nvPr/>
        </p:nvGrpSpPr>
        <p:grpSpPr>
          <a:xfrm rot="0">
            <a:off x="6208481" y="4567952"/>
            <a:ext cx="5583155" cy="1474670"/>
            <a:chOff x="0" y="0"/>
            <a:chExt cx="7444207" cy="1966227"/>
          </a:xfrm>
        </p:grpSpPr>
        <p:sp>
          <p:nvSpPr>
            <p:cNvPr name="Freeform 19" id="19"/>
            <p:cNvSpPr/>
            <p:nvPr/>
          </p:nvSpPr>
          <p:spPr>
            <a:xfrm flipH="false" flipV="false" rot="0">
              <a:off x="0" y="0"/>
              <a:ext cx="7444105" cy="1966181"/>
            </a:xfrm>
            <a:custGeom>
              <a:avLst/>
              <a:gdLst/>
              <a:ahLst/>
              <a:cxnLst/>
              <a:rect r="r" b="b" t="t" l="l"/>
              <a:pathLst>
                <a:path h="1966181" w="7444105">
                  <a:moveTo>
                    <a:pt x="0" y="327686"/>
                  </a:moveTo>
                  <a:cubicBezTo>
                    <a:pt x="0" y="146704"/>
                    <a:pt x="287528" y="0"/>
                    <a:pt x="642239" y="0"/>
                  </a:cubicBezTo>
                  <a:lnTo>
                    <a:pt x="6801866" y="0"/>
                  </a:lnTo>
                  <a:cubicBezTo>
                    <a:pt x="7156577" y="0"/>
                    <a:pt x="7444105" y="146704"/>
                    <a:pt x="7444105" y="327686"/>
                  </a:cubicBezTo>
                  <a:lnTo>
                    <a:pt x="7444105" y="1638495"/>
                  </a:lnTo>
                  <a:cubicBezTo>
                    <a:pt x="7444105" y="1819478"/>
                    <a:pt x="7156577" y="1966181"/>
                    <a:pt x="6801866" y="1966181"/>
                  </a:cubicBezTo>
                  <a:lnTo>
                    <a:pt x="642239" y="1966181"/>
                  </a:lnTo>
                  <a:cubicBezTo>
                    <a:pt x="287528" y="1966265"/>
                    <a:pt x="0" y="1819478"/>
                    <a:pt x="0" y="1638495"/>
                  </a:cubicBezTo>
                  <a:close/>
                </a:path>
              </a:pathLst>
            </a:custGeom>
            <a:solidFill>
              <a:srgbClr val="E7FAF3"/>
            </a:solidFill>
          </p:spPr>
        </p:sp>
      </p:grpSp>
      <p:grpSp>
        <p:nvGrpSpPr>
          <p:cNvPr name="Group 20" id="20"/>
          <p:cNvGrpSpPr/>
          <p:nvPr/>
        </p:nvGrpSpPr>
        <p:grpSpPr>
          <a:xfrm rot="0">
            <a:off x="8566814" y="4141851"/>
            <a:ext cx="864594" cy="855059"/>
            <a:chOff x="0" y="0"/>
            <a:chExt cx="1152792" cy="1140079"/>
          </a:xfrm>
        </p:grpSpPr>
        <p:sp>
          <p:nvSpPr>
            <p:cNvPr name="Freeform 21" id="21"/>
            <p:cNvSpPr/>
            <p:nvPr/>
          </p:nvSpPr>
          <p:spPr>
            <a:xfrm flipH="false" flipV="false" rot="0">
              <a:off x="0" y="0"/>
              <a:ext cx="1152779" cy="1140079"/>
            </a:xfrm>
            <a:custGeom>
              <a:avLst/>
              <a:gdLst/>
              <a:ahLst/>
              <a:cxnLst/>
              <a:rect r="r" b="b" t="t" l="l"/>
              <a:pathLst>
                <a:path h="1140079" w="1152779">
                  <a:moveTo>
                    <a:pt x="0" y="570103"/>
                  </a:moveTo>
                  <a:cubicBezTo>
                    <a:pt x="0" y="255270"/>
                    <a:pt x="258064" y="0"/>
                    <a:pt x="576453" y="0"/>
                  </a:cubicBezTo>
                  <a:cubicBezTo>
                    <a:pt x="894842" y="0"/>
                    <a:pt x="1152779" y="255270"/>
                    <a:pt x="1152779" y="570103"/>
                  </a:cubicBezTo>
                  <a:cubicBezTo>
                    <a:pt x="1152779" y="884936"/>
                    <a:pt x="894715" y="1140079"/>
                    <a:pt x="576453" y="1140079"/>
                  </a:cubicBezTo>
                  <a:cubicBezTo>
                    <a:pt x="258191" y="1140079"/>
                    <a:pt x="0" y="884809"/>
                    <a:pt x="0" y="570103"/>
                  </a:cubicBezTo>
                  <a:close/>
                </a:path>
              </a:pathLst>
            </a:custGeom>
            <a:solidFill>
              <a:srgbClr val="006747"/>
            </a:solidFill>
          </p:spPr>
        </p:sp>
      </p:grpSp>
      <p:sp>
        <p:nvSpPr>
          <p:cNvPr name="TextBox 22" id="22"/>
          <p:cNvSpPr txBox="true"/>
          <p:nvPr/>
        </p:nvSpPr>
        <p:spPr>
          <a:xfrm rot="0">
            <a:off x="6813794" y="5078035"/>
            <a:ext cx="4652791" cy="437229"/>
          </a:xfrm>
          <a:prstGeom prst="rect">
            <a:avLst/>
          </a:prstGeom>
        </p:spPr>
        <p:txBody>
          <a:bodyPr anchor="t" rtlCol="false" tIns="0" lIns="0" bIns="0" rIns="0">
            <a:spAutoFit/>
          </a:bodyPr>
          <a:lstStyle/>
          <a:p>
            <a:pPr algn="ctr">
              <a:lnSpc>
                <a:spcPts val="3354"/>
              </a:lnSpc>
            </a:pPr>
            <a:r>
              <a:rPr lang="en-US" sz="2101" b="true">
                <a:solidFill>
                  <a:srgbClr val="4B4A4A"/>
                </a:solidFill>
                <a:latin typeface="Calibri (MS) Bold"/>
                <a:ea typeface="Calibri (MS) Bold"/>
                <a:cs typeface="Calibri (MS) Bold"/>
                <a:sym typeface="Calibri (MS) Bold"/>
              </a:rPr>
              <a:t>Seuil d’alerte calibré</a:t>
            </a:r>
          </a:p>
        </p:txBody>
      </p:sp>
      <p:sp>
        <p:nvSpPr>
          <p:cNvPr name="Freeform 23" id="23" descr="2 circles"/>
          <p:cNvSpPr/>
          <p:nvPr/>
        </p:nvSpPr>
        <p:spPr>
          <a:xfrm flipH="false" flipV="false" rot="0">
            <a:off x="8773668" y="4343933"/>
            <a:ext cx="451837" cy="451837"/>
          </a:xfrm>
          <a:custGeom>
            <a:avLst/>
            <a:gdLst/>
            <a:ahLst/>
            <a:cxnLst/>
            <a:rect r="r" b="b" t="t" l="l"/>
            <a:pathLst>
              <a:path h="451837" w="451837">
                <a:moveTo>
                  <a:pt x="0" y="0"/>
                </a:moveTo>
                <a:lnTo>
                  <a:pt x="451837" y="0"/>
                </a:lnTo>
                <a:lnTo>
                  <a:pt x="451837" y="451838"/>
                </a:lnTo>
                <a:lnTo>
                  <a:pt x="0" y="4518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4" id="24"/>
          <p:cNvGrpSpPr/>
          <p:nvPr/>
        </p:nvGrpSpPr>
        <p:grpSpPr>
          <a:xfrm rot="0">
            <a:off x="12033761" y="4582249"/>
            <a:ext cx="5520242" cy="1460373"/>
            <a:chOff x="0" y="0"/>
            <a:chExt cx="7360323" cy="1947164"/>
          </a:xfrm>
        </p:grpSpPr>
        <p:sp>
          <p:nvSpPr>
            <p:cNvPr name="Freeform 25" id="25"/>
            <p:cNvSpPr/>
            <p:nvPr/>
          </p:nvSpPr>
          <p:spPr>
            <a:xfrm flipH="false" flipV="false" rot="0">
              <a:off x="0" y="0"/>
              <a:ext cx="7360412" cy="1947164"/>
            </a:xfrm>
            <a:custGeom>
              <a:avLst/>
              <a:gdLst/>
              <a:ahLst/>
              <a:cxnLst/>
              <a:rect r="r" b="b" t="t" l="l"/>
              <a:pathLst>
                <a:path h="1947164" w="7360412">
                  <a:moveTo>
                    <a:pt x="0" y="324549"/>
                  </a:moveTo>
                  <a:cubicBezTo>
                    <a:pt x="0" y="145288"/>
                    <a:pt x="290576" y="0"/>
                    <a:pt x="649097" y="0"/>
                  </a:cubicBezTo>
                  <a:lnTo>
                    <a:pt x="6711315" y="0"/>
                  </a:lnTo>
                  <a:cubicBezTo>
                    <a:pt x="7069836" y="0"/>
                    <a:pt x="7360412" y="145288"/>
                    <a:pt x="7360412" y="324549"/>
                  </a:cubicBezTo>
                  <a:lnTo>
                    <a:pt x="7360412" y="1622615"/>
                  </a:lnTo>
                  <a:cubicBezTo>
                    <a:pt x="7360412" y="1801876"/>
                    <a:pt x="7069836" y="1947164"/>
                    <a:pt x="6711315" y="1947164"/>
                  </a:cubicBezTo>
                  <a:lnTo>
                    <a:pt x="649097" y="1947164"/>
                  </a:lnTo>
                  <a:cubicBezTo>
                    <a:pt x="290576" y="1947164"/>
                    <a:pt x="0" y="1801876"/>
                    <a:pt x="0" y="1622615"/>
                  </a:cubicBezTo>
                  <a:close/>
                </a:path>
              </a:pathLst>
            </a:custGeom>
            <a:solidFill>
              <a:srgbClr val="E7FAF3"/>
            </a:solidFill>
          </p:spPr>
        </p:sp>
      </p:grpSp>
      <p:grpSp>
        <p:nvGrpSpPr>
          <p:cNvPr name="Group 26" id="26"/>
          <p:cNvGrpSpPr/>
          <p:nvPr/>
        </p:nvGrpSpPr>
        <p:grpSpPr>
          <a:xfrm rot="0">
            <a:off x="14365395" y="4152338"/>
            <a:ext cx="855059" cy="864594"/>
            <a:chOff x="0" y="0"/>
            <a:chExt cx="1140079" cy="1152792"/>
          </a:xfrm>
        </p:grpSpPr>
        <p:sp>
          <p:nvSpPr>
            <p:cNvPr name="Freeform 27" id="27"/>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28" id="28"/>
          <p:cNvSpPr txBox="true"/>
          <p:nvPr/>
        </p:nvSpPr>
        <p:spPr>
          <a:xfrm rot="0">
            <a:off x="12632398" y="5099952"/>
            <a:ext cx="4600356" cy="437229"/>
          </a:xfrm>
          <a:prstGeom prst="rect">
            <a:avLst/>
          </a:prstGeom>
        </p:spPr>
        <p:txBody>
          <a:bodyPr anchor="t" rtlCol="false" tIns="0" lIns="0" bIns="0" rIns="0">
            <a:spAutoFit/>
          </a:bodyPr>
          <a:lstStyle/>
          <a:p>
            <a:pPr algn="ctr">
              <a:lnSpc>
                <a:spcPts val="3354"/>
              </a:lnSpc>
            </a:pPr>
            <a:r>
              <a:rPr lang="en-US" sz="2101" b="true">
                <a:solidFill>
                  <a:srgbClr val="4B4A4A"/>
                </a:solidFill>
                <a:latin typeface="Calibri (MS) Bold"/>
                <a:ea typeface="Calibri (MS) Bold"/>
                <a:cs typeface="Calibri (MS) Bold"/>
                <a:sym typeface="Calibri (MS) Bold"/>
              </a:rPr>
              <a:t>Badge "suivi renforcé"</a:t>
            </a:r>
          </a:p>
        </p:txBody>
      </p:sp>
      <p:sp>
        <p:nvSpPr>
          <p:cNvPr name="Freeform 29" id="29" descr="3-Circle"/>
          <p:cNvSpPr/>
          <p:nvPr/>
        </p:nvSpPr>
        <p:spPr>
          <a:xfrm flipH="false" flipV="false" rot="0">
            <a:off x="14570345" y="4361097"/>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224477"/>
            <a:ext cx="2096938" cy="431044"/>
            <a:chOff x="0" y="0"/>
            <a:chExt cx="2795918" cy="574726"/>
          </a:xfrm>
        </p:grpSpPr>
        <p:sp>
          <p:nvSpPr>
            <p:cNvPr name="Freeform 7" id="7"/>
            <p:cNvSpPr/>
            <p:nvPr/>
          </p:nvSpPr>
          <p:spPr>
            <a:xfrm flipH="false" flipV="false" rot="0">
              <a:off x="0" y="0"/>
              <a:ext cx="2795905" cy="574802"/>
            </a:xfrm>
            <a:custGeom>
              <a:avLst/>
              <a:gdLst/>
              <a:ahLst/>
              <a:cxnLst/>
              <a:rect r="r" b="b" t="t" l="l"/>
              <a:pathLst>
                <a:path h="574802" w="2795905">
                  <a:moveTo>
                    <a:pt x="0" y="272415"/>
                  </a:moveTo>
                  <a:cubicBezTo>
                    <a:pt x="0" y="121920"/>
                    <a:pt x="121920" y="0"/>
                    <a:pt x="272415" y="0"/>
                  </a:cubicBezTo>
                  <a:lnTo>
                    <a:pt x="2523490" y="0"/>
                  </a:lnTo>
                  <a:cubicBezTo>
                    <a:pt x="2673985" y="0"/>
                    <a:pt x="2795905" y="121920"/>
                    <a:pt x="2795905" y="272415"/>
                  </a:cubicBezTo>
                  <a:lnTo>
                    <a:pt x="2795905" y="302387"/>
                  </a:lnTo>
                  <a:cubicBezTo>
                    <a:pt x="2795905" y="452882"/>
                    <a:pt x="2673985" y="574802"/>
                    <a:pt x="2523490"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2955" y="1290704"/>
            <a:ext cx="1693916" cy="280235"/>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TRANSPARENCE</a:t>
            </a:r>
          </a:p>
        </p:txBody>
      </p:sp>
      <p:sp>
        <p:nvSpPr>
          <p:cNvPr name="TextBox 9" id="9"/>
          <p:cNvSpPr txBox="true"/>
          <p:nvPr/>
        </p:nvSpPr>
        <p:spPr>
          <a:xfrm rot="0">
            <a:off x="992991" y="1626137"/>
            <a:ext cx="16315868" cy="1916211"/>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Pourquoi ce score ? La confiance par l'explication</a:t>
            </a:r>
          </a:p>
        </p:txBody>
      </p:sp>
      <p:sp>
        <p:nvSpPr>
          <p:cNvPr name="TextBox 10" id="10"/>
          <p:cNvSpPr txBox="true"/>
          <p:nvPr/>
        </p:nvSpPr>
        <p:spPr>
          <a:xfrm rot="0">
            <a:off x="992991" y="3844052"/>
            <a:ext cx="16315868" cy="1031796"/>
          </a:xfrm>
          <a:prstGeom prst="rect">
            <a:avLst/>
          </a:prstGeom>
        </p:spPr>
        <p:txBody>
          <a:bodyPr anchor="t" rtlCol="false" tIns="0" lIns="0" bIns="0" rIns="0">
            <a:spAutoFit/>
          </a:bodyPr>
          <a:lstStyle/>
          <a:p>
            <a:pPr algn="l">
              <a:lnSpc>
                <a:spcPts val="3354"/>
              </a:lnSpc>
            </a:pPr>
            <a:r>
              <a:rPr lang="en-US" sz="2101">
                <a:solidFill>
                  <a:srgbClr val="000000"/>
                </a:solidFill>
                <a:latin typeface="Calibri (MS)"/>
                <a:ea typeface="Calibri (MS)"/>
                <a:cs typeface="Calibri (MS)"/>
                <a:sym typeface="Calibri (MS)"/>
              </a:rPr>
              <a:t>Nous ne vous donnons pas une « boîte noire ». Chaque alerte s'accompagne d'une explication claire des facteurs qui influencent le risque, vous permettant de communiquer en toute confiance avec l'équipe de suivi.</a:t>
            </a:r>
          </a:p>
        </p:txBody>
      </p:sp>
      <p:grpSp>
        <p:nvGrpSpPr>
          <p:cNvPr name="Group 11" id="11"/>
          <p:cNvGrpSpPr/>
          <p:nvPr/>
        </p:nvGrpSpPr>
        <p:grpSpPr>
          <a:xfrm rot="0">
            <a:off x="735902" y="5821461"/>
            <a:ext cx="3866359" cy="3464090"/>
            <a:chOff x="0" y="0"/>
            <a:chExt cx="5155146" cy="4618787"/>
          </a:xfrm>
        </p:grpSpPr>
        <p:sp>
          <p:nvSpPr>
            <p:cNvPr name="Freeform 12" id="12"/>
            <p:cNvSpPr/>
            <p:nvPr/>
          </p:nvSpPr>
          <p:spPr>
            <a:xfrm flipH="false" flipV="false" rot="0">
              <a:off x="0" y="0"/>
              <a:ext cx="5155184" cy="4618863"/>
            </a:xfrm>
            <a:custGeom>
              <a:avLst/>
              <a:gdLst/>
              <a:ahLst/>
              <a:cxnLst/>
              <a:rect r="r" b="b" t="t" l="l"/>
              <a:pathLst>
                <a:path h="4618863" w="5155184">
                  <a:moveTo>
                    <a:pt x="0" y="769874"/>
                  </a:moveTo>
                  <a:cubicBezTo>
                    <a:pt x="0" y="344678"/>
                    <a:pt x="344678" y="0"/>
                    <a:pt x="769874" y="0"/>
                  </a:cubicBezTo>
                  <a:lnTo>
                    <a:pt x="4385310" y="0"/>
                  </a:lnTo>
                  <a:cubicBezTo>
                    <a:pt x="4810506" y="0"/>
                    <a:pt x="5155184" y="344678"/>
                    <a:pt x="5155184" y="769874"/>
                  </a:cubicBezTo>
                  <a:lnTo>
                    <a:pt x="5155184" y="3848989"/>
                  </a:lnTo>
                  <a:cubicBezTo>
                    <a:pt x="5155184" y="4274185"/>
                    <a:pt x="4810506" y="4618863"/>
                    <a:pt x="4385310" y="4618863"/>
                  </a:cubicBezTo>
                  <a:lnTo>
                    <a:pt x="769874" y="4618863"/>
                  </a:lnTo>
                  <a:cubicBezTo>
                    <a:pt x="344678" y="4618736"/>
                    <a:pt x="0" y="4274185"/>
                    <a:pt x="0" y="3848989"/>
                  </a:cubicBezTo>
                  <a:close/>
                </a:path>
              </a:pathLst>
            </a:custGeom>
            <a:solidFill>
              <a:srgbClr val="E7FAF3"/>
            </a:solidFill>
          </p:spPr>
        </p:sp>
      </p:grpSp>
      <p:grpSp>
        <p:nvGrpSpPr>
          <p:cNvPr name="Group 13" id="13"/>
          <p:cNvGrpSpPr/>
          <p:nvPr/>
        </p:nvGrpSpPr>
        <p:grpSpPr>
          <a:xfrm rot="0">
            <a:off x="2201999" y="5357231"/>
            <a:ext cx="934183" cy="886520"/>
            <a:chOff x="0" y="0"/>
            <a:chExt cx="1245578" cy="1182027"/>
          </a:xfrm>
        </p:grpSpPr>
        <p:sp>
          <p:nvSpPr>
            <p:cNvPr name="Freeform 14" id="14"/>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Freeform 15" id="15" descr="patient"/>
          <p:cNvSpPr/>
          <p:nvPr/>
        </p:nvSpPr>
        <p:spPr>
          <a:xfrm flipH="false" flipV="false" rot="0">
            <a:off x="2516562" y="5631771"/>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76211" y="6536455"/>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Facteurs Patient</a:t>
            </a:r>
          </a:p>
        </p:txBody>
      </p:sp>
      <p:sp>
        <p:nvSpPr>
          <p:cNvPr name="TextBox 17" id="17"/>
          <p:cNvSpPr txBox="true"/>
          <p:nvPr/>
        </p:nvSpPr>
        <p:spPr>
          <a:xfrm rot="0">
            <a:off x="1076211" y="7623191"/>
            <a:ext cx="3221965" cy="856329"/>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Âge, comorbidités, </a:t>
            </a:r>
          </a:p>
          <a:p>
            <a:pPr algn="l">
              <a:lnSpc>
                <a:spcPts val="3354"/>
              </a:lnSpc>
            </a:pPr>
            <a:r>
              <a:rPr lang="en-US" sz="2101">
                <a:solidFill>
                  <a:srgbClr val="4B4A4A"/>
                </a:solidFill>
                <a:latin typeface="Calibri (MS)"/>
                <a:ea typeface="Calibri (MS)"/>
                <a:cs typeface="Calibri (MS)"/>
                <a:sym typeface="Calibri (MS)"/>
              </a:rPr>
              <a:t>historique médical.</a:t>
            </a:r>
          </a:p>
        </p:txBody>
      </p:sp>
      <p:grpSp>
        <p:nvGrpSpPr>
          <p:cNvPr name="Group 18" id="18"/>
          <p:cNvGrpSpPr/>
          <p:nvPr/>
        </p:nvGrpSpPr>
        <p:grpSpPr>
          <a:xfrm rot="0">
            <a:off x="9023414" y="5765225"/>
            <a:ext cx="3866359" cy="3464090"/>
            <a:chOff x="0" y="0"/>
            <a:chExt cx="5155146" cy="4618787"/>
          </a:xfrm>
        </p:grpSpPr>
        <p:sp>
          <p:nvSpPr>
            <p:cNvPr name="Freeform 19" id="19"/>
            <p:cNvSpPr/>
            <p:nvPr/>
          </p:nvSpPr>
          <p:spPr>
            <a:xfrm flipH="false" flipV="false" rot="0">
              <a:off x="0" y="0"/>
              <a:ext cx="5155184" cy="4618863"/>
            </a:xfrm>
            <a:custGeom>
              <a:avLst/>
              <a:gdLst/>
              <a:ahLst/>
              <a:cxnLst/>
              <a:rect r="r" b="b" t="t" l="l"/>
              <a:pathLst>
                <a:path h="4618863" w="5155184">
                  <a:moveTo>
                    <a:pt x="0" y="769874"/>
                  </a:moveTo>
                  <a:cubicBezTo>
                    <a:pt x="0" y="344678"/>
                    <a:pt x="344678" y="0"/>
                    <a:pt x="769874" y="0"/>
                  </a:cubicBezTo>
                  <a:lnTo>
                    <a:pt x="4385310" y="0"/>
                  </a:lnTo>
                  <a:cubicBezTo>
                    <a:pt x="4810506" y="0"/>
                    <a:pt x="5155184" y="344678"/>
                    <a:pt x="5155184" y="769874"/>
                  </a:cubicBezTo>
                  <a:lnTo>
                    <a:pt x="5155184" y="3848989"/>
                  </a:lnTo>
                  <a:cubicBezTo>
                    <a:pt x="5155184" y="4274185"/>
                    <a:pt x="4810506" y="4618863"/>
                    <a:pt x="4385310" y="4618863"/>
                  </a:cubicBezTo>
                  <a:lnTo>
                    <a:pt x="769874" y="4618863"/>
                  </a:lnTo>
                  <a:cubicBezTo>
                    <a:pt x="344678" y="4618736"/>
                    <a:pt x="0" y="4274185"/>
                    <a:pt x="0" y="3848989"/>
                  </a:cubicBezTo>
                  <a:close/>
                </a:path>
              </a:pathLst>
            </a:custGeom>
            <a:solidFill>
              <a:srgbClr val="E7FAF3"/>
            </a:solidFill>
          </p:spPr>
        </p:sp>
      </p:grpSp>
      <p:grpSp>
        <p:nvGrpSpPr>
          <p:cNvPr name="Group 20" id="20"/>
          <p:cNvGrpSpPr/>
          <p:nvPr/>
        </p:nvGrpSpPr>
        <p:grpSpPr>
          <a:xfrm rot="0">
            <a:off x="10380831" y="5357231"/>
            <a:ext cx="934183" cy="886520"/>
            <a:chOff x="0" y="0"/>
            <a:chExt cx="1245578" cy="1182027"/>
          </a:xfrm>
        </p:grpSpPr>
        <p:sp>
          <p:nvSpPr>
            <p:cNvPr name="Freeform 21" id="21"/>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TextBox 22" id="22"/>
          <p:cNvSpPr txBox="true"/>
          <p:nvPr/>
        </p:nvSpPr>
        <p:spPr>
          <a:xfrm rot="0">
            <a:off x="9344654" y="6556467"/>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Constantes Biologiques</a:t>
            </a:r>
          </a:p>
        </p:txBody>
      </p:sp>
      <p:sp>
        <p:nvSpPr>
          <p:cNvPr name="TextBox 23" id="23"/>
          <p:cNvSpPr txBox="true"/>
          <p:nvPr/>
        </p:nvSpPr>
        <p:spPr>
          <a:xfrm rot="0">
            <a:off x="9344654" y="7667044"/>
            <a:ext cx="3221965" cy="577567"/>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Analyses sanguines, </a:t>
            </a:r>
          </a:p>
          <a:p>
            <a:pPr algn="l">
              <a:lnSpc>
                <a:spcPts val="3354"/>
              </a:lnSpc>
            </a:pPr>
            <a:r>
              <a:rPr lang="en-US" sz="2101">
                <a:solidFill>
                  <a:srgbClr val="4B4A4A"/>
                </a:solidFill>
                <a:latin typeface="Calibri (MS)"/>
                <a:ea typeface="Calibri (MS)"/>
                <a:cs typeface="Calibri (MS)"/>
                <a:sym typeface="Calibri (MS)"/>
              </a:rPr>
              <a:t>tension, autres indicateurs</a:t>
            </a:r>
          </a:p>
          <a:p>
            <a:pPr algn="l">
              <a:lnSpc>
                <a:spcPts val="3354"/>
              </a:lnSpc>
            </a:pPr>
            <a:r>
              <a:rPr lang="en-US" sz="2101">
                <a:solidFill>
                  <a:srgbClr val="4B4A4A"/>
                </a:solidFill>
                <a:latin typeface="Calibri (MS)"/>
                <a:ea typeface="Calibri (MS)"/>
                <a:cs typeface="Calibri (MS)"/>
                <a:sym typeface="Calibri (MS)"/>
              </a:rPr>
              <a:t>vitaux.</a:t>
            </a:r>
          </a:p>
        </p:txBody>
      </p:sp>
      <p:grpSp>
        <p:nvGrpSpPr>
          <p:cNvPr name="Group 24" id="24"/>
          <p:cNvGrpSpPr/>
          <p:nvPr/>
        </p:nvGrpSpPr>
        <p:grpSpPr>
          <a:xfrm rot="0">
            <a:off x="13211023" y="5765225"/>
            <a:ext cx="3866359" cy="3464090"/>
            <a:chOff x="0" y="0"/>
            <a:chExt cx="5155146" cy="4618787"/>
          </a:xfrm>
        </p:grpSpPr>
        <p:sp>
          <p:nvSpPr>
            <p:cNvPr name="Freeform 25" id="25"/>
            <p:cNvSpPr/>
            <p:nvPr/>
          </p:nvSpPr>
          <p:spPr>
            <a:xfrm flipH="false" flipV="false" rot="0">
              <a:off x="0" y="0"/>
              <a:ext cx="5155184" cy="4618863"/>
            </a:xfrm>
            <a:custGeom>
              <a:avLst/>
              <a:gdLst/>
              <a:ahLst/>
              <a:cxnLst/>
              <a:rect r="r" b="b" t="t" l="l"/>
              <a:pathLst>
                <a:path h="4618863" w="5155184">
                  <a:moveTo>
                    <a:pt x="0" y="769874"/>
                  </a:moveTo>
                  <a:cubicBezTo>
                    <a:pt x="0" y="344678"/>
                    <a:pt x="344678" y="0"/>
                    <a:pt x="769874" y="0"/>
                  </a:cubicBezTo>
                  <a:lnTo>
                    <a:pt x="4385310" y="0"/>
                  </a:lnTo>
                  <a:cubicBezTo>
                    <a:pt x="4810506" y="0"/>
                    <a:pt x="5155184" y="344678"/>
                    <a:pt x="5155184" y="769874"/>
                  </a:cubicBezTo>
                  <a:lnTo>
                    <a:pt x="5155184" y="3848989"/>
                  </a:lnTo>
                  <a:cubicBezTo>
                    <a:pt x="5155184" y="4274185"/>
                    <a:pt x="4810506" y="4618863"/>
                    <a:pt x="4385310" y="4618863"/>
                  </a:cubicBezTo>
                  <a:lnTo>
                    <a:pt x="769874" y="4618863"/>
                  </a:lnTo>
                  <a:cubicBezTo>
                    <a:pt x="344678" y="4618736"/>
                    <a:pt x="0" y="4274185"/>
                    <a:pt x="0" y="3848989"/>
                  </a:cubicBezTo>
                  <a:close/>
                </a:path>
              </a:pathLst>
            </a:custGeom>
            <a:solidFill>
              <a:srgbClr val="E7FAF3"/>
            </a:solidFill>
          </p:spPr>
        </p:sp>
      </p:grpSp>
      <p:grpSp>
        <p:nvGrpSpPr>
          <p:cNvPr name="Group 26" id="26"/>
          <p:cNvGrpSpPr/>
          <p:nvPr/>
        </p:nvGrpSpPr>
        <p:grpSpPr>
          <a:xfrm rot="0">
            <a:off x="14677111" y="5300996"/>
            <a:ext cx="934183" cy="886520"/>
            <a:chOff x="0" y="0"/>
            <a:chExt cx="1245578" cy="1182027"/>
          </a:xfrm>
        </p:grpSpPr>
        <p:sp>
          <p:nvSpPr>
            <p:cNvPr name="Freeform 27" id="27"/>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TextBox 28" id="28"/>
          <p:cNvSpPr txBox="true"/>
          <p:nvPr/>
        </p:nvSpPr>
        <p:spPr>
          <a:xfrm rot="0">
            <a:off x="13551322" y="6480210"/>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Type de Séjour</a:t>
            </a:r>
          </a:p>
        </p:txBody>
      </p:sp>
      <p:sp>
        <p:nvSpPr>
          <p:cNvPr name="TextBox 29" id="29"/>
          <p:cNvSpPr txBox="true"/>
          <p:nvPr/>
        </p:nvSpPr>
        <p:spPr>
          <a:xfrm rot="0">
            <a:off x="13551322" y="7623191"/>
            <a:ext cx="3221965" cy="577567"/>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Durée, motif </a:t>
            </a:r>
          </a:p>
          <a:p>
            <a:pPr algn="l">
              <a:lnSpc>
                <a:spcPts val="3354"/>
              </a:lnSpc>
            </a:pPr>
            <a:r>
              <a:rPr lang="en-US" sz="2101">
                <a:solidFill>
                  <a:srgbClr val="4B4A4A"/>
                </a:solidFill>
                <a:latin typeface="Calibri (MS)"/>
                <a:ea typeface="Calibri (MS)"/>
                <a:cs typeface="Calibri (MS)"/>
                <a:sym typeface="Calibri (MS)"/>
              </a:rPr>
              <a:t>d'hospitalisation, </a:t>
            </a:r>
          </a:p>
          <a:p>
            <a:pPr algn="l">
              <a:lnSpc>
                <a:spcPts val="3354"/>
              </a:lnSpc>
            </a:pPr>
            <a:r>
              <a:rPr lang="en-US" sz="2101">
                <a:solidFill>
                  <a:srgbClr val="4B4A4A"/>
                </a:solidFill>
                <a:latin typeface="Calibri (MS)"/>
                <a:ea typeface="Calibri (MS)"/>
                <a:cs typeface="Calibri (MS)"/>
                <a:sym typeface="Calibri (MS)"/>
              </a:rPr>
              <a:t>services impliqués.</a:t>
            </a:r>
          </a:p>
        </p:txBody>
      </p:sp>
      <p:grpSp>
        <p:nvGrpSpPr>
          <p:cNvPr name="Group 30" id="30"/>
          <p:cNvGrpSpPr/>
          <p:nvPr/>
        </p:nvGrpSpPr>
        <p:grpSpPr>
          <a:xfrm rot="0">
            <a:off x="4834861" y="5822423"/>
            <a:ext cx="3866359" cy="3464090"/>
            <a:chOff x="0" y="0"/>
            <a:chExt cx="5155146" cy="4618787"/>
          </a:xfrm>
        </p:grpSpPr>
        <p:sp>
          <p:nvSpPr>
            <p:cNvPr name="Freeform 31" id="31"/>
            <p:cNvSpPr/>
            <p:nvPr/>
          </p:nvSpPr>
          <p:spPr>
            <a:xfrm flipH="false" flipV="false" rot="0">
              <a:off x="0" y="0"/>
              <a:ext cx="5155184" cy="4618863"/>
            </a:xfrm>
            <a:custGeom>
              <a:avLst/>
              <a:gdLst/>
              <a:ahLst/>
              <a:cxnLst/>
              <a:rect r="r" b="b" t="t" l="l"/>
              <a:pathLst>
                <a:path h="4618863" w="5155184">
                  <a:moveTo>
                    <a:pt x="0" y="769874"/>
                  </a:moveTo>
                  <a:cubicBezTo>
                    <a:pt x="0" y="344678"/>
                    <a:pt x="344678" y="0"/>
                    <a:pt x="769874" y="0"/>
                  </a:cubicBezTo>
                  <a:lnTo>
                    <a:pt x="4385310" y="0"/>
                  </a:lnTo>
                  <a:cubicBezTo>
                    <a:pt x="4810506" y="0"/>
                    <a:pt x="5155184" y="344678"/>
                    <a:pt x="5155184" y="769874"/>
                  </a:cubicBezTo>
                  <a:lnTo>
                    <a:pt x="5155184" y="3848989"/>
                  </a:lnTo>
                  <a:cubicBezTo>
                    <a:pt x="5155184" y="4274185"/>
                    <a:pt x="4810506" y="4618863"/>
                    <a:pt x="4385310" y="4618863"/>
                  </a:cubicBezTo>
                  <a:lnTo>
                    <a:pt x="769874" y="4618863"/>
                  </a:lnTo>
                  <a:cubicBezTo>
                    <a:pt x="344678" y="4618736"/>
                    <a:pt x="0" y="4274185"/>
                    <a:pt x="0" y="3848989"/>
                  </a:cubicBezTo>
                  <a:close/>
                </a:path>
              </a:pathLst>
            </a:custGeom>
            <a:solidFill>
              <a:srgbClr val="E7FAF3"/>
            </a:solidFill>
          </p:spPr>
        </p:sp>
      </p:grpSp>
      <p:grpSp>
        <p:nvGrpSpPr>
          <p:cNvPr name="Group 32" id="32"/>
          <p:cNvGrpSpPr/>
          <p:nvPr/>
        </p:nvGrpSpPr>
        <p:grpSpPr>
          <a:xfrm rot="0">
            <a:off x="6152245" y="5357231"/>
            <a:ext cx="934183" cy="886520"/>
            <a:chOff x="0" y="0"/>
            <a:chExt cx="1245578" cy="1182027"/>
          </a:xfrm>
        </p:grpSpPr>
        <p:sp>
          <p:nvSpPr>
            <p:cNvPr name="Freeform 33" id="33"/>
            <p:cNvSpPr/>
            <p:nvPr/>
          </p:nvSpPr>
          <p:spPr>
            <a:xfrm flipH="false" flipV="false" rot="0">
              <a:off x="0" y="0"/>
              <a:ext cx="1245616" cy="1181989"/>
            </a:xfrm>
            <a:custGeom>
              <a:avLst/>
              <a:gdLst/>
              <a:ahLst/>
              <a:cxnLst/>
              <a:rect r="r" b="b" t="t" l="l"/>
              <a:pathLst>
                <a:path h="1181989" w="1245616">
                  <a:moveTo>
                    <a:pt x="0" y="591058"/>
                  </a:moveTo>
                  <a:cubicBezTo>
                    <a:pt x="0" y="264668"/>
                    <a:pt x="278892" y="0"/>
                    <a:pt x="622808" y="0"/>
                  </a:cubicBezTo>
                  <a:cubicBezTo>
                    <a:pt x="966724" y="0"/>
                    <a:pt x="1245616" y="264668"/>
                    <a:pt x="1245616" y="591058"/>
                  </a:cubicBezTo>
                  <a:cubicBezTo>
                    <a:pt x="1245616" y="917448"/>
                    <a:pt x="966724" y="1181989"/>
                    <a:pt x="622808" y="1181989"/>
                  </a:cubicBezTo>
                  <a:cubicBezTo>
                    <a:pt x="278892" y="1181989"/>
                    <a:pt x="0" y="917448"/>
                    <a:pt x="0" y="591058"/>
                  </a:cubicBezTo>
                  <a:close/>
                </a:path>
              </a:pathLst>
            </a:custGeom>
            <a:solidFill>
              <a:srgbClr val="006747"/>
            </a:solidFill>
          </p:spPr>
        </p:sp>
      </p:grpSp>
      <p:sp>
        <p:nvSpPr>
          <p:cNvPr name="Freeform 34" id="34" descr="Hospital logo"/>
          <p:cNvSpPr/>
          <p:nvPr/>
        </p:nvSpPr>
        <p:spPr>
          <a:xfrm flipH="false" flipV="false" rot="0">
            <a:off x="6448701" y="5633676"/>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5137985" y="6541218"/>
            <a:ext cx="3221965" cy="97320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Médication &amp; Traitement</a:t>
            </a:r>
          </a:p>
        </p:txBody>
      </p:sp>
      <p:sp>
        <p:nvSpPr>
          <p:cNvPr name="TextBox 36" id="36"/>
          <p:cNvSpPr txBox="true"/>
          <p:nvPr/>
        </p:nvSpPr>
        <p:spPr>
          <a:xfrm rot="0">
            <a:off x="5137985" y="7623191"/>
            <a:ext cx="3221965" cy="577567"/>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Prescriptions actuelles et </a:t>
            </a:r>
          </a:p>
          <a:p>
            <a:pPr algn="l">
              <a:lnSpc>
                <a:spcPts val="3354"/>
              </a:lnSpc>
            </a:pPr>
            <a:r>
              <a:rPr lang="en-US" sz="2101">
                <a:solidFill>
                  <a:srgbClr val="4B4A4A"/>
                </a:solidFill>
                <a:latin typeface="Calibri (MS)"/>
                <a:ea typeface="Calibri (MS)"/>
                <a:cs typeface="Calibri (MS)"/>
                <a:sym typeface="Calibri (MS)"/>
              </a:rPr>
              <a:t>passées, interventions </a:t>
            </a:r>
          </a:p>
          <a:p>
            <a:pPr algn="l">
              <a:lnSpc>
                <a:spcPts val="3354"/>
              </a:lnSpc>
            </a:pPr>
            <a:r>
              <a:rPr lang="en-US" sz="2101">
                <a:solidFill>
                  <a:srgbClr val="4B4A4A"/>
                </a:solidFill>
                <a:latin typeface="Calibri (MS)"/>
                <a:ea typeface="Calibri (MS)"/>
                <a:cs typeface="Calibri (MS)"/>
                <a:sym typeface="Calibri (MS)"/>
              </a:rPr>
              <a:t>chirurgicales.</a:t>
            </a:r>
          </a:p>
        </p:txBody>
      </p:sp>
      <p:sp>
        <p:nvSpPr>
          <p:cNvPr name="Freeform 37" id="37" descr="electrocardiogram"/>
          <p:cNvSpPr/>
          <p:nvPr/>
        </p:nvSpPr>
        <p:spPr>
          <a:xfrm flipH="false" flipV="false" rot="0">
            <a:off x="10658227" y="5631771"/>
            <a:ext cx="340309" cy="340309"/>
          </a:xfrm>
          <a:custGeom>
            <a:avLst/>
            <a:gdLst/>
            <a:ahLst/>
            <a:cxnLst/>
            <a:rect r="r" b="b" t="t" l="l"/>
            <a:pathLst>
              <a:path h="340309" w="340309">
                <a:moveTo>
                  <a:pt x="0" y="0"/>
                </a:moveTo>
                <a:lnTo>
                  <a:pt x="340310" y="0"/>
                </a:lnTo>
                <a:lnTo>
                  <a:pt x="340310" y="340309"/>
                </a:lnTo>
                <a:lnTo>
                  <a:pt x="0" y="3403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descr="Hospital"/>
          <p:cNvSpPr/>
          <p:nvPr/>
        </p:nvSpPr>
        <p:spPr>
          <a:xfrm flipH="false" flipV="false" rot="0">
            <a:off x="14973567" y="5559323"/>
            <a:ext cx="341262" cy="341262"/>
          </a:xfrm>
          <a:custGeom>
            <a:avLst/>
            <a:gdLst/>
            <a:ahLst/>
            <a:cxnLst/>
            <a:rect r="r" b="b" t="t" l="l"/>
            <a:pathLst>
              <a:path h="341262" w="341262">
                <a:moveTo>
                  <a:pt x="0" y="0"/>
                </a:moveTo>
                <a:lnTo>
                  <a:pt x="341261" y="0"/>
                </a:lnTo>
                <a:lnTo>
                  <a:pt x="341261" y="341262"/>
                </a:lnTo>
                <a:lnTo>
                  <a:pt x="0" y="3412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440885"/>
            <a:ext cx="2012785" cy="431044"/>
            <a:chOff x="0" y="0"/>
            <a:chExt cx="2683713" cy="574726"/>
          </a:xfrm>
        </p:grpSpPr>
        <p:sp>
          <p:nvSpPr>
            <p:cNvPr name="Freeform 7" id="7"/>
            <p:cNvSpPr/>
            <p:nvPr/>
          </p:nvSpPr>
          <p:spPr>
            <a:xfrm flipH="false" flipV="false" rot="0">
              <a:off x="0" y="0"/>
              <a:ext cx="2683764" cy="574802"/>
            </a:xfrm>
            <a:custGeom>
              <a:avLst/>
              <a:gdLst/>
              <a:ahLst/>
              <a:cxnLst/>
              <a:rect r="r" b="b" t="t" l="l"/>
              <a:pathLst>
                <a:path h="574802" w="2683764">
                  <a:moveTo>
                    <a:pt x="0" y="272415"/>
                  </a:moveTo>
                  <a:cubicBezTo>
                    <a:pt x="0" y="121920"/>
                    <a:pt x="121920" y="0"/>
                    <a:pt x="272415" y="0"/>
                  </a:cubicBezTo>
                  <a:lnTo>
                    <a:pt x="2411349" y="0"/>
                  </a:lnTo>
                  <a:cubicBezTo>
                    <a:pt x="2561844" y="0"/>
                    <a:pt x="2683764" y="121920"/>
                    <a:pt x="2683764" y="272415"/>
                  </a:cubicBezTo>
                  <a:lnTo>
                    <a:pt x="2683764" y="302387"/>
                  </a:lnTo>
                  <a:cubicBezTo>
                    <a:pt x="2683764" y="452882"/>
                    <a:pt x="2561844" y="574802"/>
                    <a:pt x="2411349"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2955" y="1507093"/>
            <a:ext cx="1763506" cy="247831"/>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OPÉRATIONNEL</a:t>
            </a:r>
          </a:p>
        </p:txBody>
      </p:sp>
      <p:sp>
        <p:nvSpPr>
          <p:cNvPr name="TextBox 9" id="9"/>
          <p:cNvSpPr txBox="true"/>
          <p:nvPr/>
        </p:nvSpPr>
        <p:spPr>
          <a:xfrm rot="0">
            <a:off x="992991" y="1842554"/>
            <a:ext cx="16315868" cy="102953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Justification en langage métier</a:t>
            </a:r>
          </a:p>
        </p:txBody>
      </p:sp>
      <p:sp>
        <p:nvSpPr>
          <p:cNvPr name="TextBox 10" id="10"/>
          <p:cNvSpPr txBox="true"/>
          <p:nvPr/>
        </p:nvSpPr>
        <p:spPr>
          <a:xfrm rot="0">
            <a:off x="992991" y="2825867"/>
            <a:ext cx="16315868" cy="1031796"/>
          </a:xfrm>
          <a:prstGeom prst="rect">
            <a:avLst/>
          </a:prstGeom>
        </p:spPr>
        <p:txBody>
          <a:bodyPr anchor="t" rtlCol="false" tIns="0" lIns="0" bIns="0" rIns="0">
            <a:spAutoFit/>
          </a:bodyPr>
          <a:lstStyle/>
          <a:p>
            <a:pPr algn="l">
              <a:lnSpc>
                <a:spcPts val="3354"/>
              </a:lnSpc>
            </a:pPr>
            <a:r>
              <a:rPr lang="en-US" sz="2101">
                <a:solidFill>
                  <a:srgbClr val="000000"/>
                </a:solidFill>
                <a:latin typeface="Calibri (MS)"/>
                <a:ea typeface="Calibri (MS)"/>
                <a:cs typeface="Calibri (MS)"/>
                <a:sym typeface="Calibri (MS)"/>
              </a:rPr>
              <a:t>Comprendre les raisons du score de risque n'a jamais été aussi simple et sécurisé. Notre solution vous fournit une justification claire et conforme, directement là où vous en avez besoin.</a:t>
            </a:r>
          </a:p>
        </p:txBody>
      </p:sp>
      <p:grpSp>
        <p:nvGrpSpPr>
          <p:cNvPr name="Group 11" id="11"/>
          <p:cNvGrpSpPr/>
          <p:nvPr/>
        </p:nvGrpSpPr>
        <p:grpSpPr>
          <a:xfrm rot="0">
            <a:off x="541439" y="4879658"/>
            <a:ext cx="5520242" cy="4735716"/>
            <a:chOff x="0" y="0"/>
            <a:chExt cx="7360323" cy="6314288"/>
          </a:xfrm>
        </p:grpSpPr>
        <p:sp>
          <p:nvSpPr>
            <p:cNvPr name="Freeform 12" id="12"/>
            <p:cNvSpPr/>
            <p:nvPr/>
          </p:nvSpPr>
          <p:spPr>
            <a:xfrm flipH="false" flipV="false" rot="0">
              <a:off x="0" y="0"/>
              <a:ext cx="7360412" cy="6314313"/>
            </a:xfrm>
            <a:custGeom>
              <a:avLst/>
              <a:gdLst/>
              <a:ahLst/>
              <a:cxnLst/>
              <a:rect r="r" b="b" t="t" l="l"/>
              <a:pathLst>
                <a:path h="6314313" w="7360412">
                  <a:moveTo>
                    <a:pt x="0" y="1052449"/>
                  </a:moveTo>
                  <a:cubicBezTo>
                    <a:pt x="0" y="471170"/>
                    <a:pt x="471170" y="0"/>
                    <a:pt x="1052449" y="0"/>
                  </a:cubicBezTo>
                  <a:lnTo>
                    <a:pt x="6307963" y="0"/>
                  </a:lnTo>
                  <a:cubicBezTo>
                    <a:pt x="6889242" y="0"/>
                    <a:pt x="7360412" y="471170"/>
                    <a:pt x="7360412" y="1052449"/>
                  </a:cubicBezTo>
                  <a:lnTo>
                    <a:pt x="7360412" y="5261864"/>
                  </a:lnTo>
                  <a:cubicBezTo>
                    <a:pt x="7360412" y="5843143"/>
                    <a:pt x="6889242" y="6314313"/>
                    <a:pt x="6307963" y="6314313"/>
                  </a:cubicBezTo>
                  <a:lnTo>
                    <a:pt x="1052449" y="6314313"/>
                  </a:lnTo>
                  <a:cubicBezTo>
                    <a:pt x="471170" y="6314313"/>
                    <a:pt x="0" y="5843143"/>
                    <a:pt x="0" y="5261864"/>
                  </a:cubicBezTo>
                  <a:close/>
                </a:path>
              </a:pathLst>
            </a:custGeom>
            <a:solidFill>
              <a:srgbClr val="E7FAF3"/>
            </a:solidFill>
          </p:spPr>
        </p:sp>
      </p:grpSp>
      <p:grpSp>
        <p:nvGrpSpPr>
          <p:cNvPr name="Group 13" id="13"/>
          <p:cNvGrpSpPr/>
          <p:nvPr/>
        </p:nvGrpSpPr>
        <p:grpSpPr>
          <a:xfrm rot="0">
            <a:off x="2630005" y="4229548"/>
            <a:ext cx="1343120" cy="1369809"/>
            <a:chOff x="0" y="0"/>
            <a:chExt cx="1790827" cy="1826412"/>
          </a:xfrm>
        </p:grpSpPr>
        <p:sp>
          <p:nvSpPr>
            <p:cNvPr name="Freeform 14" id="14"/>
            <p:cNvSpPr/>
            <p:nvPr/>
          </p:nvSpPr>
          <p:spPr>
            <a:xfrm flipH="false" flipV="false" rot="0">
              <a:off x="0" y="0"/>
              <a:ext cx="1790954" cy="1826514"/>
            </a:xfrm>
            <a:custGeom>
              <a:avLst/>
              <a:gdLst/>
              <a:ahLst/>
              <a:cxnLst/>
              <a:rect r="r" b="b" t="t" l="l"/>
              <a:pathLst>
                <a:path h="1826514" w="1790954">
                  <a:moveTo>
                    <a:pt x="0" y="913257"/>
                  </a:moveTo>
                  <a:cubicBezTo>
                    <a:pt x="0" y="408813"/>
                    <a:pt x="400939" y="0"/>
                    <a:pt x="895477" y="0"/>
                  </a:cubicBezTo>
                  <a:cubicBezTo>
                    <a:pt x="1390015" y="0"/>
                    <a:pt x="1790954" y="408813"/>
                    <a:pt x="1790954" y="913257"/>
                  </a:cubicBezTo>
                  <a:cubicBezTo>
                    <a:pt x="1790954" y="1417701"/>
                    <a:pt x="1390015" y="1826514"/>
                    <a:pt x="895477" y="1826514"/>
                  </a:cubicBezTo>
                  <a:cubicBezTo>
                    <a:pt x="400939" y="1826514"/>
                    <a:pt x="0" y="1417574"/>
                    <a:pt x="0" y="913257"/>
                  </a:cubicBezTo>
                  <a:close/>
                </a:path>
              </a:pathLst>
            </a:custGeom>
            <a:solidFill>
              <a:srgbClr val="006747"/>
            </a:solidFill>
          </p:spPr>
        </p:sp>
      </p:grpSp>
      <p:sp>
        <p:nvSpPr>
          <p:cNvPr name="TextBox 15" id="15"/>
          <p:cNvSpPr txBox="true"/>
          <p:nvPr/>
        </p:nvSpPr>
        <p:spPr>
          <a:xfrm rot="0">
            <a:off x="1140085" y="5852017"/>
            <a:ext cx="4600356" cy="1304944"/>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Analyse Locale et Pertinente</a:t>
            </a:r>
          </a:p>
        </p:txBody>
      </p:sp>
      <p:sp>
        <p:nvSpPr>
          <p:cNvPr name="TextBox 16" id="16"/>
          <p:cNvSpPr txBox="true"/>
          <p:nvPr/>
        </p:nvSpPr>
        <p:spPr>
          <a:xfrm rot="0">
            <a:off x="1107672" y="7033136"/>
            <a:ext cx="4600356" cy="744388"/>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Le brief est généré directement sur </a:t>
            </a:r>
          </a:p>
          <a:p>
            <a:pPr algn="l">
              <a:lnSpc>
                <a:spcPts val="3354"/>
              </a:lnSpc>
            </a:pPr>
            <a:r>
              <a:rPr lang="en-US" sz="2101">
                <a:solidFill>
                  <a:srgbClr val="4B4A4A"/>
                </a:solidFill>
                <a:latin typeface="Calibri (MS)"/>
                <a:ea typeface="Calibri (MS)"/>
                <a:cs typeface="Calibri (MS)"/>
                <a:sym typeface="Calibri (MS)"/>
              </a:rPr>
              <a:t>votre poste, à partir de comptes-rendus </a:t>
            </a:r>
          </a:p>
          <a:p>
            <a:pPr algn="l">
              <a:lnSpc>
                <a:spcPts val="3354"/>
              </a:lnSpc>
            </a:pPr>
            <a:r>
              <a:rPr lang="en-US" sz="2101">
                <a:solidFill>
                  <a:srgbClr val="4B4A4A"/>
                </a:solidFill>
                <a:latin typeface="Calibri (MS)"/>
                <a:ea typeface="Calibri (MS)"/>
                <a:cs typeface="Calibri (MS)"/>
                <a:sym typeface="Calibri (MS)"/>
              </a:rPr>
              <a:t>masqués, pour une pertinence </a:t>
            </a:r>
          </a:p>
          <a:p>
            <a:pPr algn="l">
              <a:lnSpc>
                <a:spcPts val="3354"/>
              </a:lnSpc>
            </a:pPr>
            <a:r>
              <a:rPr lang="en-US" sz="2101">
                <a:solidFill>
                  <a:srgbClr val="4B4A4A"/>
                </a:solidFill>
                <a:latin typeface="Calibri (MS)"/>
                <a:ea typeface="Calibri (MS)"/>
                <a:cs typeface="Calibri (MS)"/>
                <a:sym typeface="Calibri (MS)"/>
              </a:rPr>
              <a:t>contextuelle maximale.</a:t>
            </a:r>
          </a:p>
        </p:txBody>
      </p:sp>
      <p:sp>
        <p:nvSpPr>
          <p:cNvPr name="Freeform 17" id="17" descr="server"/>
          <p:cNvSpPr/>
          <p:nvPr/>
        </p:nvSpPr>
        <p:spPr>
          <a:xfrm flipH="false" flipV="false" rot="0">
            <a:off x="2926461" y="4526956"/>
            <a:ext cx="751161" cy="751161"/>
          </a:xfrm>
          <a:custGeom>
            <a:avLst/>
            <a:gdLst/>
            <a:ahLst/>
            <a:cxnLst/>
            <a:rect r="r" b="b" t="t" l="l"/>
            <a:pathLst>
              <a:path h="751161" w="751161">
                <a:moveTo>
                  <a:pt x="0" y="0"/>
                </a:moveTo>
                <a:lnTo>
                  <a:pt x="751161" y="0"/>
                </a:lnTo>
                <a:lnTo>
                  <a:pt x="751161" y="751161"/>
                </a:lnTo>
                <a:lnTo>
                  <a:pt x="0" y="7511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214205" y="4953057"/>
            <a:ext cx="5583155" cy="4687100"/>
            <a:chOff x="0" y="0"/>
            <a:chExt cx="7444207" cy="6249467"/>
          </a:xfrm>
        </p:grpSpPr>
        <p:sp>
          <p:nvSpPr>
            <p:cNvPr name="Freeform 19" id="19"/>
            <p:cNvSpPr/>
            <p:nvPr/>
          </p:nvSpPr>
          <p:spPr>
            <a:xfrm flipH="false" flipV="false" rot="0">
              <a:off x="0" y="0"/>
              <a:ext cx="7444232" cy="6249543"/>
            </a:xfrm>
            <a:custGeom>
              <a:avLst/>
              <a:gdLst/>
              <a:ahLst/>
              <a:cxnLst/>
              <a:rect r="r" b="b" t="t" l="l"/>
              <a:pathLst>
                <a:path h="6249543" w="7444232">
                  <a:moveTo>
                    <a:pt x="0" y="1041654"/>
                  </a:moveTo>
                  <a:cubicBezTo>
                    <a:pt x="0" y="466344"/>
                    <a:pt x="466344" y="0"/>
                    <a:pt x="1041654" y="0"/>
                  </a:cubicBezTo>
                  <a:lnTo>
                    <a:pt x="6402578" y="0"/>
                  </a:lnTo>
                  <a:cubicBezTo>
                    <a:pt x="6977888" y="0"/>
                    <a:pt x="7444232" y="466344"/>
                    <a:pt x="7444232" y="1041654"/>
                  </a:cubicBezTo>
                  <a:lnTo>
                    <a:pt x="7444232" y="5207889"/>
                  </a:lnTo>
                  <a:cubicBezTo>
                    <a:pt x="7444232" y="5783199"/>
                    <a:pt x="6977888" y="6249543"/>
                    <a:pt x="6402578" y="6249543"/>
                  </a:cubicBezTo>
                  <a:lnTo>
                    <a:pt x="1041654" y="6249543"/>
                  </a:lnTo>
                  <a:cubicBezTo>
                    <a:pt x="466344" y="6249416"/>
                    <a:pt x="0" y="5783072"/>
                    <a:pt x="0" y="5207889"/>
                  </a:cubicBezTo>
                  <a:close/>
                </a:path>
              </a:pathLst>
            </a:custGeom>
            <a:solidFill>
              <a:srgbClr val="E7FAF3"/>
            </a:solidFill>
          </p:spPr>
        </p:sp>
      </p:grpSp>
      <p:sp>
        <p:nvSpPr>
          <p:cNvPr name="TextBox 20" id="20"/>
          <p:cNvSpPr txBox="true"/>
          <p:nvPr/>
        </p:nvSpPr>
        <p:spPr>
          <a:xfrm rot="0">
            <a:off x="6819509" y="5914939"/>
            <a:ext cx="4652791" cy="1292552"/>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Protection des Données</a:t>
            </a:r>
          </a:p>
        </p:txBody>
      </p:sp>
      <p:sp>
        <p:nvSpPr>
          <p:cNvPr name="TextBox 21" id="21"/>
          <p:cNvSpPr txBox="true"/>
          <p:nvPr/>
        </p:nvSpPr>
        <p:spPr>
          <a:xfrm rot="0">
            <a:off x="6819509" y="7131320"/>
            <a:ext cx="4652791" cy="737711"/>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Aucune donnée nominative n'est </a:t>
            </a:r>
          </a:p>
          <a:p>
            <a:pPr algn="l">
              <a:lnSpc>
                <a:spcPts val="3354"/>
              </a:lnSpc>
            </a:pPr>
            <a:r>
              <a:rPr lang="en-US" sz="2101">
                <a:solidFill>
                  <a:srgbClr val="4B4A4A"/>
                </a:solidFill>
                <a:latin typeface="Calibri (MS)"/>
                <a:ea typeface="Calibri (MS)"/>
                <a:cs typeface="Calibri (MS)"/>
                <a:sym typeface="Calibri (MS)"/>
              </a:rPr>
              <a:t>envoyée sur Internet, garantissant </a:t>
            </a:r>
          </a:p>
          <a:p>
            <a:pPr algn="l">
              <a:lnSpc>
                <a:spcPts val="3354"/>
              </a:lnSpc>
            </a:pPr>
            <a:r>
              <a:rPr lang="en-US" sz="2101">
                <a:solidFill>
                  <a:srgbClr val="4B4A4A"/>
                </a:solidFill>
                <a:latin typeface="Calibri (MS)"/>
                <a:ea typeface="Calibri (MS)"/>
                <a:cs typeface="Calibri (MS)"/>
                <a:sym typeface="Calibri (MS)"/>
              </a:rPr>
              <a:t>une conformité stricte au RGPD et </a:t>
            </a:r>
          </a:p>
          <a:p>
            <a:pPr algn="l">
              <a:lnSpc>
                <a:spcPts val="3354"/>
              </a:lnSpc>
            </a:pPr>
            <a:r>
              <a:rPr lang="en-US" sz="2101">
                <a:solidFill>
                  <a:srgbClr val="4B4A4A"/>
                </a:solidFill>
                <a:latin typeface="Calibri (MS)"/>
                <a:ea typeface="Calibri (MS)"/>
                <a:cs typeface="Calibri (MS)"/>
                <a:sym typeface="Calibri (MS)"/>
              </a:rPr>
              <a:t>au secret médical.</a:t>
            </a:r>
          </a:p>
        </p:txBody>
      </p:sp>
      <p:grpSp>
        <p:nvGrpSpPr>
          <p:cNvPr name="Group 22" id="22"/>
          <p:cNvGrpSpPr/>
          <p:nvPr/>
        </p:nvGrpSpPr>
        <p:grpSpPr>
          <a:xfrm rot="0">
            <a:off x="12039476" y="4975936"/>
            <a:ext cx="5520242" cy="4736678"/>
            <a:chOff x="0" y="0"/>
            <a:chExt cx="7360323" cy="6315570"/>
          </a:xfrm>
        </p:grpSpPr>
        <p:sp>
          <p:nvSpPr>
            <p:cNvPr name="Freeform 23" id="23"/>
            <p:cNvSpPr/>
            <p:nvPr/>
          </p:nvSpPr>
          <p:spPr>
            <a:xfrm flipH="false" flipV="false" rot="0">
              <a:off x="0" y="0"/>
              <a:ext cx="7360285" cy="6315583"/>
            </a:xfrm>
            <a:custGeom>
              <a:avLst/>
              <a:gdLst/>
              <a:ahLst/>
              <a:cxnLst/>
              <a:rect r="r" b="b" t="t" l="l"/>
              <a:pathLst>
                <a:path h="6315583" w="7360285">
                  <a:moveTo>
                    <a:pt x="0" y="1052576"/>
                  </a:moveTo>
                  <a:cubicBezTo>
                    <a:pt x="0" y="471297"/>
                    <a:pt x="471297" y="0"/>
                    <a:pt x="1052576" y="0"/>
                  </a:cubicBezTo>
                  <a:lnTo>
                    <a:pt x="6307709" y="0"/>
                  </a:lnTo>
                  <a:cubicBezTo>
                    <a:pt x="6889115" y="0"/>
                    <a:pt x="7360285" y="471297"/>
                    <a:pt x="7360285" y="1052576"/>
                  </a:cubicBezTo>
                  <a:lnTo>
                    <a:pt x="7360285" y="5263007"/>
                  </a:lnTo>
                  <a:cubicBezTo>
                    <a:pt x="7360285" y="5844413"/>
                    <a:pt x="6888988" y="6315583"/>
                    <a:pt x="6307709" y="6315583"/>
                  </a:cubicBezTo>
                  <a:lnTo>
                    <a:pt x="1052576" y="6315583"/>
                  </a:lnTo>
                  <a:cubicBezTo>
                    <a:pt x="471297" y="6315583"/>
                    <a:pt x="0" y="5844286"/>
                    <a:pt x="0" y="5263007"/>
                  </a:cubicBezTo>
                  <a:close/>
                </a:path>
              </a:pathLst>
            </a:custGeom>
            <a:solidFill>
              <a:srgbClr val="E7FAF3"/>
            </a:solidFill>
          </p:spPr>
        </p:sp>
      </p:grpSp>
      <p:sp>
        <p:nvSpPr>
          <p:cNvPr name="TextBox 24" id="24"/>
          <p:cNvSpPr txBox="true"/>
          <p:nvPr/>
        </p:nvSpPr>
        <p:spPr>
          <a:xfrm rot="0">
            <a:off x="12638122" y="5950210"/>
            <a:ext cx="4600356" cy="1304944"/>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Clarté pour le Staff</a:t>
            </a:r>
          </a:p>
        </p:txBody>
      </p:sp>
      <p:sp>
        <p:nvSpPr>
          <p:cNvPr name="TextBox 25" id="25"/>
          <p:cNvSpPr txBox="true"/>
          <p:nvPr/>
        </p:nvSpPr>
        <p:spPr>
          <a:xfrm rot="0">
            <a:off x="12621911" y="7131320"/>
            <a:ext cx="4600356" cy="745341"/>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Le résultat est une phrase </a:t>
            </a:r>
          </a:p>
          <a:p>
            <a:pPr algn="l">
              <a:lnSpc>
                <a:spcPts val="3354"/>
              </a:lnSpc>
            </a:pPr>
            <a:r>
              <a:rPr lang="en-US" sz="2101">
                <a:solidFill>
                  <a:srgbClr val="4B4A4A"/>
                </a:solidFill>
                <a:latin typeface="Calibri (MS)"/>
                <a:ea typeface="Calibri (MS)"/>
                <a:cs typeface="Calibri (MS)"/>
                <a:sym typeface="Calibri (MS)"/>
              </a:rPr>
              <a:t>compréhensible par tous, en langage </a:t>
            </a:r>
          </a:p>
          <a:p>
            <a:pPr algn="l">
              <a:lnSpc>
                <a:spcPts val="3354"/>
              </a:lnSpc>
            </a:pPr>
            <a:r>
              <a:rPr lang="en-US" sz="2101">
                <a:solidFill>
                  <a:srgbClr val="4B4A4A"/>
                </a:solidFill>
                <a:latin typeface="Calibri (MS)"/>
                <a:ea typeface="Calibri (MS)"/>
                <a:cs typeface="Calibri (MS)"/>
                <a:sym typeface="Calibri (MS)"/>
              </a:rPr>
              <a:t>métier, sans jargon statistique.</a:t>
            </a:r>
          </a:p>
        </p:txBody>
      </p:sp>
      <p:grpSp>
        <p:nvGrpSpPr>
          <p:cNvPr name="Group 26" id="26"/>
          <p:cNvGrpSpPr/>
          <p:nvPr/>
        </p:nvGrpSpPr>
        <p:grpSpPr>
          <a:xfrm rot="0">
            <a:off x="8399040" y="4240035"/>
            <a:ext cx="1343120" cy="1369809"/>
            <a:chOff x="0" y="0"/>
            <a:chExt cx="1790827" cy="1826412"/>
          </a:xfrm>
        </p:grpSpPr>
        <p:sp>
          <p:nvSpPr>
            <p:cNvPr name="Freeform 27" id="27"/>
            <p:cNvSpPr/>
            <p:nvPr/>
          </p:nvSpPr>
          <p:spPr>
            <a:xfrm flipH="false" flipV="false" rot="0">
              <a:off x="0" y="0"/>
              <a:ext cx="1790954" cy="1826514"/>
            </a:xfrm>
            <a:custGeom>
              <a:avLst/>
              <a:gdLst/>
              <a:ahLst/>
              <a:cxnLst/>
              <a:rect r="r" b="b" t="t" l="l"/>
              <a:pathLst>
                <a:path h="1826514" w="1790954">
                  <a:moveTo>
                    <a:pt x="0" y="913257"/>
                  </a:moveTo>
                  <a:cubicBezTo>
                    <a:pt x="0" y="408813"/>
                    <a:pt x="400939" y="0"/>
                    <a:pt x="895477" y="0"/>
                  </a:cubicBezTo>
                  <a:cubicBezTo>
                    <a:pt x="1390015" y="0"/>
                    <a:pt x="1790954" y="408813"/>
                    <a:pt x="1790954" y="913257"/>
                  </a:cubicBezTo>
                  <a:cubicBezTo>
                    <a:pt x="1790954" y="1417701"/>
                    <a:pt x="1390015" y="1826514"/>
                    <a:pt x="895477" y="1826514"/>
                  </a:cubicBezTo>
                  <a:cubicBezTo>
                    <a:pt x="400939" y="1826514"/>
                    <a:pt x="0" y="1417574"/>
                    <a:pt x="0" y="913257"/>
                  </a:cubicBezTo>
                  <a:close/>
                </a:path>
              </a:pathLst>
            </a:custGeom>
            <a:solidFill>
              <a:srgbClr val="006747"/>
            </a:solidFill>
          </p:spPr>
        </p:sp>
      </p:grpSp>
      <p:sp>
        <p:nvSpPr>
          <p:cNvPr name="Freeform 28" id="28" descr="Firewall"/>
          <p:cNvSpPr/>
          <p:nvPr/>
        </p:nvSpPr>
        <p:spPr>
          <a:xfrm flipH="false" flipV="false" rot="0">
            <a:off x="8711708" y="4554607"/>
            <a:ext cx="751161" cy="751161"/>
          </a:xfrm>
          <a:custGeom>
            <a:avLst/>
            <a:gdLst/>
            <a:ahLst/>
            <a:cxnLst/>
            <a:rect r="r" b="b" t="t" l="l"/>
            <a:pathLst>
              <a:path h="751161" w="751161">
                <a:moveTo>
                  <a:pt x="0" y="0"/>
                </a:moveTo>
                <a:lnTo>
                  <a:pt x="751160" y="0"/>
                </a:lnTo>
                <a:lnTo>
                  <a:pt x="751160" y="751161"/>
                </a:lnTo>
                <a:lnTo>
                  <a:pt x="0" y="7511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9" id="29"/>
          <p:cNvGrpSpPr/>
          <p:nvPr/>
        </p:nvGrpSpPr>
        <p:grpSpPr>
          <a:xfrm rot="0">
            <a:off x="14254820" y="4257189"/>
            <a:ext cx="1343120" cy="1369809"/>
            <a:chOff x="0" y="0"/>
            <a:chExt cx="1790827" cy="1826412"/>
          </a:xfrm>
        </p:grpSpPr>
        <p:sp>
          <p:nvSpPr>
            <p:cNvPr name="Freeform 30" id="30"/>
            <p:cNvSpPr/>
            <p:nvPr/>
          </p:nvSpPr>
          <p:spPr>
            <a:xfrm flipH="false" flipV="false" rot="0">
              <a:off x="0" y="0"/>
              <a:ext cx="1790954" cy="1826514"/>
            </a:xfrm>
            <a:custGeom>
              <a:avLst/>
              <a:gdLst/>
              <a:ahLst/>
              <a:cxnLst/>
              <a:rect r="r" b="b" t="t" l="l"/>
              <a:pathLst>
                <a:path h="1826514" w="1790954">
                  <a:moveTo>
                    <a:pt x="0" y="913257"/>
                  </a:moveTo>
                  <a:cubicBezTo>
                    <a:pt x="0" y="408813"/>
                    <a:pt x="400939" y="0"/>
                    <a:pt x="895477" y="0"/>
                  </a:cubicBezTo>
                  <a:cubicBezTo>
                    <a:pt x="1390015" y="0"/>
                    <a:pt x="1790954" y="408813"/>
                    <a:pt x="1790954" y="913257"/>
                  </a:cubicBezTo>
                  <a:cubicBezTo>
                    <a:pt x="1790954" y="1417701"/>
                    <a:pt x="1390015" y="1826514"/>
                    <a:pt x="895477" y="1826514"/>
                  </a:cubicBezTo>
                  <a:cubicBezTo>
                    <a:pt x="400939" y="1826514"/>
                    <a:pt x="0" y="1417574"/>
                    <a:pt x="0" y="913257"/>
                  </a:cubicBezTo>
                  <a:close/>
                </a:path>
              </a:pathLst>
            </a:custGeom>
            <a:solidFill>
              <a:srgbClr val="006747"/>
            </a:solidFill>
          </p:spPr>
        </p:sp>
      </p:grpSp>
      <p:sp>
        <p:nvSpPr>
          <p:cNvPr name="Freeform 31" id="31" descr="Social welfare"/>
          <p:cNvSpPr/>
          <p:nvPr/>
        </p:nvSpPr>
        <p:spPr>
          <a:xfrm flipH="false" flipV="false" rot="0">
            <a:off x="14551285" y="4554607"/>
            <a:ext cx="751161" cy="751161"/>
          </a:xfrm>
          <a:custGeom>
            <a:avLst/>
            <a:gdLst/>
            <a:ahLst/>
            <a:cxnLst/>
            <a:rect r="r" b="b" t="t" l="l"/>
            <a:pathLst>
              <a:path h="751161" w="751161">
                <a:moveTo>
                  <a:pt x="0" y="0"/>
                </a:moveTo>
                <a:lnTo>
                  <a:pt x="751161" y="0"/>
                </a:lnTo>
                <a:lnTo>
                  <a:pt x="751161" y="751161"/>
                </a:lnTo>
                <a:lnTo>
                  <a:pt x="0" y="7511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sp>
        <p:nvSpPr>
          <p:cNvPr name="TextBox 6" id="6"/>
          <p:cNvSpPr txBox="true"/>
          <p:nvPr/>
        </p:nvSpPr>
        <p:spPr>
          <a:xfrm rot="0">
            <a:off x="992991" y="1277607"/>
            <a:ext cx="16315868" cy="1029538"/>
          </a:xfrm>
          <a:prstGeom prst="rect">
            <a:avLst/>
          </a:prstGeom>
        </p:spPr>
        <p:txBody>
          <a:bodyPr anchor="t" rtlCol="false" tIns="0" lIns="0" bIns="0" rIns="0">
            <a:spAutoFit/>
          </a:bodyPr>
          <a:lstStyle/>
          <a:p>
            <a:pPr algn="ctr">
              <a:lnSpc>
                <a:spcPts val="6744"/>
              </a:lnSpc>
            </a:pPr>
            <a:r>
              <a:rPr lang="en-US" sz="5404" b="true">
                <a:solidFill>
                  <a:srgbClr val="006747"/>
                </a:solidFill>
                <a:latin typeface="Calibri (MS) Bold"/>
                <a:ea typeface="Calibri (MS) Bold"/>
                <a:cs typeface="Calibri (MS) Bold"/>
                <a:sym typeface="Calibri (MS) Bold"/>
              </a:rPr>
              <a:t>Deux modules, un socle unique</a:t>
            </a:r>
          </a:p>
        </p:txBody>
      </p:sp>
      <p:sp>
        <p:nvSpPr>
          <p:cNvPr name="TextBox 7" id="7"/>
          <p:cNvSpPr txBox="true"/>
          <p:nvPr/>
        </p:nvSpPr>
        <p:spPr>
          <a:xfrm rot="0">
            <a:off x="535438" y="2750801"/>
            <a:ext cx="17230954" cy="577806"/>
          </a:xfrm>
          <a:prstGeom prst="rect">
            <a:avLst/>
          </a:prstGeom>
        </p:spPr>
        <p:txBody>
          <a:bodyPr anchor="t" rtlCol="false" tIns="0" lIns="0" bIns="0" rIns="0">
            <a:spAutoFit/>
          </a:bodyPr>
          <a:lstStyle/>
          <a:p>
            <a:pPr algn="ctr">
              <a:lnSpc>
                <a:spcPts val="3354"/>
              </a:lnSpc>
            </a:pPr>
            <a:r>
              <a:rPr lang="en-US" sz="2101">
                <a:solidFill>
                  <a:srgbClr val="000000"/>
                </a:solidFill>
                <a:latin typeface="Calibri (MS)"/>
                <a:ea typeface="Calibri (MS)"/>
                <a:cs typeface="Calibri (MS)"/>
                <a:sym typeface="Calibri (MS)"/>
              </a:rPr>
              <a:t>Readmit = cœur de l'offre. Flow = ancrage terrain.</a:t>
            </a:r>
          </a:p>
        </p:txBody>
      </p:sp>
      <p:grpSp>
        <p:nvGrpSpPr>
          <p:cNvPr name="Group 8" id="8"/>
          <p:cNvGrpSpPr/>
          <p:nvPr/>
        </p:nvGrpSpPr>
        <p:grpSpPr>
          <a:xfrm rot="0">
            <a:off x="1915068" y="4496724"/>
            <a:ext cx="7058777" cy="3664239"/>
            <a:chOff x="0" y="0"/>
            <a:chExt cx="9411703" cy="4885652"/>
          </a:xfrm>
        </p:grpSpPr>
        <p:sp>
          <p:nvSpPr>
            <p:cNvPr name="Freeform 9" id="9"/>
            <p:cNvSpPr/>
            <p:nvPr/>
          </p:nvSpPr>
          <p:spPr>
            <a:xfrm flipH="false" flipV="false" rot="0">
              <a:off x="0" y="0"/>
              <a:ext cx="9411716" cy="4885690"/>
            </a:xfrm>
            <a:custGeom>
              <a:avLst/>
              <a:gdLst/>
              <a:ahLst/>
              <a:cxnLst/>
              <a:rect r="r" b="b" t="t" l="l"/>
              <a:pathLst>
                <a:path h="4885690" w="9411716">
                  <a:moveTo>
                    <a:pt x="0" y="814324"/>
                  </a:moveTo>
                  <a:cubicBezTo>
                    <a:pt x="0" y="364617"/>
                    <a:pt x="364617" y="0"/>
                    <a:pt x="814324" y="0"/>
                  </a:cubicBezTo>
                  <a:lnTo>
                    <a:pt x="8597392" y="0"/>
                  </a:lnTo>
                  <a:cubicBezTo>
                    <a:pt x="9047099" y="0"/>
                    <a:pt x="9411716" y="364617"/>
                    <a:pt x="9411716" y="814324"/>
                  </a:cubicBezTo>
                  <a:lnTo>
                    <a:pt x="9411716" y="4071366"/>
                  </a:lnTo>
                  <a:cubicBezTo>
                    <a:pt x="9411716" y="4521073"/>
                    <a:pt x="9047100" y="4885690"/>
                    <a:pt x="8597392" y="4885690"/>
                  </a:cubicBezTo>
                  <a:lnTo>
                    <a:pt x="814324" y="4885690"/>
                  </a:lnTo>
                  <a:cubicBezTo>
                    <a:pt x="364617" y="4885690"/>
                    <a:pt x="0" y="4521073"/>
                    <a:pt x="0" y="4071366"/>
                  </a:cubicBezTo>
                  <a:close/>
                </a:path>
              </a:pathLst>
            </a:custGeom>
            <a:solidFill>
              <a:srgbClr val="E7FAF3"/>
            </a:solidFill>
          </p:spPr>
        </p:sp>
      </p:grpSp>
      <p:grpSp>
        <p:nvGrpSpPr>
          <p:cNvPr name="Group 10" id="10"/>
          <p:cNvGrpSpPr/>
          <p:nvPr/>
        </p:nvGrpSpPr>
        <p:grpSpPr>
          <a:xfrm rot="0">
            <a:off x="4897136" y="3956923"/>
            <a:ext cx="1093499" cy="1084374"/>
            <a:chOff x="0" y="0"/>
            <a:chExt cx="1457998" cy="1445832"/>
          </a:xfrm>
        </p:grpSpPr>
        <p:sp>
          <p:nvSpPr>
            <p:cNvPr name="Freeform 11" id="11"/>
            <p:cNvSpPr/>
            <p:nvPr/>
          </p:nvSpPr>
          <p:spPr>
            <a:xfrm flipH="false" flipV="false" rot="0">
              <a:off x="0" y="0"/>
              <a:ext cx="1457960" cy="1445768"/>
            </a:xfrm>
            <a:custGeom>
              <a:avLst/>
              <a:gdLst/>
              <a:ahLst/>
              <a:cxnLst/>
              <a:rect r="r" b="b" t="t" l="l"/>
              <a:pathLst>
                <a:path h="1445768" w="1457960">
                  <a:moveTo>
                    <a:pt x="0" y="722884"/>
                  </a:moveTo>
                  <a:cubicBezTo>
                    <a:pt x="0" y="323723"/>
                    <a:pt x="326390" y="0"/>
                    <a:pt x="728980" y="0"/>
                  </a:cubicBezTo>
                  <a:cubicBezTo>
                    <a:pt x="1131570" y="0"/>
                    <a:pt x="1457960" y="323723"/>
                    <a:pt x="1457960" y="722884"/>
                  </a:cubicBezTo>
                  <a:cubicBezTo>
                    <a:pt x="1457960" y="1122045"/>
                    <a:pt x="1131570" y="1445768"/>
                    <a:pt x="728980" y="1445768"/>
                  </a:cubicBezTo>
                  <a:cubicBezTo>
                    <a:pt x="326390" y="1445768"/>
                    <a:pt x="0" y="1122172"/>
                    <a:pt x="0" y="722884"/>
                  </a:cubicBezTo>
                  <a:close/>
                </a:path>
              </a:pathLst>
            </a:custGeom>
            <a:solidFill>
              <a:srgbClr val="006747"/>
            </a:solidFill>
          </p:spPr>
        </p:sp>
      </p:grpSp>
      <p:sp>
        <p:nvSpPr>
          <p:cNvPr name="TextBox 12" id="12"/>
          <p:cNvSpPr txBox="true"/>
          <p:nvPr/>
        </p:nvSpPr>
        <p:spPr>
          <a:xfrm rot="0">
            <a:off x="2680173" y="5234397"/>
            <a:ext cx="5882316" cy="102473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CISIA Readmit</a:t>
            </a:r>
          </a:p>
        </p:txBody>
      </p:sp>
      <p:sp>
        <p:nvSpPr>
          <p:cNvPr name="TextBox 13" id="13"/>
          <p:cNvSpPr txBox="true"/>
          <p:nvPr/>
        </p:nvSpPr>
        <p:spPr>
          <a:xfrm rot="0">
            <a:off x="2679021" y="6135310"/>
            <a:ext cx="5882316" cy="604047"/>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Le cœur de l'offre</a:t>
            </a:r>
          </a:p>
          <a:p>
            <a:pPr algn="l">
              <a:lnSpc>
                <a:spcPts val="3354"/>
              </a:lnSpc>
            </a:pPr>
            <a:r>
              <a:rPr lang="en-US" sz="2101">
                <a:solidFill>
                  <a:srgbClr val="4B4A4A"/>
                </a:solidFill>
                <a:latin typeface="Calibri (MS)"/>
                <a:ea typeface="Calibri (MS)"/>
                <a:cs typeface="Calibri (MS)"/>
                <a:sym typeface="Calibri (MS)"/>
              </a:rPr>
              <a:t>Coordination, direction, gouvernance</a:t>
            </a:r>
          </a:p>
          <a:p>
            <a:pPr algn="l">
              <a:lnSpc>
                <a:spcPts val="3354"/>
              </a:lnSpc>
            </a:pPr>
            <a:r>
              <a:rPr lang="en-US" sz="2101">
                <a:solidFill>
                  <a:srgbClr val="4B4A4A"/>
                </a:solidFill>
                <a:latin typeface="Calibri (MS)"/>
                <a:ea typeface="Calibri (MS)"/>
                <a:cs typeface="Calibri (MS)"/>
                <a:sym typeface="Calibri (MS)"/>
              </a:rPr>
              <a:t>Score de risque, explicabilité SHAP, registre biais</a:t>
            </a:r>
          </a:p>
        </p:txBody>
      </p:sp>
      <p:sp>
        <p:nvSpPr>
          <p:cNvPr name="Freeform 14" id="14" descr="1 circle"/>
          <p:cNvSpPr/>
          <p:nvPr/>
        </p:nvSpPr>
        <p:spPr>
          <a:xfrm flipH="false" flipV="false" rot="0">
            <a:off x="5158692" y="4203583"/>
            <a:ext cx="571519" cy="591045"/>
          </a:xfrm>
          <a:custGeom>
            <a:avLst/>
            <a:gdLst/>
            <a:ahLst/>
            <a:cxnLst/>
            <a:rect r="r" b="b" t="t" l="l"/>
            <a:pathLst>
              <a:path h="591045" w="571519">
                <a:moveTo>
                  <a:pt x="0" y="0"/>
                </a:moveTo>
                <a:lnTo>
                  <a:pt x="571519" y="0"/>
                </a:lnTo>
                <a:lnTo>
                  <a:pt x="571519" y="591045"/>
                </a:lnTo>
                <a:lnTo>
                  <a:pt x="0" y="591045"/>
                </a:lnTo>
                <a:lnTo>
                  <a:pt x="0" y="0"/>
                </a:lnTo>
                <a:close/>
              </a:path>
            </a:pathLst>
          </a:custGeom>
          <a:blipFill>
            <a:blip r:embed="rId4">
              <a:extLst>
                <a:ext uri="{96DAC541-7B7A-43D3-8B79-37D633B846F1}">
                  <asvg:svgBlip xmlns:asvg="http://schemas.microsoft.com/office/drawing/2016/SVG/main" r:embed="rId5"/>
                </a:ext>
              </a:extLst>
            </a:blip>
            <a:stretch>
              <a:fillRect l="0" t="0" r="-3416" b="0"/>
            </a:stretch>
          </a:blipFill>
        </p:spPr>
      </p:sp>
      <p:grpSp>
        <p:nvGrpSpPr>
          <p:cNvPr name="Group 15" id="15"/>
          <p:cNvGrpSpPr/>
          <p:nvPr/>
        </p:nvGrpSpPr>
        <p:grpSpPr>
          <a:xfrm rot="0">
            <a:off x="10134895" y="4495505"/>
            <a:ext cx="7057825" cy="3665230"/>
            <a:chOff x="0" y="0"/>
            <a:chExt cx="9410433" cy="4886973"/>
          </a:xfrm>
        </p:grpSpPr>
        <p:sp>
          <p:nvSpPr>
            <p:cNvPr name="Freeform 16" id="16"/>
            <p:cNvSpPr/>
            <p:nvPr/>
          </p:nvSpPr>
          <p:spPr>
            <a:xfrm flipH="false" flipV="false" rot="0">
              <a:off x="0" y="0"/>
              <a:ext cx="9410319" cy="4886960"/>
            </a:xfrm>
            <a:custGeom>
              <a:avLst/>
              <a:gdLst/>
              <a:ahLst/>
              <a:cxnLst/>
              <a:rect r="r" b="b" t="t" l="l"/>
              <a:pathLst>
                <a:path h="4886960" w="9410319">
                  <a:moveTo>
                    <a:pt x="0" y="814451"/>
                  </a:moveTo>
                  <a:cubicBezTo>
                    <a:pt x="0" y="364617"/>
                    <a:pt x="364617" y="0"/>
                    <a:pt x="814451" y="0"/>
                  </a:cubicBezTo>
                  <a:lnTo>
                    <a:pt x="8595868" y="0"/>
                  </a:lnTo>
                  <a:cubicBezTo>
                    <a:pt x="9045702" y="0"/>
                    <a:pt x="9410319" y="364617"/>
                    <a:pt x="9410319" y="814451"/>
                  </a:cubicBezTo>
                  <a:lnTo>
                    <a:pt x="9410319" y="4072509"/>
                  </a:lnTo>
                  <a:cubicBezTo>
                    <a:pt x="9410319" y="4522343"/>
                    <a:pt x="9045702" y="4886960"/>
                    <a:pt x="8595868" y="4886960"/>
                  </a:cubicBezTo>
                  <a:lnTo>
                    <a:pt x="814451" y="4886960"/>
                  </a:lnTo>
                  <a:cubicBezTo>
                    <a:pt x="364617" y="4886960"/>
                    <a:pt x="0" y="4522343"/>
                    <a:pt x="0" y="4072509"/>
                  </a:cubicBezTo>
                  <a:close/>
                </a:path>
              </a:pathLst>
            </a:custGeom>
            <a:solidFill>
              <a:srgbClr val="E7FAF3"/>
            </a:solidFill>
          </p:spPr>
        </p:sp>
      </p:grpSp>
      <p:grpSp>
        <p:nvGrpSpPr>
          <p:cNvPr name="Group 17" id="17"/>
          <p:cNvGrpSpPr/>
          <p:nvPr/>
        </p:nvGrpSpPr>
        <p:grpSpPr>
          <a:xfrm rot="0">
            <a:off x="13135708" y="3896868"/>
            <a:ext cx="1092422" cy="1135313"/>
            <a:chOff x="0" y="0"/>
            <a:chExt cx="1456563" cy="1513751"/>
          </a:xfrm>
        </p:grpSpPr>
        <p:sp>
          <p:nvSpPr>
            <p:cNvPr name="Freeform 18" id="18"/>
            <p:cNvSpPr/>
            <p:nvPr/>
          </p:nvSpPr>
          <p:spPr>
            <a:xfrm flipH="false" flipV="false" rot="0">
              <a:off x="0" y="0"/>
              <a:ext cx="1456436" cy="1513840"/>
            </a:xfrm>
            <a:custGeom>
              <a:avLst/>
              <a:gdLst/>
              <a:ahLst/>
              <a:cxnLst/>
              <a:rect r="r" b="b" t="t" l="l"/>
              <a:pathLst>
                <a:path h="1513840" w="1456436">
                  <a:moveTo>
                    <a:pt x="0" y="756920"/>
                  </a:moveTo>
                  <a:cubicBezTo>
                    <a:pt x="0" y="338836"/>
                    <a:pt x="326009" y="0"/>
                    <a:pt x="728218" y="0"/>
                  </a:cubicBezTo>
                  <a:cubicBezTo>
                    <a:pt x="1130427" y="0"/>
                    <a:pt x="1456436" y="338836"/>
                    <a:pt x="1456436" y="756920"/>
                  </a:cubicBezTo>
                  <a:cubicBezTo>
                    <a:pt x="1456436" y="1175004"/>
                    <a:pt x="1130427" y="1513840"/>
                    <a:pt x="728218" y="1513840"/>
                  </a:cubicBezTo>
                  <a:cubicBezTo>
                    <a:pt x="326009" y="1513840"/>
                    <a:pt x="0" y="1174877"/>
                    <a:pt x="0" y="756920"/>
                  </a:cubicBezTo>
                  <a:close/>
                </a:path>
              </a:pathLst>
            </a:custGeom>
            <a:solidFill>
              <a:srgbClr val="006747"/>
            </a:solidFill>
          </p:spPr>
        </p:sp>
      </p:grpSp>
      <p:sp>
        <p:nvSpPr>
          <p:cNvPr name="TextBox 19" id="19"/>
          <p:cNvSpPr txBox="true"/>
          <p:nvPr/>
        </p:nvSpPr>
        <p:spPr>
          <a:xfrm rot="0">
            <a:off x="10740209" y="5227644"/>
            <a:ext cx="5882469" cy="784469"/>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CISIA Flow</a:t>
            </a:r>
          </a:p>
        </p:txBody>
      </p:sp>
      <p:sp>
        <p:nvSpPr>
          <p:cNvPr name="TextBox 20" id="20"/>
          <p:cNvSpPr txBox="true"/>
          <p:nvPr/>
        </p:nvSpPr>
        <p:spPr>
          <a:xfrm rot="0">
            <a:off x="10740209" y="6135176"/>
            <a:ext cx="5882469" cy="626183"/>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Ancrage terrain (optionnel)</a:t>
            </a:r>
          </a:p>
          <a:p>
            <a:pPr algn="l">
              <a:lnSpc>
                <a:spcPts val="3354"/>
              </a:lnSpc>
            </a:pPr>
            <a:r>
              <a:rPr lang="en-US" sz="2101">
                <a:solidFill>
                  <a:srgbClr val="4B4A4A"/>
                </a:solidFill>
                <a:latin typeface="Calibri (MS)"/>
                <a:ea typeface="Calibri (MS)"/>
                <a:cs typeface="Calibri (MS)"/>
                <a:sym typeface="Calibri (MS)"/>
              </a:rPr>
              <a:t>Soignants</a:t>
            </a:r>
          </a:p>
          <a:p>
            <a:pPr algn="l">
              <a:lnSpc>
                <a:spcPts val="3354"/>
              </a:lnSpc>
            </a:pPr>
            <a:r>
              <a:rPr lang="en-US" sz="2101">
                <a:solidFill>
                  <a:srgbClr val="4B4A4A"/>
                </a:solidFill>
                <a:latin typeface="Calibri (MS)"/>
                <a:ea typeface="Calibri (MS)"/>
                <a:cs typeface="Calibri (MS)"/>
                <a:sym typeface="Calibri (MS)"/>
              </a:rPr>
              <a:t>Plan d'étage, lits, alertes temps réel</a:t>
            </a:r>
          </a:p>
        </p:txBody>
      </p:sp>
      <p:sp>
        <p:nvSpPr>
          <p:cNvPr name="Freeform 21" id="21" descr="2 circles"/>
          <p:cNvSpPr/>
          <p:nvPr/>
        </p:nvSpPr>
        <p:spPr>
          <a:xfrm flipH="false" flipV="false" rot="0">
            <a:off x="13382606" y="4164730"/>
            <a:ext cx="599589" cy="599589"/>
          </a:xfrm>
          <a:custGeom>
            <a:avLst/>
            <a:gdLst/>
            <a:ahLst/>
            <a:cxnLst/>
            <a:rect r="r" b="b" t="t" l="l"/>
            <a:pathLst>
              <a:path h="599589" w="599589">
                <a:moveTo>
                  <a:pt x="0" y="0"/>
                </a:moveTo>
                <a:lnTo>
                  <a:pt x="599589" y="0"/>
                </a:lnTo>
                <a:lnTo>
                  <a:pt x="599589" y="599589"/>
                </a:lnTo>
                <a:lnTo>
                  <a:pt x="0" y="599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424502"/>
            <a:ext cx="2644588" cy="366255"/>
            <a:chOff x="0" y="0"/>
            <a:chExt cx="3526117" cy="488340"/>
          </a:xfrm>
        </p:grpSpPr>
        <p:sp>
          <p:nvSpPr>
            <p:cNvPr name="Freeform 7" id="7"/>
            <p:cNvSpPr/>
            <p:nvPr/>
          </p:nvSpPr>
          <p:spPr>
            <a:xfrm flipH="false" flipV="false" rot="0">
              <a:off x="0" y="0"/>
              <a:ext cx="3526155" cy="488315"/>
            </a:xfrm>
            <a:custGeom>
              <a:avLst/>
              <a:gdLst/>
              <a:ahLst/>
              <a:cxnLst/>
              <a:rect r="r" b="b" t="t" l="l"/>
              <a:pathLst>
                <a:path h="488315" w="3526155">
                  <a:moveTo>
                    <a:pt x="0" y="231521"/>
                  </a:moveTo>
                  <a:cubicBezTo>
                    <a:pt x="0" y="103632"/>
                    <a:pt x="103632" y="0"/>
                    <a:pt x="231521" y="0"/>
                  </a:cubicBezTo>
                  <a:lnTo>
                    <a:pt x="3294634" y="0"/>
                  </a:lnTo>
                  <a:cubicBezTo>
                    <a:pt x="3422523" y="0"/>
                    <a:pt x="3526155" y="103632"/>
                    <a:pt x="3526155" y="231521"/>
                  </a:cubicBezTo>
                  <a:lnTo>
                    <a:pt x="3526155" y="256794"/>
                  </a:lnTo>
                  <a:cubicBezTo>
                    <a:pt x="3526155" y="384683"/>
                    <a:pt x="3422523" y="488315"/>
                    <a:pt x="3294634" y="488315"/>
                  </a:cubicBezTo>
                  <a:lnTo>
                    <a:pt x="231521" y="488315"/>
                  </a:lnTo>
                  <a:cubicBezTo>
                    <a:pt x="103632" y="488315"/>
                    <a:pt x="0" y="384683"/>
                    <a:pt x="0" y="256794"/>
                  </a:cubicBezTo>
                  <a:close/>
                </a:path>
              </a:pathLst>
            </a:custGeom>
            <a:solidFill>
              <a:srgbClr val="CCFFEF"/>
            </a:solidFill>
          </p:spPr>
        </p:sp>
      </p:grpSp>
      <p:sp>
        <p:nvSpPr>
          <p:cNvPr name="TextBox 8" id="8"/>
          <p:cNvSpPr txBox="true"/>
          <p:nvPr/>
        </p:nvSpPr>
        <p:spPr>
          <a:xfrm rot="0">
            <a:off x="1137218" y="1477547"/>
            <a:ext cx="2500360" cy="212560"/>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SÉCURITÉ &amp; CONFORMITÉ</a:t>
            </a:r>
          </a:p>
        </p:txBody>
      </p:sp>
      <p:sp>
        <p:nvSpPr>
          <p:cNvPr name="TextBox 9" id="9"/>
          <p:cNvSpPr txBox="true"/>
          <p:nvPr/>
        </p:nvSpPr>
        <p:spPr>
          <a:xfrm rot="0">
            <a:off x="992991" y="1729807"/>
            <a:ext cx="16315868" cy="896531"/>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Sécurité &amp; Conformité : Vos Données, Votre Contrôle</a:t>
            </a:r>
          </a:p>
        </p:txBody>
      </p:sp>
      <p:sp>
        <p:nvSpPr>
          <p:cNvPr name="TextBox 10" id="10"/>
          <p:cNvSpPr txBox="true"/>
          <p:nvPr/>
        </p:nvSpPr>
        <p:spPr>
          <a:xfrm rot="0">
            <a:off x="992991" y="3406664"/>
            <a:ext cx="16315868" cy="837571"/>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Notre solution est conçue autour des principes de sécurité et de conformité les plus stricts, </a:t>
            </a:r>
          </a:p>
          <a:p>
            <a:pPr algn="l">
              <a:lnSpc>
                <a:spcPts val="3354"/>
              </a:lnSpc>
            </a:pPr>
            <a:r>
              <a:rPr lang="en-US" sz="2101">
                <a:solidFill>
                  <a:srgbClr val="4B4A4A"/>
                </a:solidFill>
                <a:latin typeface="Calibri (MS)"/>
                <a:ea typeface="Calibri (MS)"/>
                <a:cs typeface="Calibri (MS)"/>
                <a:sym typeface="Calibri (MS)"/>
              </a:rPr>
              <a:t>vous offrant une tranquillité d'esprit totale quant à la gestion des données de santé sensibles.</a:t>
            </a:r>
          </a:p>
        </p:txBody>
      </p:sp>
      <p:grpSp>
        <p:nvGrpSpPr>
          <p:cNvPr name="Group 11" id="11"/>
          <p:cNvGrpSpPr/>
          <p:nvPr/>
        </p:nvGrpSpPr>
        <p:grpSpPr>
          <a:xfrm rot="0">
            <a:off x="967540" y="5060775"/>
            <a:ext cx="3866359" cy="4172350"/>
            <a:chOff x="0" y="0"/>
            <a:chExt cx="5155146" cy="5563133"/>
          </a:xfrm>
        </p:grpSpPr>
        <p:sp>
          <p:nvSpPr>
            <p:cNvPr name="Freeform 12" id="12"/>
            <p:cNvSpPr/>
            <p:nvPr/>
          </p:nvSpPr>
          <p:spPr>
            <a:xfrm flipH="false" flipV="false" rot="0">
              <a:off x="0" y="0"/>
              <a:ext cx="5155057" cy="5563108"/>
            </a:xfrm>
            <a:custGeom>
              <a:avLst/>
              <a:gdLst/>
              <a:ahLst/>
              <a:cxnLst/>
              <a:rect r="r" b="b" t="t" l="l"/>
              <a:pathLst>
                <a:path h="5563108" w="5155057">
                  <a:moveTo>
                    <a:pt x="0" y="859155"/>
                  </a:moveTo>
                  <a:cubicBezTo>
                    <a:pt x="0" y="384683"/>
                    <a:pt x="384683" y="0"/>
                    <a:pt x="859155" y="0"/>
                  </a:cubicBezTo>
                  <a:lnTo>
                    <a:pt x="4295902" y="0"/>
                  </a:lnTo>
                  <a:cubicBezTo>
                    <a:pt x="4770374" y="0"/>
                    <a:pt x="5155057" y="384683"/>
                    <a:pt x="5155057" y="859155"/>
                  </a:cubicBezTo>
                  <a:lnTo>
                    <a:pt x="5155057" y="4703953"/>
                  </a:lnTo>
                  <a:cubicBezTo>
                    <a:pt x="5155057" y="5178425"/>
                    <a:pt x="4770374" y="5563108"/>
                    <a:pt x="4295902" y="5563108"/>
                  </a:cubicBezTo>
                  <a:lnTo>
                    <a:pt x="859155" y="5563108"/>
                  </a:lnTo>
                  <a:cubicBezTo>
                    <a:pt x="384683" y="5563108"/>
                    <a:pt x="0" y="5178425"/>
                    <a:pt x="0" y="4703953"/>
                  </a:cubicBezTo>
                  <a:close/>
                </a:path>
              </a:pathLst>
            </a:custGeom>
            <a:solidFill>
              <a:srgbClr val="E7FAF3"/>
            </a:solidFill>
          </p:spPr>
        </p:sp>
      </p:grpSp>
      <p:grpSp>
        <p:nvGrpSpPr>
          <p:cNvPr name="Group 13" id="13"/>
          <p:cNvGrpSpPr/>
          <p:nvPr/>
        </p:nvGrpSpPr>
        <p:grpSpPr>
          <a:xfrm rot="0">
            <a:off x="2433638" y="4501220"/>
            <a:ext cx="934183" cy="1067638"/>
            <a:chOff x="0" y="0"/>
            <a:chExt cx="1245578" cy="1423518"/>
          </a:xfrm>
        </p:grpSpPr>
        <p:sp>
          <p:nvSpPr>
            <p:cNvPr name="Freeform 14" id="14"/>
            <p:cNvSpPr/>
            <p:nvPr/>
          </p:nvSpPr>
          <p:spPr>
            <a:xfrm flipH="false" flipV="false" rot="0">
              <a:off x="0" y="0"/>
              <a:ext cx="1245616" cy="1423416"/>
            </a:xfrm>
            <a:custGeom>
              <a:avLst/>
              <a:gdLst/>
              <a:ahLst/>
              <a:cxnLst/>
              <a:rect r="r" b="b" t="t" l="l"/>
              <a:pathLst>
                <a:path h="1423416" w="1245616">
                  <a:moveTo>
                    <a:pt x="0" y="711708"/>
                  </a:moveTo>
                  <a:cubicBezTo>
                    <a:pt x="0" y="318643"/>
                    <a:pt x="278892" y="0"/>
                    <a:pt x="622808" y="0"/>
                  </a:cubicBezTo>
                  <a:cubicBezTo>
                    <a:pt x="966724" y="0"/>
                    <a:pt x="1245616" y="318643"/>
                    <a:pt x="1245616" y="711708"/>
                  </a:cubicBezTo>
                  <a:cubicBezTo>
                    <a:pt x="1245616" y="1104773"/>
                    <a:pt x="966724" y="1423416"/>
                    <a:pt x="622808" y="1423416"/>
                  </a:cubicBezTo>
                  <a:cubicBezTo>
                    <a:pt x="278892" y="1423416"/>
                    <a:pt x="0" y="1104900"/>
                    <a:pt x="0" y="711708"/>
                  </a:cubicBezTo>
                  <a:close/>
                </a:path>
              </a:pathLst>
            </a:custGeom>
            <a:solidFill>
              <a:srgbClr val="006747"/>
            </a:solidFill>
          </p:spPr>
        </p:sp>
      </p:grpSp>
      <p:sp>
        <p:nvSpPr>
          <p:cNvPr name="Freeform 15" id="15" descr="Blockchain"/>
          <p:cNvSpPr/>
          <p:nvPr/>
        </p:nvSpPr>
        <p:spPr>
          <a:xfrm flipH="false" flipV="false" rot="0">
            <a:off x="2748201" y="4866789"/>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307849" y="5770997"/>
            <a:ext cx="3221965" cy="1159097"/>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Contrôle Local</a:t>
            </a:r>
          </a:p>
        </p:txBody>
      </p:sp>
      <p:sp>
        <p:nvSpPr>
          <p:cNvPr name="TextBox 17" id="17"/>
          <p:cNvSpPr txBox="true"/>
          <p:nvPr/>
        </p:nvSpPr>
        <p:spPr>
          <a:xfrm rot="0">
            <a:off x="1201093" y="6728079"/>
            <a:ext cx="3221965" cy="650986"/>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Le traitement de toutes les </a:t>
            </a:r>
          </a:p>
          <a:p>
            <a:pPr algn="l">
              <a:lnSpc>
                <a:spcPts val="2875"/>
              </a:lnSpc>
            </a:pPr>
            <a:r>
              <a:rPr lang="en-US" sz="1801">
                <a:solidFill>
                  <a:srgbClr val="4B4A4A"/>
                </a:solidFill>
                <a:latin typeface="Calibri (MS)"/>
                <a:ea typeface="Calibri (MS)"/>
                <a:cs typeface="Calibri (MS)"/>
                <a:sym typeface="Calibri (MS)"/>
              </a:rPr>
              <a:t>données de santé s'effectue </a:t>
            </a:r>
          </a:p>
          <a:p>
            <a:pPr algn="l">
              <a:lnSpc>
                <a:spcPts val="2875"/>
              </a:lnSpc>
            </a:pPr>
            <a:r>
              <a:rPr lang="en-US" sz="1801">
                <a:solidFill>
                  <a:srgbClr val="4B4A4A"/>
                </a:solidFill>
                <a:latin typeface="Calibri (MS)"/>
                <a:ea typeface="Calibri (MS)"/>
                <a:cs typeface="Calibri (MS)"/>
                <a:sym typeface="Calibri (MS)"/>
              </a:rPr>
              <a:t>sous votre stricte </a:t>
            </a:r>
          </a:p>
          <a:p>
            <a:pPr algn="l">
              <a:lnSpc>
                <a:spcPts val="2875"/>
              </a:lnSpc>
            </a:pPr>
            <a:r>
              <a:rPr lang="en-US" sz="1801">
                <a:solidFill>
                  <a:srgbClr val="4B4A4A"/>
                </a:solidFill>
                <a:latin typeface="Calibri (MS)"/>
                <a:ea typeface="Calibri (MS)"/>
                <a:cs typeface="Calibri (MS)"/>
                <a:sym typeface="Calibri (MS)"/>
              </a:rPr>
              <a:t>supervision, garantissant </a:t>
            </a:r>
          </a:p>
          <a:p>
            <a:pPr algn="l">
              <a:lnSpc>
                <a:spcPts val="2875"/>
              </a:lnSpc>
            </a:pPr>
            <a:r>
              <a:rPr lang="en-US" sz="1801">
                <a:solidFill>
                  <a:srgbClr val="4B4A4A"/>
                </a:solidFill>
                <a:latin typeface="Calibri (MS)"/>
                <a:ea typeface="Calibri (MS)"/>
                <a:cs typeface="Calibri (MS)"/>
                <a:sym typeface="Calibri (MS)"/>
              </a:rPr>
              <a:t>une souveraineté totale.</a:t>
            </a:r>
          </a:p>
        </p:txBody>
      </p:sp>
      <p:grpSp>
        <p:nvGrpSpPr>
          <p:cNvPr name="Group 18" id="18"/>
          <p:cNvGrpSpPr/>
          <p:nvPr/>
        </p:nvGrpSpPr>
        <p:grpSpPr>
          <a:xfrm rot="0">
            <a:off x="9255052" y="4993100"/>
            <a:ext cx="3866359" cy="4172350"/>
            <a:chOff x="0" y="0"/>
            <a:chExt cx="5155146" cy="5563133"/>
          </a:xfrm>
        </p:grpSpPr>
        <p:sp>
          <p:nvSpPr>
            <p:cNvPr name="Freeform 19" id="19"/>
            <p:cNvSpPr/>
            <p:nvPr/>
          </p:nvSpPr>
          <p:spPr>
            <a:xfrm flipH="false" flipV="false" rot="0">
              <a:off x="0" y="0"/>
              <a:ext cx="5155057" cy="5563108"/>
            </a:xfrm>
            <a:custGeom>
              <a:avLst/>
              <a:gdLst/>
              <a:ahLst/>
              <a:cxnLst/>
              <a:rect r="r" b="b" t="t" l="l"/>
              <a:pathLst>
                <a:path h="5563108" w="5155057">
                  <a:moveTo>
                    <a:pt x="0" y="859155"/>
                  </a:moveTo>
                  <a:cubicBezTo>
                    <a:pt x="0" y="384683"/>
                    <a:pt x="384683" y="0"/>
                    <a:pt x="859155" y="0"/>
                  </a:cubicBezTo>
                  <a:lnTo>
                    <a:pt x="4295902" y="0"/>
                  </a:lnTo>
                  <a:cubicBezTo>
                    <a:pt x="4770374" y="0"/>
                    <a:pt x="5155057" y="384683"/>
                    <a:pt x="5155057" y="859155"/>
                  </a:cubicBezTo>
                  <a:lnTo>
                    <a:pt x="5155057" y="4703953"/>
                  </a:lnTo>
                  <a:cubicBezTo>
                    <a:pt x="5155057" y="5178425"/>
                    <a:pt x="4770374" y="5563108"/>
                    <a:pt x="4295902" y="5563108"/>
                  </a:cubicBezTo>
                  <a:lnTo>
                    <a:pt x="859155" y="5563108"/>
                  </a:lnTo>
                  <a:cubicBezTo>
                    <a:pt x="384683" y="5563108"/>
                    <a:pt x="0" y="5178425"/>
                    <a:pt x="0" y="4703953"/>
                  </a:cubicBezTo>
                  <a:close/>
                </a:path>
              </a:pathLst>
            </a:custGeom>
            <a:solidFill>
              <a:srgbClr val="E7FAF3"/>
            </a:solidFill>
          </p:spPr>
        </p:sp>
      </p:grpSp>
      <p:grpSp>
        <p:nvGrpSpPr>
          <p:cNvPr name="Group 20" id="20"/>
          <p:cNvGrpSpPr/>
          <p:nvPr/>
        </p:nvGrpSpPr>
        <p:grpSpPr>
          <a:xfrm rot="0">
            <a:off x="10612469" y="4501220"/>
            <a:ext cx="934183" cy="1067638"/>
            <a:chOff x="0" y="0"/>
            <a:chExt cx="1245578" cy="1423518"/>
          </a:xfrm>
        </p:grpSpPr>
        <p:sp>
          <p:nvSpPr>
            <p:cNvPr name="Freeform 21" id="21"/>
            <p:cNvSpPr/>
            <p:nvPr/>
          </p:nvSpPr>
          <p:spPr>
            <a:xfrm flipH="false" flipV="false" rot="0">
              <a:off x="0" y="0"/>
              <a:ext cx="1245616" cy="1423416"/>
            </a:xfrm>
            <a:custGeom>
              <a:avLst/>
              <a:gdLst/>
              <a:ahLst/>
              <a:cxnLst/>
              <a:rect r="r" b="b" t="t" l="l"/>
              <a:pathLst>
                <a:path h="1423416" w="1245616">
                  <a:moveTo>
                    <a:pt x="0" y="711708"/>
                  </a:moveTo>
                  <a:cubicBezTo>
                    <a:pt x="0" y="318643"/>
                    <a:pt x="278892" y="0"/>
                    <a:pt x="622808" y="0"/>
                  </a:cubicBezTo>
                  <a:cubicBezTo>
                    <a:pt x="966724" y="0"/>
                    <a:pt x="1245616" y="318643"/>
                    <a:pt x="1245616" y="711708"/>
                  </a:cubicBezTo>
                  <a:cubicBezTo>
                    <a:pt x="1245616" y="1104773"/>
                    <a:pt x="966724" y="1423416"/>
                    <a:pt x="622808" y="1423416"/>
                  </a:cubicBezTo>
                  <a:cubicBezTo>
                    <a:pt x="278892" y="1423416"/>
                    <a:pt x="0" y="1104900"/>
                    <a:pt x="0" y="711708"/>
                  </a:cubicBezTo>
                  <a:close/>
                </a:path>
              </a:pathLst>
            </a:custGeom>
            <a:solidFill>
              <a:srgbClr val="006747"/>
            </a:solidFill>
          </p:spPr>
        </p:sp>
      </p:grpSp>
      <p:sp>
        <p:nvSpPr>
          <p:cNvPr name="TextBox 22" id="22"/>
          <p:cNvSpPr txBox="true"/>
          <p:nvPr/>
        </p:nvSpPr>
        <p:spPr>
          <a:xfrm rot="0">
            <a:off x="9576292" y="5763368"/>
            <a:ext cx="3221965" cy="1158145"/>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Exclusion des Biens Sociaux</a:t>
            </a:r>
          </a:p>
        </p:txBody>
      </p:sp>
      <p:sp>
        <p:nvSpPr>
          <p:cNvPr name="TextBox 23" id="23"/>
          <p:cNvSpPr txBox="true"/>
          <p:nvPr/>
        </p:nvSpPr>
        <p:spPr>
          <a:xfrm rot="0">
            <a:off x="9461906" y="6859629"/>
            <a:ext cx="3221965" cy="650986"/>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Les proxys socio-individuels </a:t>
            </a:r>
          </a:p>
          <a:p>
            <a:pPr algn="l">
              <a:lnSpc>
                <a:spcPts val="2875"/>
              </a:lnSpc>
            </a:pPr>
            <a:r>
              <a:rPr lang="en-US" sz="1801">
                <a:solidFill>
                  <a:srgbClr val="4B4A4A"/>
                </a:solidFill>
                <a:latin typeface="Calibri (MS)"/>
                <a:ea typeface="Calibri (MS)"/>
                <a:cs typeface="Calibri (MS)"/>
                <a:sym typeface="Calibri (MS)"/>
              </a:rPr>
              <a:t>sensibles sont délibérément </a:t>
            </a:r>
          </a:p>
          <a:p>
            <a:pPr algn="l">
              <a:lnSpc>
                <a:spcPts val="2875"/>
              </a:lnSpc>
            </a:pPr>
            <a:r>
              <a:rPr lang="en-US" sz="1801">
                <a:solidFill>
                  <a:srgbClr val="4B4A4A"/>
                </a:solidFill>
                <a:latin typeface="Calibri (MS)"/>
                <a:ea typeface="Calibri (MS)"/>
                <a:cs typeface="Calibri (MS)"/>
                <a:sym typeface="Calibri (MS)"/>
              </a:rPr>
              <a:t>exclus du calcul du score </a:t>
            </a:r>
          </a:p>
          <a:p>
            <a:pPr algn="l">
              <a:lnSpc>
                <a:spcPts val="2875"/>
              </a:lnSpc>
            </a:pPr>
            <a:r>
              <a:rPr lang="en-US" sz="1801">
                <a:solidFill>
                  <a:srgbClr val="4B4A4A"/>
                </a:solidFill>
                <a:latin typeface="Calibri (MS)"/>
                <a:ea typeface="Calibri (MS)"/>
                <a:cs typeface="Calibri (MS)"/>
                <a:sym typeface="Calibri (MS)"/>
              </a:rPr>
              <a:t>pour une éthique irréprochable.</a:t>
            </a:r>
          </a:p>
        </p:txBody>
      </p:sp>
      <p:grpSp>
        <p:nvGrpSpPr>
          <p:cNvPr name="Group 24" id="24"/>
          <p:cNvGrpSpPr/>
          <p:nvPr/>
        </p:nvGrpSpPr>
        <p:grpSpPr>
          <a:xfrm rot="0">
            <a:off x="13442661" y="4993100"/>
            <a:ext cx="3866359" cy="4172350"/>
            <a:chOff x="0" y="0"/>
            <a:chExt cx="5155146" cy="5563133"/>
          </a:xfrm>
        </p:grpSpPr>
        <p:sp>
          <p:nvSpPr>
            <p:cNvPr name="Freeform 25" id="25"/>
            <p:cNvSpPr/>
            <p:nvPr/>
          </p:nvSpPr>
          <p:spPr>
            <a:xfrm flipH="false" flipV="false" rot="0">
              <a:off x="0" y="0"/>
              <a:ext cx="5155057" cy="5563108"/>
            </a:xfrm>
            <a:custGeom>
              <a:avLst/>
              <a:gdLst/>
              <a:ahLst/>
              <a:cxnLst/>
              <a:rect r="r" b="b" t="t" l="l"/>
              <a:pathLst>
                <a:path h="5563108" w="5155057">
                  <a:moveTo>
                    <a:pt x="0" y="859155"/>
                  </a:moveTo>
                  <a:cubicBezTo>
                    <a:pt x="0" y="384683"/>
                    <a:pt x="384683" y="0"/>
                    <a:pt x="859155" y="0"/>
                  </a:cubicBezTo>
                  <a:lnTo>
                    <a:pt x="4295902" y="0"/>
                  </a:lnTo>
                  <a:cubicBezTo>
                    <a:pt x="4770374" y="0"/>
                    <a:pt x="5155057" y="384683"/>
                    <a:pt x="5155057" y="859155"/>
                  </a:cubicBezTo>
                  <a:lnTo>
                    <a:pt x="5155057" y="4703953"/>
                  </a:lnTo>
                  <a:cubicBezTo>
                    <a:pt x="5155057" y="5178425"/>
                    <a:pt x="4770374" y="5563108"/>
                    <a:pt x="4295902" y="5563108"/>
                  </a:cubicBezTo>
                  <a:lnTo>
                    <a:pt x="859155" y="5563108"/>
                  </a:lnTo>
                  <a:cubicBezTo>
                    <a:pt x="384683" y="5563108"/>
                    <a:pt x="0" y="5178425"/>
                    <a:pt x="0" y="4703953"/>
                  </a:cubicBezTo>
                  <a:close/>
                </a:path>
              </a:pathLst>
            </a:custGeom>
            <a:solidFill>
              <a:srgbClr val="E7FAF3"/>
            </a:solidFill>
          </p:spPr>
        </p:sp>
      </p:grpSp>
      <p:grpSp>
        <p:nvGrpSpPr>
          <p:cNvPr name="Group 26" id="26"/>
          <p:cNvGrpSpPr/>
          <p:nvPr/>
        </p:nvGrpSpPr>
        <p:grpSpPr>
          <a:xfrm rot="0">
            <a:off x="14908749" y="4433545"/>
            <a:ext cx="934183" cy="1067638"/>
            <a:chOff x="0" y="0"/>
            <a:chExt cx="1245578" cy="1423518"/>
          </a:xfrm>
        </p:grpSpPr>
        <p:sp>
          <p:nvSpPr>
            <p:cNvPr name="Freeform 27" id="27"/>
            <p:cNvSpPr/>
            <p:nvPr/>
          </p:nvSpPr>
          <p:spPr>
            <a:xfrm flipH="false" flipV="false" rot="0">
              <a:off x="0" y="0"/>
              <a:ext cx="1245616" cy="1423416"/>
            </a:xfrm>
            <a:custGeom>
              <a:avLst/>
              <a:gdLst/>
              <a:ahLst/>
              <a:cxnLst/>
              <a:rect r="r" b="b" t="t" l="l"/>
              <a:pathLst>
                <a:path h="1423416" w="1245616">
                  <a:moveTo>
                    <a:pt x="0" y="711708"/>
                  </a:moveTo>
                  <a:cubicBezTo>
                    <a:pt x="0" y="318643"/>
                    <a:pt x="278892" y="0"/>
                    <a:pt x="622808" y="0"/>
                  </a:cubicBezTo>
                  <a:cubicBezTo>
                    <a:pt x="966724" y="0"/>
                    <a:pt x="1245616" y="318643"/>
                    <a:pt x="1245616" y="711708"/>
                  </a:cubicBezTo>
                  <a:cubicBezTo>
                    <a:pt x="1245616" y="1104773"/>
                    <a:pt x="966724" y="1423416"/>
                    <a:pt x="622808" y="1423416"/>
                  </a:cubicBezTo>
                  <a:cubicBezTo>
                    <a:pt x="278892" y="1423416"/>
                    <a:pt x="0" y="1104900"/>
                    <a:pt x="0" y="711708"/>
                  </a:cubicBezTo>
                  <a:close/>
                </a:path>
              </a:pathLst>
            </a:custGeom>
            <a:solidFill>
              <a:srgbClr val="006747"/>
            </a:solidFill>
          </p:spPr>
        </p:sp>
      </p:grpSp>
      <p:sp>
        <p:nvSpPr>
          <p:cNvPr name="TextBox 28" id="28"/>
          <p:cNvSpPr txBox="true"/>
          <p:nvPr/>
        </p:nvSpPr>
        <p:spPr>
          <a:xfrm rot="0">
            <a:off x="13782961" y="5764320"/>
            <a:ext cx="3221965" cy="1158145"/>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Registre Traçable</a:t>
            </a:r>
          </a:p>
        </p:txBody>
      </p:sp>
      <p:sp>
        <p:nvSpPr>
          <p:cNvPr name="TextBox 29" id="29"/>
          <p:cNvSpPr txBox="true"/>
          <p:nvPr/>
        </p:nvSpPr>
        <p:spPr>
          <a:xfrm rot="0">
            <a:off x="13766759" y="6859629"/>
            <a:ext cx="3221965" cy="650986"/>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Chaque variable utilisée </a:t>
            </a:r>
          </a:p>
          <a:p>
            <a:pPr algn="l">
              <a:lnSpc>
                <a:spcPts val="2875"/>
              </a:lnSpc>
            </a:pPr>
            <a:r>
              <a:rPr lang="en-US" sz="1801">
                <a:solidFill>
                  <a:srgbClr val="4B4A4A"/>
                </a:solidFill>
                <a:latin typeface="Calibri (MS)"/>
                <a:ea typeface="Calibri (MS)"/>
                <a:cs typeface="Calibri (MS)"/>
                <a:sym typeface="Calibri (MS)"/>
              </a:rPr>
              <a:t>dispose d'un usage clair et </a:t>
            </a:r>
          </a:p>
          <a:p>
            <a:pPr algn="l">
              <a:lnSpc>
                <a:spcPts val="2875"/>
              </a:lnSpc>
            </a:pPr>
            <a:r>
              <a:rPr lang="en-US" sz="1801">
                <a:solidFill>
                  <a:srgbClr val="4B4A4A"/>
                </a:solidFill>
                <a:latin typeface="Calibri (MS)"/>
                <a:ea typeface="Calibri (MS)"/>
                <a:cs typeface="Calibri (MS)"/>
                <a:sym typeface="Calibri (MS)"/>
              </a:rPr>
              <a:t>d'une justification </a:t>
            </a:r>
          </a:p>
          <a:p>
            <a:pPr algn="l">
              <a:lnSpc>
                <a:spcPts val="2875"/>
              </a:lnSpc>
            </a:pPr>
            <a:r>
              <a:rPr lang="en-US" sz="1801">
                <a:solidFill>
                  <a:srgbClr val="4B4A4A"/>
                </a:solidFill>
                <a:latin typeface="Calibri (MS)"/>
                <a:ea typeface="Calibri (MS)"/>
                <a:cs typeface="Calibri (MS)"/>
                <a:sym typeface="Calibri (MS)"/>
              </a:rPr>
              <a:t>documentée pour une </a:t>
            </a:r>
          </a:p>
          <a:p>
            <a:pPr algn="l">
              <a:lnSpc>
                <a:spcPts val="2875"/>
              </a:lnSpc>
            </a:pPr>
            <a:r>
              <a:rPr lang="en-US" sz="1801">
                <a:solidFill>
                  <a:srgbClr val="4B4A4A"/>
                </a:solidFill>
                <a:latin typeface="Calibri (MS)"/>
                <a:ea typeface="Calibri (MS)"/>
                <a:cs typeface="Calibri (MS)"/>
                <a:sym typeface="Calibri (MS)"/>
              </a:rPr>
              <a:t>transparence maximale.</a:t>
            </a:r>
          </a:p>
        </p:txBody>
      </p:sp>
      <p:grpSp>
        <p:nvGrpSpPr>
          <p:cNvPr name="Group 30" id="30"/>
          <p:cNvGrpSpPr/>
          <p:nvPr/>
        </p:nvGrpSpPr>
        <p:grpSpPr>
          <a:xfrm rot="0">
            <a:off x="5066500" y="5061728"/>
            <a:ext cx="3866359" cy="4172350"/>
            <a:chOff x="0" y="0"/>
            <a:chExt cx="5155146" cy="5563133"/>
          </a:xfrm>
        </p:grpSpPr>
        <p:sp>
          <p:nvSpPr>
            <p:cNvPr name="Freeform 31" id="31"/>
            <p:cNvSpPr/>
            <p:nvPr/>
          </p:nvSpPr>
          <p:spPr>
            <a:xfrm flipH="false" flipV="false" rot="0">
              <a:off x="0" y="0"/>
              <a:ext cx="5155057" cy="5563108"/>
            </a:xfrm>
            <a:custGeom>
              <a:avLst/>
              <a:gdLst/>
              <a:ahLst/>
              <a:cxnLst/>
              <a:rect r="r" b="b" t="t" l="l"/>
              <a:pathLst>
                <a:path h="5563108" w="5155057">
                  <a:moveTo>
                    <a:pt x="0" y="859155"/>
                  </a:moveTo>
                  <a:cubicBezTo>
                    <a:pt x="0" y="384683"/>
                    <a:pt x="384683" y="0"/>
                    <a:pt x="859155" y="0"/>
                  </a:cubicBezTo>
                  <a:lnTo>
                    <a:pt x="4295902" y="0"/>
                  </a:lnTo>
                  <a:cubicBezTo>
                    <a:pt x="4770374" y="0"/>
                    <a:pt x="5155057" y="384683"/>
                    <a:pt x="5155057" y="859155"/>
                  </a:cubicBezTo>
                  <a:lnTo>
                    <a:pt x="5155057" y="4703953"/>
                  </a:lnTo>
                  <a:cubicBezTo>
                    <a:pt x="5155057" y="5178425"/>
                    <a:pt x="4770374" y="5563108"/>
                    <a:pt x="4295902" y="5563108"/>
                  </a:cubicBezTo>
                  <a:lnTo>
                    <a:pt x="859155" y="5563108"/>
                  </a:lnTo>
                  <a:cubicBezTo>
                    <a:pt x="384683" y="5563108"/>
                    <a:pt x="0" y="5178425"/>
                    <a:pt x="0" y="4703953"/>
                  </a:cubicBezTo>
                  <a:close/>
                </a:path>
              </a:pathLst>
            </a:custGeom>
            <a:solidFill>
              <a:srgbClr val="E7FAF3"/>
            </a:solidFill>
          </p:spPr>
        </p:sp>
      </p:grpSp>
      <p:grpSp>
        <p:nvGrpSpPr>
          <p:cNvPr name="Group 32" id="32"/>
          <p:cNvGrpSpPr/>
          <p:nvPr/>
        </p:nvGrpSpPr>
        <p:grpSpPr>
          <a:xfrm rot="0">
            <a:off x="6383884" y="4501220"/>
            <a:ext cx="934183" cy="1067638"/>
            <a:chOff x="0" y="0"/>
            <a:chExt cx="1245578" cy="1423518"/>
          </a:xfrm>
        </p:grpSpPr>
        <p:sp>
          <p:nvSpPr>
            <p:cNvPr name="Freeform 33" id="33"/>
            <p:cNvSpPr/>
            <p:nvPr/>
          </p:nvSpPr>
          <p:spPr>
            <a:xfrm flipH="false" flipV="false" rot="0">
              <a:off x="0" y="0"/>
              <a:ext cx="1245616" cy="1423416"/>
            </a:xfrm>
            <a:custGeom>
              <a:avLst/>
              <a:gdLst/>
              <a:ahLst/>
              <a:cxnLst/>
              <a:rect r="r" b="b" t="t" l="l"/>
              <a:pathLst>
                <a:path h="1423416" w="1245616">
                  <a:moveTo>
                    <a:pt x="0" y="711708"/>
                  </a:moveTo>
                  <a:cubicBezTo>
                    <a:pt x="0" y="318643"/>
                    <a:pt x="278892" y="0"/>
                    <a:pt x="622808" y="0"/>
                  </a:cubicBezTo>
                  <a:cubicBezTo>
                    <a:pt x="966724" y="0"/>
                    <a:pt x="1245616" y="318643"/>
                    <a:pt x="1245616" y="711708"/>
                  </a:cubicBezTo>
                  <a:cubicBezTo>
                    <a:pt x="1245616" y="1104773"/>
                    <a:pt x="966724" y="1423416"/>
                    <a:pt x="622808" y="1423416"/>
                  </a:cubicBezTo>
                  <a:cubicBezTo>
                    <a:pt x="278892" y="1423416"/>
                    <a:pt x="0" y="1104900"/>
                    <a:pt x="0" y="711708"/>
                  </a:cubicBezTo>
                  <a:close/>
                </a:path>
              </a:pathLst>
            </a:custGeom>
            <a:solidFill>
              <a:srgbClr val="006747"/>
            </a:solidFill>
          </p:spPr>
        </p:sp>
      </p:grpSp>
      <p:sp>
        <p:nvSpPr>
          <p:cNvPr name="Freeform 34" id="34" descr="People - Avatar"/>
          <p:cNvSpPr/>
          <p:nvPr/>
        </p:nvSpPr>
        <p:spPr>
          <a:xfrm flipH="false" flipV="false" rot="0">
            <a:off x="6680340" y="4868694"/>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5369624" y="5779579"/>
            <a:ext cx="3221965" cy="1158145"/>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Identité Anonymisée</a:t>
            </a:r>
          </a:p>
        </p:txBody>
      </p:sp>
      <p:sp>
        <p:nvSpPr>
          <p:cNvPr name="TextBox 36" id="36"/>
          <p:cNvSpPr txBox="true"/>
          <p:nvPr/>
        </p:nvSpPr>
        <p:spPr>
          <a:xfrm rot="0">
            <a:off x="5369624" y="6859629"/>
            <a:ext cx="3221965" cy="650986"/>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L'identité des patients est</a:t>
            </a:r>
          </a:p>
          <a:p>
            <a:pPr algn="l">
              <a:lnSpc>
                <a:spcPts val="2875"/>
              </a:lnSpc>
            </a:pPr>
            <a:r>
              <a:rPr lang="en-US" sz="1801">
                <a:solidFill>
                  <a:srgbClr val="4B4A4A"/>
                </a:solidFill>
                <a:latin typeface="Calibri (MS)"/>
                <a:ea typeface="Calibri (MS)"/>
                <a:cs typeface="Calibri (MS)"/>
                <a:sym typeface="Calibri (MS)"/>
              </a:rPr>
              <a:t>isolée dans un coffre sécurisé, </a:t>
            </a:r>
          </a:p>
          <a:p>
            <a:pPr algn="l">
              <a:lnSpc>
                <a:spcPts val="2875"/>
              </a:lnSpc>
            </a:pPr>
            <a:r>
              <a:rPr lang="en-US" sz="1801">
                <a:solidFill>
                  <a:srgbClr val="4B4A4A"/>
                </a:solidFill>
                <a:latin typeface="Calibri (MS)"/>
                <a:ea typeface="Calibri (MS)"/>
                <a:cs typeface="Calibri (MS)"/>
                <a:sym typeface="Calibri (MS)"/>
              </a:rPr>
              <a:t>totalement dissociée du </a:t>
            </a:r>
          </a:p>
          <a:p>
            <a:pPr algn="l">
              <a:lnSpc>
                <a:spcPts val="2875"/>
              </a:lnSpc>
            </a:pPr>
            <a:r>
              <a:rPr lang="en-US" sz="1801">
                <a:solidFill>
                  <a:srgbClr val="4B4A4A"/>
                </a:solidFill>
                <a:latin typeface="Calibri (MS)"/>
                <a:ea typeface="Calibri (MS)"/>
                <a:cs typeface="Calibri (MS)"/>
                <a:sym typeface="Calibri (MS)"/>
              </a:rPr>
              <a:t>moteur de score prédictif.</a:t>
            </a:r>
          </a:p>
        </p:txBody>
      </p:sp>
      <p:sp>
        <p:nvSpPr>
          <p:cNvPr name="Freeform 37" id="37" descr="Holding a heart"/>
          <p:cNvSpPr/>
          <p:nvPr/>
        </p:nvSpPr>
        <p:spPr>
          <a:xfrm flipH="false" flipV="false" rot="0">
            <a:off x="10889866" y="4866789"/>
            <a:ext cx="340309" cy="340309"/>
          </a:xfrm>
          <a:custGeom>
            <a:avLst/>
            <a:gdLst/>
            <a:ahLst/>
            <a:cxnLst/>
            <a:rect r="r" b="b" t="t" l="l"/>
            <a:pathLst>
              <a:path h="340309" w="340309">
                <a:moveTo>
                  <a:pt x="0" y="0"/>
                </a:moveTo>
                <a:lnTo>
                  <a:pt x="340309" y="0"/>
                </a:lnTo>
                <a:lnTo>
                  <a:pt x="340309" y="340309"/>
                </a:lnTo>
                <a:lnTo>
                  <a:pt x="0" y="3403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descr="Book - Open"/>
          <p:cNvSpPr/>
          <p:nvPr/>
        </p:nvSpPr>
        <p:spPr>
          <a:xfrm flipH="false" flipV="false" rot="0">
            <a:off x="15205205" y="4779093"/>
            <a:ext cx="341262" cy="341262"/>
          </a:xfrm>
          <a:custGeom>
            <a:avLst/>
            <a:gdLst/>
            <a:ahLst/>
            <a:cxnLst/>
            <a:rect r="r" b="b" t="t" l="l"/>
            <a:pathLst>
              <a:path h="341262" w="341262">
                <a:moveTo>
                  <a:pt x="0" y="0"/>
                </a:moveTo>
                <a:lnTo>
                  <a:pt x="341262" y="0"/>
                </a:lnTo>
                <a:lnTo>
                  <a:pt x="341262" y="341261"/>
                </a:lnTo>
                <a:lnTo>
                  <a:pt x="0" y="3412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013422"/>
            <a:ext cx="1928336" cy="366255"/>
            <a:chOff x="0" y="0"/>
            <a:chExt cx="2571115" cy="488340"/>
          </a:xfrm>
        </p:grpSpPr>
        <p:sp>
          <p:nvSpPr>
            <p:cNvPr name="Freeform 7" id="7"/>
            <p:cNvSpPr/>
            <p:nvPr/>
          </p:nvSpPr>
          <p:spPr>
            <a:xfrm flipH="false" flipV="false" rot="0">
              <a:off x="0" y="0"/>
              <a:ext cx="2571115" cy="488315"/>
            </a:xfrm>
            <a:custGeom>
              <a:avLst/>
              <a:gdLst/>
              <a:ahLst/>
              <a:cxnLst/>
              <a:rect r="r" b="b" t="t" l="l"/>
              <a:pathLst>
                <a:path h="488315" w="2571115">
                  <a:moveTo>
                    <a:pt x="0" y="231521"/>
                  </a:moveTo>
                  <a:cubicBezTo>
                    <a:pt x="0" y="103632"/>
                    <a:pt x="103632" y="0"/>
                    <a:pt x="231521" y="0"/>
                  </a:cubicBezTo>
                  <a:lnTo>
                    <a:pt x="2339594" y="0"/>
                  </a:lnTo>
                  <a:cubicBezTo>
                    <a:pt x="2467483" y="0"/>
                    <a:pt x="2571115" y="103632"/>
                    <a:pt x="2571115" y="231521"/>
                  </a:cubicBezTo>
                  <a:lnTo>
                    <a:pt x="2571115" y="256794"/>
                  </a:lnTo>
                  <a:cubicBezTo>
                    <a:pt x="2571115" y="384683"/>
                    <a:pt x="2467483" y="488315"/>
                    <a:pt x="2339594" y="488315"/>
                  </a:cubicBezTo>
                  <a:lnTo>
                    <a:pt x="231521" y="488315"/>
                  </a:lnTo>
                  <a:cubicBezTo>
                    <a:pt x="103632" y="488315"/>
                    <a:pt x="0" y="384683"/>
                    <a:pt x="0" y="256794"/>
                  </a:cubicBezTo>
                  <a:close/>
                </a:path>
              </a:pathLst>
            </a:custGeom>
            <a:solidFill>
              <a:srgbClr val="CCFFEF"/>
            </a:solidFill>
          </p:spPr>
        </p:sp>
      </p:grpSp>
      <p:sp>
        <p:nvSpPr>
          <p:cNvPr name="TextBox 8" id="8"/>
          <p:cNvSpPr txBox="true"/>
          <p:nvPr/>
        </p:nvSpPr>
        <p:spPr>
          <a:xfrm rot="0">
            <a:off x="1137218" y="1066695"/>
            <a:ext cx="1675800" cy="289770"/>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DIFFÉRENCIATION</a:t>
            </a:r>
          </a:p>
        </p:txBody>
      </p:sp>
      <p:sp>
        <p:nvSpPr>
          <p:cNvPr name="TextBox 9" id="9"/>
          <p:cNvSpPr txBox="true"/>
          <p:nvPr/>
        </p:nvSpPr>
        <p:spPr>
          <a:xfrm rot="0">
            <a:off x="992991" y="1318717"/>
            <a:ext cx="16315868" cy="896531"/>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Ce qui différencie CISIA</a:t>
            </a:r>
          </a:p>
        </p:txBody>
      </p:sp>
      <p:sp>
        <p:nvSpPr>
          <p:cNvPr name="TextBox 10" id="10"/>
          <p:cNvSpPr txBox="true"/>
          <p:nvPr/>
        </p:nvSpPr>
        <p:spPr>
          <a:xfrm rot="0">
            <a:off x="992991" y="2398852"/>
            <a:ext cx="16315868" cy="837571"/>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Notre approche unique intègre la puissance de l'IA avec une attention rigoureuse à la souveraineté, la transparence et la </a:t>
            </a:r>
          </a:p>
          <a:p>
            <a:pPr algn="l">
              <a:lnSpc>
                <a:spcPts val="3354"/>
              </a:lnSpc>
            </a:pPr>
            <a:r>
              <a:rPr lang="en-US" sz="2101">
                <a:solidFill>
                  <a:srgbClr val="4B4A4A"/>
                </a:solidFill>
                <a:latin typeface="Calibri (MS)"/>
                <a:ea typeface="Calibri (MS)"/>
                <a:cs typeface="Calibri (MS)"/>
                <a:sym typeface="Calibri (MS)"/>
              </a:rPr>
              <a:t>facilité d'utilisation, pour une solution inégalée sur le marché.</a:t>
            </a:r>
          </a:p>
        </p:txBody>
      </p:sp>
      <p:grpSp>
        <p:nvGrpSpPr>
          <p:cNvPr name="Group 11" id="11"/>
          <p:cNvGrpSpPr/>
          <p:nvPr/>
        </p:nvGrpSpPr>
        <p:grpSpPr>
          <a:xfrm rot="0">
            <a:off x="508083" y="3909260"/>
            <a:ext cx="5520242" cy="2920746"/>
            <a:chOff x="0" y="0"/>
            <a:chExt cx="7360323" cy="3894328"/>
          </a:xfrm>
        </p:grpSpPr>
        <p:sp>
          <p:nvSpPr>
            <p:cNvPr name="Freeform 12" id="12"/>
            <p:cNvSpPr/>
            <p:nvPr/>
          </p:nvSpPr>
          <p:spPr>
            <a:xfrm flipH="false" flipV="false" rot="0">
              <a:off x="0" y="0"/>
              <a:ext cx="7360412" cy="3894328"/>
            </a:xfrm>
            <a:custGeom>
              <a:avLst/>
              <a:gdLst/>
              <a:ahLst/>
              <a:cxnLst/>
              <a:rect r="r" b="b" t="t" l="l"/>
              <a:pathLst>
                <a:path h="3894328" w="7360412">
                  <a:moveTo>
                    <a:pt x="0" y="649097"/>
                  </a:moveTo>
                  <a:cubicBezTo>
                    <a:pt x="0" y="290576"/>
                    <a:pt x="290576" y="0"/>
                    <a:pt x="649097" y="0"/>
                  </a:cubicBezTo>
                  <a:lnTo>
                    <a:pt x="6711315" y="0"/>
                  </a:lnTo>
                  <a:cubicBezTo>
                    <a:pt x="7069836" y="0"/>
                    <a:pt x="7360412" y="290576"/>
                    <a:pt x="7360412" y="649097"/>
                  </a:cubicBezTo>
                  <a:lnTo>
                    <a:pt x="7360412" y="3245231"/>
                  </a:lnTo>
                  <a:cubicBezTo>
                    <a:pt x="7360412" y="3603752"/>
                    <a:pt x="7069836" y="3894328"/>
                    <a:pt x="6711315" y="3894328"/>
                  </a:cubicBezTo>
                  <a:lnTo>
                    <a:pt x="649097" y="3894328"/>
                  </a:lnTo>
                  <a:cubicBezTo>
                    <a:pt x="290576" y="3894328"/>
                    <a:pt x="0" y="3603752"/>
                    <a:pt x="0" y="3245231"/>
                  </a:cubicBezTo>
                  <a:close/>
                </a:path>
              </a:pathLst>
            </a:custGeom>
            <a:solidFill>
              <a:srgbClr val="E7FAF3"/>
            </a:solidFill>
          </p:spPr>
        </p:sp>
      </p:grpSp>
      <p:grpSp>
        <p:nvGrpSpPr>
          <p:cNvPr name="Group 13" id="13"/>
          <p:cNvGrpSpPr/>
          <p:nvPr/>
        </p:nvGrpSpPr>
        <p:grpSpPr>
          <a:xfrm rot="0">
            <a:off x="2839717" y="3479340"/>
            <a:ext cx="855059" cy="864594"/>
            <a:chOff x="0" y="0"/>
            <a:chExt cx="1140079" cy="1152792"/>
          </a:xfrm>
        </p:grpSpPr>
        <p:sp>
          <p:nvSpPr>
            <p:cNvPr name="Freeform 14" id="14"/>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15" id="15"/>
          <p:cNvSpPr txBox="true"/>
          <p:nvPr/>
        </p:nvSpPr>
        <p:spPr>
          <a:xfrm rot="0">
            <a:off x="1106719" y="4484113"/>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Local First</a:t>
            </a:r>
          </a:p>
        </p:txBody>
      </p:sp>
      <p:sp>
        <p:nvSpPr>
          <p:cNvPr name="TextBox 16" id="16"/>
          <p:cNvSpPr txBox="true"/>
          <p:nvPr/>
        </p:nvSpPr>
        <p:spPr>
          <a:xfrm rot="0">
            <a:off x="1090508" y="5034172"/>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L'IA est exécutée directement sur </a:t>
            </a:r>
          </a:p>
          <a:p>
            <a:pPr algn="l">
              <a:lnSpc>
                <a:spcPts val="2875"/>
              </a:lnSpc>
            </a:pPr>
            <a:r>
              <a:rPr lang="en-US" sz="1801">
                <a:solidFill>
                  <a:srgbClr val="4B4A4A"/>
                </a:solidFill>
                <a:latin typeface="Calibri (MS)"/>
                <a:ea typeface="Calibri (MS)"/>
                <a:cs typeface="Calibri (MS)"/>
                <a:sym typeface="Calibri (MS)"/>
              </a:rPr>
              <a:t>votre poste ou serveur local, </a:t>
            </a:r>
          </a:p>
          <a:p>
            <a:pPr algn="l">
              <a:lnSpc>
                <a:spcPts val="2875"/>
              </a:lnSpc>
            </a:pPr>
            <a:r>
              <a:rPr lang="en-US" sz="1801">
                <a:solidFill>
                  <a:srgbClr val="4B4A4A"/>
                </a:solidFill>
                <a:latin typeface="Calibri (MS)"/>
                <a:ea typeface="Calibri (MS)"/>
                <a:cs typeface="Calibri (MS)"/>
                <a:sym typeface="Calibri (MS)"/>
              </a:rPr>
              <a:t>garantissant une souveraineté totale </a:t>
            </a:r>
          </a:p>
          <a:p>
            <a:pPr algn="l">
              <a:lnSpc>
                <a:spcPts val="2875"/>
              </a:lnSpc>
            </a:pPr>
            <a:r>
              <a:rPr lang="en-US" sz="1801">
                <a:solidFill>
                  <a:srgbClr val="4B4A4A"/>
                </a:solidFill>
                <a:latin typeface="Calibri (MS)"/>
                <a:ea typeface="Calibri (MS)"/>
                <a:cs typeface="Calibri (MS)"/>
                <a:sym typeface="Calibri (MS)"/>
              </a:rPr>
              <a:t>de vos données et une intégration sécurisée.</a:t>
            </a:r>
          </a:p>
        </p:txBody>
      </p:sp>
      <p:sp>
        <p:nvSpPr>
          <p:cNvPr name="Freeform 17" id="17" descr="AI technology"/>
          <p:cNvSpPr/>
          <p:nvPr/>
        </p:nvSpPr>
        <p:spPr>
          <a:xfrm flipH="false" flipV="false" rot="0">
            <a:off x="3044666" y="3688109"/>
            <a:ext cx="447075" cy="447075"/>
          </a:xfrm>
          <a:custGeom>
            <a:avLst/>
            <a:gdLst/>
            <a:ahLst/>
            <a:cxnLst/>
            <a:rect r="r" b="b" t="t" l="l"/>
            <a:pathLst>
              <a:path h="447075" w="447075">
                <a:moveTo>
                  <a:pt x="0" y="0"/>
                </a:moveTo>
                <a:lnTo>
                  <a:pt x="447075" y="0"/>
                </a:lnTo>
                <a:lnTo>
                  <a:pt x="447075" y="447074"/>
                </a:lnTo>
                <a:lnTo>
                  <a:pt x="0" y="447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180839" y="3955009"/>
            <a:ext cx="5583155" cy="2890237"/>
            <a:chOff x="0" y="0"/>
            <a:chExt cx="7444207" cy="3853650"/>
          </a:xfrm>
        </p:grpSpPr>
        <p:sp>
          <p:nvSpPr>
            <p:cNvPr name="Freeform 19" id="19"/>
            <p:cNvSpPr/>
            <p:nvPr/>
          </p:nvSpPr>
          <p:spPr>
            <a:xfrm flipH="false" flipV="false" rot="0">
              <a:off x="0" y="0"/>
              <a:ext cx="7444105" cy="3853561"/>
            </a:xfrm>
            <a:custGeom>
              <a:avLst/>
              <a:gdLst/>
              <a:ahLst/>
              <a:cxnLst/>
              <a:rect r="r" b="b" t="t" l="l"/>
              <a:pathLst>
                <a:path h="3853561" w="7444105">
                  <a:moveTo>
                    <a:pt x="0" y="642239"/>
                  </a:moveTo>
                  <a:cubicBezTo>
                    <a:pt x="0" y="287528"/>
                    <a:pt x="287528" y="0"/>
                    <a:pt x="642239" y="0"/>
                  </a:cubicBezTo>
                  <a:lnTo>
                    <a:pt x="6801866" y="0"/>
                  </a:lnTo>
                  <a:cubicBezTo>
                    <a:pt x="7156577" y="0"/>
                    <a:pt x="7444105" y="287528"/>
                    <a:pt x="7444105" y="642239"/>
                  </a:cubicBezTo>
                  <a:lnTo>
                    <a:pt x="7444105" y="3211322"/>
                  </a:lnTo>
                  <a:cubicBezTo>
                    <a:pt x="7444105" y="3566033"/>
                    <a:pt x="7156577" y="3853561"/>
                    <a:pt x="6801866" y="3853561"/>
                  </a:cubicBezTo>
                  <a:lnTo>
                    <a:pt x="642239" y="3853561"/>
                  </a:lnTo>
                  <a:cubicBezTo>
                    <a:pt x="287528" y="3853688"/>
                    <a:pt x="0" y="3566033"/>
                    <a:pt x="0" y="3211322"/>
                  </a:cubicBezTo>
                  <a:close/>
                </a:path>
              </a:pathLst>
            </a:custGeom>
            <a:solidFill>
              <a:srgbClr val="E7FAF3"/>
            </a:solidFill>
          </p:spPr>
        </p:sp>
      </p:grpSp>
      <p:grpSp>
        <p:nvGrpSpPr>
          <p:cNvPr name="Group 20" id="20"/>
          <p:cNvGrpSpPr/>
          <p:nvPr/>
        </p:nvGrpSpPr>
        <p:grpSpPr>
          <a:xfrm rot="0">
            <a:off x="8539162" y="3528908"/>
            <a:ext cx="864594" cy="855059"/>
            <a:chOff x="0" y="0"/>
            <a:chExt cx="1152792" cy="1140079"/>
          </a:xfrm>
        </p:grpSpPr>
        <p:sp>
          <p:nvSpPr>
            <p:cNvPr name="Freeform 21" id="21"/>
            <p:cNvSpPr/>
            <p:nvPr/>
          </p:nvSpPr>
          <p:spPr>
            <a:xfrm flipH="false" flipV="false" rot="0">
              <a:off x="0" y="0"/>
              <a:ext cx="1152779" cy="1140079"/>
            </a:xfrm>
            <a:custGeom>
              <a:avLst/>
              <a:gdLst/>
              <a:ahLst/>
              <a:cxnLst/>
              <a:rect r="r" b="b" t="t" l="l"/>
              <a:pathLst>
                <a:path h="1140079" w="1152779">
                  <a:moveTo>
                    <a:pt x="0" y="570103"/>
                  </a:moveTo>
                  <a:cubicBezTo>
                    <a:pt x="0" y="255270"/>
                    <a:pt x="258064" y="0"/>
                    <a:pt x="576453" y="0"/>
                  </a:cubicBezTo>
                  <a:cubicBezTo>
                    <a:pt x="894842" y="0"/>
                    <a:pt x="1152779" y="255270"/>
                    <a:pt x="1152779" y="570103"/>
                  </a:cubicBezTo>
                  <a:cubicBezTo>
                    <a:pt x="1152779" y="884936"/>
                    <a:pt x="894715" y="1140079"/>
                    <a:pt x="576453" y="1140079"/>
                  </a:cubicBezTo>
                  <a:cubicBezTo>
                    <a:pt x="258191" y="1140079"/>
                    <a:pt x="0" y="884809"/>
                    <a:pt x="0" y="570103"/>
                  </a:cubicBezTo>
                  <a:close/>
                </a:path>
              </a:pathLst>
            </a:custGeom>
            <a:solidFill>
              <a:srgbClr val="006747"/>
            </a:solidFill>
          </p:spPr>
        </p:sp>
      </p:grpSp>
      <p:sp>
        <p:nvSpPr>
          <p:cNvPr name="TextBox 22" id="22"/>
          <p:cNvSpPr txBox="true"/>
          <p:nvPr/>
        </p:nvSpPr>
        <p:spPr>
          <a:xfrm rot="0">
            <a:off x="6786153" y="4522241"/>
            <a:ext cx="4652791" cy="82259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Explicable</a:t>
            </a:r>
          </a:p>
        </p:txBody>
      </p:sp>
      <p:sp>
        <p:nvSpPr>
          <p:cNvPr name="TextBox 23" id="23"/>
          <p:cNvSpPr txBox="true"/>
          <p:nvPr/>
        </p:nvSpPr>
        <p:spPr>
          <a:xfrm rot="0">
            <a:off x="6786153" y="5042745"/>
            <a:ext cx="4652791" cy="483213"/>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Chaque score est accompagné d'une </a:t>
            </a:r>
          </a:p>
          <a:p>
            <a:pPr algn="l">
              <a:lnSpc>
                <a:spcPts val="2875"/>
              </a:lnSpc>
            </a:pPr>
            <a:r>
              <a:rPr lang="en-US" sz="1801">
                <a:solidFill>
                  <a:srgbClr val="4B4A4A"/>
                </a:solidFill>
                <a:latin typeface="Calibri (MS)"/>
                <a:ea typeface="Calibri (MS)"/>
                <a:cs typeface="Calibri (MS)"/>
                <a:sym typeface="Calibri (MS)"/>
              </a:rPr>
              <a:t>explication intelligible grâce aux valeurs </a:t>
            </a:r>
          </a:p>
          <a:p>
            <a:pPr algn="l">
              <a:lnSpc>
                <a:spcPts val="2875"/>
              </a:lnSpc>
            </a:pPr>
            <a:r>
              <a:rPr lang="en-US" sz="1801">
                <a:solidFill>
                  <a:srgbClr val="4B4A4A"/>
                </a:solidFill>
                <a:latin typeface="Calibri (MS)"/>
                <a:ea typeface="Calibri (MS)"/>
                <a:cs typeface="Calibri (MS)"/>
                <a:sym typeface="Calibri (MS)"/>
              </a:rPr>
              <a:t>SHAP et à une traduction en langage métier </a:t>
            </a:r>
          </a:p>
          <a:p>
            <a:pPr algn="l">
              <a:lnSpc>
                <a:spcPts val="2875"/>
              </a:lnSpc>
            </a:pPr>
            <a:r>
              <a:rPr lang="en-US" sz="1801">
                <a:solidFill>
                  <a:srgbClr val="4B4A4A"/>
                </a:solidFill>
                <a:latin typeface="Calibri (MS)"/>
                <a:ea typeface="Calibri (MS)"/>
                <a:cs typeface="Calibri (MS)"/>
                <a:sym typeface="Calibri (MS)"/>
              </a:rPr>
              <a:t>pour une meilleure compréhension clinique.</a:t>
            </a:r>
          </a:p>
        </p:txBody>
      </p:sp>
      <p:sp>
        <p:nvSpPr>
          <p:cNvPr name="Freeform 24" id="24" descr="books"/>
          <p:cNvSpPr/>
          <p:nvPr/>
        </p:nvSpPr>
        <p:spPr>
          <a:xfrm flipH="false" flipV="false" rot="0">
            <a:off x="8746017" y="3731000"/>
            <a:ext cx="451837" cy="451837"/>
          </a:xfrm>
          <a:custGeom>
            <a:avLst/>
            <a:gdLst/>
            <a:ahLst/>
            <a:cxnLst/>
            <a:rect r="r" b="b" t="t" l="l"/>
            <a:pathLst>
              <a:path h="451837" w="451837">
                <a:moveTo>
                  <a:pt x="0" y="0"/>
                </a:moveTo>
                <a:lnTo>
                  <a:pt x="451837" y="0"/>
                </a:lnTo>
                <a:lnTo>
                  <a:pt x="451837" y="451837"/>
                </a:lnTo>
                <a:lnTo>
                  <a:pt x="0" y="4518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12006120" y="3969315"/>
            <a:ext cx="5520242" cy="2920746"/>
            <a:chOff x="0" y="0"/>
            <a:chExt cx="7360323" cy="3894328"/>
          </a:xfrm>
        </p:grpSpPr>
        <p:sp>
          <p:nvSpPr>
            <p:cNvPr name="Freeform 26" id="26"/>
            <p:cNvSpPr/>
            <p:nvPr/>
          </p:nvSpPr>
          <p:spPr>
            <a:xfrm flipH="false" flipV="false" rot="0">
              <a:off x="0" y="0"/>
              <a:ext cx="7360412" cy="3894328"/>
            </a:xfrm>
            <a:custGeom>
              <a:avLst/>
              <a:gdLst/>
              <a:ahLst/>
              <a:cxnLst/>
              <a:rect r="r" b="b" t="t" l="l"/>
              <a:pathLst>
                <a:path h="3894328" w="7360412">
                  <a:moveTo>
                    <a:pt x="0" y="649097"/>
                  </a:moveTo>
                  <a:cubicBezTo>
                    <a:pt x="0" y="290576"/>
                    <a:pt x="290576" y="0"/>
                    <a:pt x="649097" y="0"/>
                  </a:cubicBezTo>
                  <a:lnTo>
                    <a:pt x="6711315" y="0"/>
                  </a:lnTo>
                  <a:cubicBezTo>
                    <a:pt x="7069836" y="0"/>
                    <a:pt x="7360412" y="290576"/>
                    <a:pt x="7360412" y="649097"/>
                  </a:cubicBezTo>
                  <a:lnTo>
                    <a:pt x="7360412" y="3245231"/>
                  </a:lnTo>
                  <a:cubicBezTo>
                    <a:pt x="7360412" y="3603752"/>
                    <a:pt x="7069836" y="3894328"/>
                    <a:pt x="6711315" y="3894328"/>
                  </a:cubicBezTo>
                  <a:lnTo>
                    <a:pt x="649097" y="3894328"/>
                  </a:lnTo>
                  <a:cubicBezTo>
                    <a:pt x="290576" y="3894328"/>
                    <a:pt x="0" y="3603752"/>
                    <a:pt x="0" y="3245231"/>
                  </a:cubicBezTo>
                  <a:close/>
                </a:path>
              </a:pathLst>
            </a:custGeom>
            <a:solidFill>
              <a:srgbClr val="E7FAF3"/>
            </a:solidFill>
          </p:spPr>
        </p:sp>
      </p:grpSp>
      <p:grpSp>
        <p:nvGrpSpPr>
          <p:cNvPr name="Group 27" id="27"/>
          <p:cNvGrpSpPr/>
          <p:nvPr/>
        </p:nvGrpSpPr>
        <p:grpSpPr>
          <a:xfrm rot="0">
            <a:off x="14337754" y="3539395"/>
            <a:ext cx="855059" cy="864594"/>
            <a:chOff x="0" y="0"/>
            <a:chExt cx="1140079" cy="1152792"/>
          </a:xfrm>
        </p:grpSpPr>
        <p:sp>
          <p:nvSpPr>
            <p:cNvPr name="Freeform 28" id="28"/>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29" id="29"/>
          <p:cNvSpPr txBox="true"/>
          <p:nvPr/>
        </p:nvSpPr>
        <p:spPr>
          <a:xfrm rot="0">
            <a:off x="12518012" y="4522241"/>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Gouvernable</a:t>
            </a:r>
          </a:p>
        </p:txBody>
      </p:sp>
      <p:sp>
        <p:nvSpPr>
          <p:cNvPr name="TextBox 30" id="30"/>
          <p:cNvSpPr txBox="true"/>
          <p:nvPr/>
        </p:nvSpPr>
        <p:spPr>
          <a:xfrm rot="0">
            <a:off x="12518012" y="5042745"/>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Un registre RGPD complet et un audit des </a:t>
            </a:r>
          </a:p>
          <a:p>
            <a:pPr algn="l">
              <a:lnSpc>
                <a:spcPts val="2875"/>
              </a:lnSpc>
            </a:pPr>
            <a:r>
              <a:rPr lang="en-US" sz="1801">
                <a:solidFill>
                  <a:srgbClr val="4B4A4A"/>
                </a:solidFill>
                <a:latin typeface="Calibri (MS)"/>
                <a:ea typeface="Calibri (MS)"/>
                <a:cs typeface="Calibri (MS)"/>
                <a:sym typeface="Calibri (MS)"/>
              </a:rPr>
              <a:t>biais intégré assurent une transparence et </a:t>
            </a:r>
          </a:p>
          <a:p>
            <a:pPr algn="l">
              <a:lnSpc>
                <a:spcPts val="2875"/>
              </a:lnSpc>
            </a:pPr>
            <a:r>
              <a:rPr lang="en-US" sz="1801">
                <a:solidFill>
                  <a:srgbClr val="4B4A4A"/>
                </a:solidFill>
                <a:latin typeface="Calibri (MS)"/>
                <a:ea typeface="Calibri (MS)"/>
                <a:cs typeface="Calibri (MS)"/>
                <a:sym typeface="Calibri (MS)"/>
              </a:rPr>
              <a:t>une conformité sans faille, de bout en bout.</a:t>
            </a:r>
          </a:p>
        </p:txBody>
      </p:sp>
      <p:sp>
        <p:nvSpPr>
          <p:cNvPr name="Freeform 31" id="31" descr="Book"/>
          <p:cNvSpPr/>
          <p:nvPr/>
        </p:nvSpPr>
        <p:spPr>
          <a:xfrm flipH="false" flipV="false" rot="0">
            <a:off x="14542703" y="3748154"/>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2" id="32"/>
          <p:cNvGrpSpPr/>
          <p:nvPr/>
        </p:nvGrpSpPr>
        <p:grpSpPr>
          <a:xfrm rot="0">
            <a:off x="632955" y="7675531"/>
            <a:ext cx="16736120" cy="2067592"/>
            <a:chOff x="0" y="0"/>
            <a:chExt cx="22314827" cy="2756789"/>
          </a:xfrm>
        </p:grpSpPr>
        <p:sp>
          <p:nvSpPr>
            <p:cNvPr name="Freeform 33" id="33"/>
            <p:cNvSpPr/>
            <p:nvPr/>
          </p:nvSpPr>
          <p:spPr>
            <a:xfrm flipH="false" flipV="false" rot="0">
              <a:off x="0" y="0"/>
              <a:ext cx="22314790" cy="2756789"/>
            </a:xfrm>
            <a:custGeom>
              <a:avLst/>
              <a:gdLst/>
              <a:ahLst/>
              <a:cxnLst/>
              <a:rect r="r" b="b" t="t" l="l"/>
              <a:pathLst>
                <a:path h="2756789" w="22314790">
                  <a:moveTo>
                    <a:pt x="0" y="459486"/>
                  </a:moveTo>
                  <a:cubicBezTo>
                    <a:pt x="0" y="205740"/>
                    <a:pt x="205740" y="0"/>
                    <a:pt x="459486" y="0"/>
                  </a:cubicBezTo>
                  <a:lnTo>
                    <a:pt x="21855303" y="0"/>
                  </a:lnTo>
                  <a:cubicBezTo>
                    <a:pt x="22109049" y="0"/>
                    <a:pt x="22314790" y="205740"/>
                    <a:pt x="22314790" y="459486"/>
                  </a:cubicBezTo>
                  <a:lnTo>
                    <a:pt x="22314790" y="2297303"/>
                  </a:lnTo>
                  <a:cubicBezTo>
                    <a:pt x="22314790" y="2551049"/>
                    <a:pt x="22109049" y="2756789"/>
                    <a:pt x="21855303" y="2756789"/>
                  </a:cubicBezTo>
                  <a:lnTo>
                    <a:pt x="459486" y="2756789"/>
                  </a:lnTo>
                  <a:cubicBezTo>
                    <a:pt x="205740" y="2756789"/>
                    <a:pt x="0" y="2551049"/>
                    <a:pt x="0" y="2297303"/>
                  </a:cubicBezTo>
                  <a:close/>
                </a:path>
              </a:pathLst>
            </a:custGeom>
            <a:solidFill>
              <a:srgbClr val="E7FAF3"/>
            </a:solidFill>
          </p:spPr>
        </p:sp>
      </p:grpSp>
      <p:grpSp>
        <p:nvGrpSpPr>
          <p:cNvPr name="Group 34" id="34"/>
          <p:cNvGrpSpPr/>
          <p:nvPr/>
        </p:nvGrpSpPr>
        <p:grpSpPr>
          <a:xfrm rot="0">
            <a:off x="8332308" y="7330450"/>
            <a:ext cx="865546" cy="855059"/>
            <a:chOff x="0" y="0"/>
            <a:chExt cx="1154062" cy="1140079"/>
          </a:xfrm>
        </p:grpSpPr>
        <p:sp>
          <p:nvSpPr>
            <p:cNvPr name="Freeform 35" id="35"/>
            <p:cNvSpPr/>
            <p:nvPr/>
          </p:nvSpPr>
          <p:spPr>
            <a:xfrm flipH="false" flipV="false" rot="0">
              <a:off x="0" y="0"/>
              <a:ext cx="1154049" cy="1140079"/>
            </a:xfrm>
            <a:custGeom>
              <a:avLst/>
              <a:gdLst/>
              <a:ahLst/>
              <a:cxnLst/>
              <a:rect r="r" b="b" t="t" l="l"/>
              <a:pathLst>
                <a:path h="1140079" w="1154049">
                  <a:moveTo>
                    <a:pt x="0" y="570103"/>
                  </a:moveTo>
                  <a:cubicBezTo>
                    <a:pt x="0" y="255270"/>
                    <a:pt x="258318" y="0"/>
                    <a:pt x="577088" y="0"/>
                  </a:cubicBezTo>
                  <a:cubicBezTo>
                    <a:pt x="895858" y="0"/>
                    <a:pt x="1154049" y="255270"/>
                    <a:pt x="1154049" y="570103"/>
                  </a:cubicBezTo>
                  <a:cubicBezTo>
                    <a:pt x="1154049" y="884936"/>
                    <a:pt x="895731" y="1140079"/>
                    <a:pt x="577088" y="1140079"/>
                  </a:cubicBezTo>
                  <a:cubicBezTo>
                    <a:pt x="258445" y="1140079"/>
                    <a:pt x="0" y="884809"/>
                    <a:pt x="0" y="570103"/>
                  </a:cubicBezTo>
                  <a:close/>
                </a:path>
              </a:pathLst>
            </a:custGeom>
            <a:solidFill>
              <a:srgbClr val="006747"/>
            </a:solidFill>
          </p:spPr>
        </p:sp>
      </p:grpSp>
      <p:sp>
        <p:nvSpPr>
          <p:cNvPr name="TextBox 36" id="36"/>
          <p:cNvSpPr txBox="true"/>
          <p:nvPr/>
        </p:nvSpPr>
        <p:spPr>
          <a:xfrm rot="0">
            <a:off x="1137218" y="8062598"/>
            <a:ext cx="13946924" cy="607162"/>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Prêt à Démontrer</a:t>
            </a:r>
          </a:p>
        </p:txBody>
      </p:sp>
      <p:sp>
        <p:nvSpPr>
          <p:cNvPr name="TextBox 37" id="37"/>
          <p:cNvSpPr txBox="true"/>
          <p:nvPr/>
        </p:nvSpPr>
        <p:spPr>
          <a:xfrm rot="0">
            <a:off x="1137218" y="8718461"/>
            <a:ext cx="13946924" cy="37549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Un parcours client fluide et rapide en seulement 5 clics, pour une prise en main immédiate et une démonstration concrète de la valeur.</a:t>
            </a:r>
          </a:p>
        </p:txBody>
      </p:sp>
      <p:sp>
        <p:nvSpPr>
          <p:cNvPr name="Freeform 38" id="38" descr="tool"/>
          <p:cNvSpPr/>
          <p:nvPr/>
        </p:nvSpPr>
        <p:spPr>
          <a:xfrm flipH="false" flipV="false" rot="0">
            <a:off x="8551555" y="7523007"/>
            <a:ext cx="452790" cy="452790"/>
          </a:xfrm>
          <a:custGeom>
            <a:avLst/>
            <a:gdLst/>
            <a:ahLst/>
            <a:cxnLst/>
            <a:rect r="r" b="b" t="t" l="l"/>
            <a:pathLst>
              <a:path h="452790" w="452790">
                <a:moveTo>
                  <a:pt x="0" y="0"/>
                </a:moveTo>
                <a:lnTo>
                  <a:pt x="452789" y="0"/>
                </a:lnTo>
                <a:lnTo>
                  <a:pt x="452789" y="452790"/>
                </a:lnTo>
                <a:lnTo>
                  <a:pt x="0" y="4527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889512"/>
            <a:ext cx="2862939" cy="431044"/>
            <a:chOff x="0" y="0"/>
            <a:chExt cx="3817252" cy="574726"/>
          </a:xfrm>
        </p:grpSpPr>
        <p:sp>
          <p:nvSpPr>
            <p:cNvPr name="Freeform 7" id="7"/>
            <p:cNvSpPr/>
            <p:nvPr/>
          </p:nvSpPr>
          <p:spPr>
            <a:xfrm flipH="false" flipV="false" rot="0">
              <a:off x="0" y="0"/>
              <a:ext cx="3817239" cy="574802"/>
            </a:xfrm>
            <a:custGeom>
              <a:avLst/>
              <a:gdLst/>
              <a:ahLst/>
              <a:cxnLst/>
              <a:rect r="r" b="b" t="t" l="l"/>
              <a:pathLst>
                <a:path h="574802" w="3817239">
                  <a:moveTo>
                    <a:pt x="0" y="272415"/>
                  </a:moveTo>
                  <a:cubicBezTo>
                    <a:pt x="0" y="121920"/>
                    <a:pt x="121920" y="0"/>
                    <a:pt x="272415" y="0"/>
                  </a:cubicBezTo>
                  <a:lnTo>
                    <a:pt x="3544824" y="0"/>
                  </a:lnTo>
                  <a:cubicBezTo>
                    <a:pt x="3695319" y="0"/>
                    <a:pt x="3817239" y="121920"/>
                    <a:pt x="3817239" y="272415"/>
                  </a:cubicBezTo>
                  <a:lnTo>
                    <a:pt x="3817239" y="302387"/>
                  </a:lnTo>
                  <a:cubicBezTo>
                    <a:pt x="3817239" y="452882"/>
                    <a:pt x="3695319" y="574802"/>
                    <a:pt x="3544824"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2955" y="1955121"/>
            <a:ext cx="2560415" cy="243059"/>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QUALITÉ DES DONNÉES</a:t>
            </a:r>
          </a:p>
        </p:txBody>
      </p:sp>
      <p:sp>
        <p:nvSpPr>
          <p:cNvPr name="TextBox 9" id="9"/>
          <p:cNvSpPr txBox="true"/>
          <p:nvPr/>
        </p:nvSpPr>
        <p:spPr>
          <a:xfrm rot="0">
            <a:off x="992991" y="2291172"/>
            <a:ext cx="16315868" cy="102953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Qualité des données (risque maîtrisé)</a:t>
            </a:r>
          </a:p>
        </p:txBody>
      </p:sp>
      <p:sp>
        <p:nvSpPr>
          <p:cNvPr name="TextBox 10" id="10"/>
          <p:cNvSpPr txBox="true"/>
          <p:nvPr/>
        </p:nvSpPr>
        <p:spPr>
          <a:xfrm rot="0">
            <a:off x="992991" y="3622424"/>
            <a:ext cx="17230954" cy="577806"/>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Avant même l'application du modèle, nous assainissons vos données pour garantir la fiabilité et la pertinence de chaque score.</a:t>
            </a:r>
          </a:p>
        </p:txBody>
      </p:sp>
      <p:grpSp>
        <p:nvGrpSpPr>
          <p:cNvPr name="Group 11" id="11"/>
          <p:cNvGrpSpPr/>
          <p:nvPr/>
        </p:nvGrpSpPr>
        <p:grpSpPr>
          <a:xfrm rot="0">
            <a:off x="709212" y="5380111"/>
            <a:ext cx="5520242" cy="2920746"/>
            <a:chOff x="0" y="0"/>
            <a:chExt cx="7360323" cy="3894328"/>
          </a:xfrm>
        </p:grpSpPr>
        <p:sp>
          <p:nvSpPr>
            <p:cNvPr name="Freeform 12" id="12"/>
            <p:cNvSpPr/>
            <p:nvPr/>
          </p:nvSpPr>
          <p:spPr>
            <a:xfrm flipH="false" flipV="false" rot="0">
              <a:off x="0" y="0"/>
              <a:ext cx="7360412" cy="3894328"/>
            </a:xfrm>
            <a:custGeom>
              <a:avLst/>
              <a:gdLst/>
              <a:ahLst/>
              <a:cxnLst/>
              <a:rect r="r" b="b" t="t" l="l"/>
              <a:pathLst>
                <a:path h="3894328" w="7360412">
                  <a:moveTo>
                    <a:pt x="0" y="649097"/>
                  </a:moveTo>
                  <a:cubicBezTo>
                    <a:pt x="0" y="290576"/>
                    <a:pt x="290576" y="0"/>
                    <a:pt x="649097" y="0"/>
                  </a:cubicBezTo>
                  <a:lnTo>
                    <a:pt x="6711315" y="0"/>
                  </a:lnTo>
                  <a:cubicBezTo>
                    <a:pt x="7069836" y="0"/>
                    <a:pt x="7360412" y="290576"/>
                    <a:pt x="7360412" y="649097"/>
                  </a:cubicBezTo>
                  <a:lnTo>
                    <a:pt x="7360412" y="3245231"/>
                  </a:lnTo>
                  <a:cubicBezTo>
                    <a:pt x="7360412" y="3603752"/>
                    <a:pt x="7069836" y="3894328"/>
                    <a:pt x="6711315" y="3894328"/>
                  </a:cubicBezTo>
                  <a:lnTo>
                    <a:pt x="649097" y="3894328"/>
                  </a:lnTo>
                  <a:cubicBezTo>
                    <a:pt x="290576" y="3894328"/>
                    <a:pt x="0" y="3603752"/>
                    <a:pt x="0" y="3245231"/>
                  </a:cubicBezTo>
                  <a:close/>
                </a:path>
              </a:pathLst>
            </a:custGeom>
            <a:solidFill>
              <a:srgbClr val="E7FAF3"/>
            </a:solidFill>
          </p:spPr>
        </p:sp>
      </p:grpSp>
      <p:grpSp>
        <p:nvGrpSpPr>
          <p:cNvPr name="Group 13" id="13"/>
          <p:cNvGrpSpPr/>
          <p:nvPr/>
        </p:nvGrpSpPr>
        <p:grpSpPr>
          <a:xfrm rot="0">
            <a:off x="3040847" y="4950200"/>
            <a:ext cx="855059" cy="864594"/>
            <a:chOff x="0" y="0"/>
            <a:chExt cx="1140079" cy="1152792"/>
          </a:xfrm>
        </p:grpSpPr>
        <p:sp>
          <p:nvSpPr>
            <p:cNvPr name="Freeform 14" id="14"/>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15" id="15"/>
          <p:cNvSpPr txBox="true"/>
          <p:nvPr/>
        </p:nvSpPr>
        <p:spPr>
          <a:xfrm rot="0">
            <a:off x="1307849" y="5954973"/>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Assainissement Préalable</a:t>
            </a:r>
          </a:p>
        </p:txBody>
      </p:sp>
      <p:sp>
        <p:nvSpPr>
          <p:cNvPr name="TextBox 16" id="16"/>
          <p:cNvSpPr txBox="true"/>
          <p:nvPr/>
        </p:nvSpPr>
        <p:spPr>
          <a:xfrm rot="0">
            <a:off x="1307849" y="6622275"/>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Nous identifions et corrigeons les anomalies: </a:t>
            </a:r>
          </a:p>
          <a:p>
            <a:pPr algn="l">
              <a:lnSpc>
                <a:spcPts val="2875"/>
              </a:lnSpc>
            </a:pPr>
            <a:r>
              <a:rPr lang="en-US" sz="1801">
                <a:solidFill>
                  <a:srgbClr val="4B4A4A"/>
                </a:solidFill>
                <a:latin typeface="Calibri (MS)"/>
                <a:ea typeface="Calibri (MS)"/>
                <a:cs typeface="Calibri (MS)"/>
                <a:sym typeface="Calibri (MS)"/>
              </a:rPr>
              <a:t>durées incohérentes, constantes hors plage, </a:t>
            </a:r>
          </a:p>
          <a:p>
            <a:pPr algn="l">
              <a:lnSpc>
                <a:spcPts val="2875"/>
              </a:lnSpc>
            </a:pPr>
            <a:r>
              <a:rPr lang="en-US" sz="1801">
                <a:solidFill>
                  <a:srgbClr val="4B4A4A"/>
                </a:solidFill>
                <a:latin typeface="Calibri (MS)"/>
                <a:ea typeface="Calibri (MS)"/>
                <a:cs typeface="Calibri (MS)"/>
                <a:sym typeface="Calibri (MS)"/>
              </a:rPr>
              <a:t>signaux capteurs faibles.</a:t>
            </a:r>
          </a:p>
        </p:txBody>
      </p:sp>
      <p:sp>
        <p:nvSpPr>
          <p:cNvPr name="Freeform 17" id="17" descr="ruler"/>
          <p:cNvSpPr/>
          <p:nvPr/>
        </p:nvSpPr>
        <p:spPr>
          <a:xfrm flipH="false" flipV="false" rot="0">
            <a:off x="3245796" y="5158483"/>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381969" y="5425869"/>
            <a:ext cx="5583155" cy="2890237"/>
            <a:chOff x="0" y="0"/>
            <a:chExt cx="7444207" cy="3853650"/>
          </a:xfrm>
        </p:grpSpPr>
        <p:sp>
          <p:nvSpPr>
            <p:cNvPr name="Freeform 19" id="19"/>
            <p:cNvSpPr/>
            <p:nvPr/>
          </p:nvSpPr>
          <p:spPr>
            <a:xfrm flipH="false" flipV="false" rot="0">
              <a:off x="0" y="0"/>
              <a:ext cx="7444105" cy="3853561"/>
            </a:xfrm>
            <a:custGeom>
              <a:avLst/>
              <a:gdLst/>
              <a:ahLst/>
              <a:cxnLst/>
              <a:rect r="r" b="b" t="t" l="l"/>
              <a:pathLst>
                <a:path h="3853561" w="7444105">
                  <a:moveTo>
                    <a:pt x="0" y="642239"/>
                  </a:moveTo>
                  <a:cubicBezTo>
                    <a:pt x="0" y="287528"/>
                    <a:pt x="287528" y="0"/>
                    <a:pt x="642239" y="0"/>
                  </a:cubicBezTo>
                  <a:lnTo>
                    <a:pt x="6801866" y="0"/>
                  </a:lnTo>
                  <a:cubicBezTo>
                    <a:pt x="7156577" y="0"/>
                    <a:pt x="7444105" y="287528"/>
                    <a:pt x="7444105" y="642239"/>
                  </a:cubicBezTo>
                  <a:lnTo>
                    <a:pt x="7444105" y="3211322"/>
                  </a:lnTo>
                  <a:cubicBezTo>
                    <a:pt x="7444105" y="3566033"/>
                    <a:pt x="7156577" y="3853561"/>
                    <a:pt x="6801866" y="3853561"/>
                  </a:cubicBezTo>
                  <a:lnTo>
                    <a:pt x="642239" y="3853561"/>
                  </a:lnTo>
                  <a:cubicBezTo>
                    <a:pt x="287528" y="3853688"/>
                    <a:pt x="0" y="3566033"/>
                    <a:pt x="0" y="3211322"/>
                  </a:cubicBezTo>
                  <a:close/>
                </a:path>
              </a:pathLst>
            </a:custGeom>
            <a:solidFill>
              <a:srgbClr val="E7FAF3"/>
            </a:solidFill>
          </p:spPr>
        </p:sp>
      </p:grpSp>
      <p:grpSp>
        <p:nvGrpSpPr>
          <p:cNvPr name="Group 20" id="20"/>
          <p:cNvGrpSpPr/>
          <p:nvPr/>
        </p:nvGrpSpPr>
        <p:grpSpPr>
          <a:xfrm rot="0">
            <a:off x="8740302" y="4999768"/>
            <a:ext cx="864594" cy="855059"/>
            <a:chOff x="0" y="0"/>
            <a:chExt cx="1152792" cy="1140079"/>
          </a:xfrm>
        </p:grpSpPr>
        <p:sp>
          <p:nvSpPr>
            <p:cNvPr name="Freeform 21" id="21"/>
            <p:cNvSpPr/>
            <p:nvPr/>
          </p:nvSpPr>
          <p:spPr>
            <a:xfrm flipH="false" flipV="false" rot="0">
              <a:off x="0" y="0"/>
              <a:ext cx="1152779" cy="1140079"/>
            </a:xfrm>
            <a:custGeom>
              <a:avLst/>
              <a:gdLst/>
              <a:ahLst/>
              <a:cxnLst/>
              <a:rect r="r" b="b" t="t" l="l"/>
              <a:pathLst>
                <a:path h="1140079" w="1152779">
                  <a:moveTo>
                    <a:pt x="0" y="570103"/>
                  </a:moveTo>
                  <a:cubicBezTo>
                    <a:pt x="0" y="255270"/>
                    <a:pt x="258064" y="0"/>
                    <a:pt x="576453" y="0"/>
                  </a:cubicBezTo>
                  <a:cubicBezTo>
                    <a:pt x="894842" y="0"/>
                    <a:pt x="1152779" y="255270"/>
                    <a:pt x="1152779" y="570103"/>
                  </a:cubicBezTo>
                  <a:cubicBezTo>
                    <a:pt x="1152779" y="884936"/>
                    <a:pt x="894715" y="1140079"/>
                    <a:pt x="576453" y="1140079"/>
                  </a:cubicBezTo>
                  <a:cubicBezTo>
                    <a:pt x="258191" y="1140079"/>
                    <a:pt x="0" y="884809"/>
                    <a:pt x="0" y="570103"/>
                  </a:cubicBezTo>
                  <a:close/>
                </a:path>
              </a:pathLst>
            </a:custGeom>
            <a:solidFill>
              <a:srgbClr val="006747"/>
            </a:solidFill>
          </p:spPr>
        </p:sp>
      </p:grpSp>
      <p:sp>
        <p:nvSpPr>
          <p:cNvPr name="TextBox 22" id="22"/>
          <p:cNvSpPr txBox="true"/>
          <p:nvPr/>
        </p:nvSpPr>
        <p:spPr>
          <a:xfrm rot="0">
            <a:off x="6987283" y="5993101"/>
            <a:ext cx="4652791" cy="82259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Exclusion Stratégique</a:t>
            </a:r>
          </a:p>
        </p:txBody>
      </p:sp>
      <p:sp>
        <p:nvSpPr>
          <p:cNvPr name="TextBox 23" id="23"/>
          <p:cNvSpPr txBox="true"/>
          <p:nvPr/>
        </p:nvSpPr>
        <p:spPr>
          <a:xfrm rot="0">
            <a:off x="6970128" y="6671843"/>
            <a:ext cx="4652791" cy="483213"/>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Ce qui n’est pas fiable n’entre pas </a:t>
            </a:r>
          </a:p>
          <a:p>
            <a:pPr algn="l">
              <a:lnSpc>
                <a:spcPts val="2875"/>
              </a:lnSpc>
            </a:pPr>
            <a:r>
              <a:rPr lang="en-US" sz="1801">
                <a:solidFill>
                  <a:srgbClr val="4B4A4A"/>
                </a:solidFill>
                <a:latin typeface="Calibri (MS)"/>
                <a:ea typeface="Calibri (MS)"/>
                <a:cs typeface="Calibri (MS)"/>
                <a:sym typeface="Calibri (MS)"/>
              </a:rPr>
              <a:t>silencieusement dans le score, évitant toute </a:t>
            </a:r>
          </a:p>
          <a:p>
            <a:pPr algn="l">
              <a:lnSpc>
                <a:spcPts val="2875"/>
              </a:lnSpc>
            </a:pPr>
            <a:r>
              <a:rPr lang="en-US" sz="1801">
                <a:solidFill>
                  <a:srgbClr val="4B4A4A"/>
                </a:solidFill>
                <a:latin typeface="Calibri (MS)"/>
                <a:ea typeface="Calibri (MS)"/>
                <a:cs typeface="Calibri (MS)"/>
                <a:sym typeface="Calibri (MS)"/>
              </a:rPr>
              <a:t>contamination des prédictions.</a:t>
            </a:r>
          </a:p>
        </p:txBody>
      </p:sp>
      <p:sp>
        <p:nvSpPr>
          <p:cNvPr name="Freeform 24" id="24" descr="Report"/>
          <p:cNvSpPr/>
          <p:nvPr/>
        </p:nvSpPr>
        <p:spPr>
          <a:xfrm flipH="false" flipV="false" rot="0">
            <a:off x="8947156" y="5201860"/>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12207250" y="5440166"/>
            <a:ext cx="5520242" cy="2920746"/>
            <a:chOff x="0" y="0"/>
            <a:chExt cx="7360323" cy="3894328"/>
          </a:xfrm>
        </p:grpSpPr>
        <p:sp>
          <p:nvSpPr>
            <p:cNvPr name="Freeform 26" id="26"/>
            <p:cNvSpPr/>
            <p:nvPr/>
          </p:nvSpPr>
          <p:spPr>
            <a:xfrm flipH="false" flipV="false" rot="0">
              <a:off x="0" y="0"/>
              <a:ext cx="7360412" cy="3894328"/>
            </a:xfrm>
            <a:custGeom>
              <a:avLst/>
              <a:gdLst/>
              <a:ahLst/>
              <a:cxnLst/>
              <a:rect r="r" b="b" t="t" l="l"/>
              <a:pathLst>
                <a:path h="3894328" w="7360412">
                  <a:moveTo>
                    <a:pt x="0" y="649097"/>
                  </a:moveTo>
                  <a:cubicBezTo>
                    <a:pt x="0" y="290576"/>
                    <a:pt x="290576" y="0"/>
                    <a:pt x="649097" y="0"/>
                  </a:cubicBezTo>
                  <a:lnTo>
                    <a:pt x="6711315" y="0"/>
                  </a:lnTo>
                  <a:cubicBezTo>
                    <a:pt x="7069836" y="0"/>
                    <a:pt x="7360412" y="290576"/>
                    <a:pt x="7360412" y="649097"/>
                  </a:cubicBezTo>
                  <a:lnTo>
                    <a:pt x="7360412" y="3245231"/>
                  </a:lnTo>
                  <a:cubicBezTo>
                    <a:pt x="7360412" y="3603752"/>
                    <a:pt x="7069836" y="3894328"/>
                    <a:pt x="6711315" y="3894328"/>
                  </a:cubicBezTo>
                  <a:lnTo>
                    <a:pt x="649097" y="3894328"/>
                  </a:lnTo>
                  <a:cubicBezTo>
                    <a:pt x="290576" y="3894328"/>
                    <a:pt x="0" y="3603752"/>
                    <a:pt x="0" y="3245231"/>
                  </a:cubicBezTo>
                  <a:close/>
                </a:path>
              </a:pathLst>
            </a:custGeom>
            <a:solidFill>
              <a:srgbClr val="E7FAF3"/>
            </a:solidFill>
          </p:spPr>
        </p:sp>
      </p:grpSp>
      <p:grpSp>
        <p:nvGrpSpPr>
          <p:cNvPr name="Group 27" id="27"/>
          <p:cNvGrpSpPr/>
          <p:nvPr/>
        </p:nvGrpSpPr>
        <p:grpSpPr>
          <a:xfrm rot="0">
            <a:off x="14538884" y="5010255"/>
            <a:ext cx="855059" cy="864594"/>
            <a:chOff x="0" y="0"/>
            <a:chExt cx="1140079" cy="1152792"/>
          </a:xfrm>
        </p:grpSpPr>
        <p:sp>
          <p:nvSpPr>
            <p:cNvPr name="Freeform 28" id="28"/>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29" id="29"/>
          <p:cNvSpPr txBox="true"/>
          <p:nvPr/>
        </p:nvSpPr>
        <p:spPr>
          <a:xfrm rot="0">
            <a:off x="12805886" y="6015028"/>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Moins de Fausses Alertes</a:t>
            </a:r>
          </a:p>
        </p:txBody>
      </p:sp>
      <p:sp>
        <p:nvSpPr>
          <p:cNvPr name="TextBox 30" id="30"/>
          <p:cNvSpPr txBox="true"/>
          <p:nvPr/>
        </p:nvSpPr>
        <p:spPr>
          <a:xfrm rot="0">
            <a:off x="12805886" y="6718554"/>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Une meilleure qualité des données se traduit </a:t>
            </a:r>
          </a:p>
          <a:p>
            <a:pPr algn="l">
              <a:lnSpc>
                <a:spcPts val="2875"/>
              </a:lnSpc>
            </a:pPr>
            <a:r>
              <a:rPr lang="en-US" sz="1801">
                <a:solidFill>
                  <a:srgbClr val="4B4A4A"/>
                </a:solidFill>
                <a:latin typeface="Calibri (MS)"/>
                <a:ea typeface="Calibri (MS)"/>
                <a:cs typeface="Calibri (MS)"/>
                <a:sym typeface="Calibri (MS)"/>
              </a:rPr>
              <a:t>par une réduction significative des alertes </a:t>
            </a:r>
          </a:p>
          <a:p>
            <a:pPr algn="l">
              <a:lnSpc>
                <a:spcPts val="2875"/>
              </a:lnSpc>
            </a:pPr>
            <a:r>
              <a:rPr lang="en-US" sz="1801">
                <a:solidFill>
                  <a:srgbClr val="4B4A4A"/>
                </a:solidFill>
                <a:latin typeface="Calibri (MS)"/>
                <a:ea typeface="Calibri (MS)"/>
                <a:cs typeface="Calibri (MS)"/>
                <a:sym typeface="Calibri (MS)"/>
              </a:rPr>
              <a:t>erronées, augmentant l’adoption métier.</a:t>
            </a:r>
          </a:p>
        </p:txBody>
      </p:sp>
      <p:sp>
        <p:nvSpPr>
          <p:cNvPr name="Freeform 31" id="31" descr="Pyramid diagram"/>
          <p:cNvSpPr/>
          <p:nvPr/>
        </p:nvSpPr>
        <p:spPr>
          <a:xfrm flipH="false" flipV="false" rot="0">
            <a:off x="14743833" y="5219014"/>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922858"/>
            <a:ext cx="1770164" cy="388001"/>
            <a:chOff x="0" y="0"/>
            <a:chExt cx="2360219" cy="517334"/>
          </a:xfrm>
        </p:grpSpPr>
        <p:sp>
          <p:nvSpPr>
            <p:cNvPr name="Freeform 7" id="7"/>
            <p:cNvSpPr/>
            <p:nvPr/>
          </p:nvSpPr>
          <p:spPr>
            <a:xfrm flipH="false" flipV="false" rot="0">
              <a:off x="0" y="0"/>
              <a:ext cx="2360168" cy="517271"/>
            </a:xfrm>
            <a:custGeom>
              <a:avLst/>
              <a:gdLst/>
              <a:ahLst/>
              <a:cxnLst/>
              <a:rect r="r" b="b" t="t" l="l"/>
              <a:pathLst>
                <a:path h="517271" w="2360168">
                  <a:moveTo>
                    <a:pt x="0" y="245110"/>
                  </a:moveTo>
                  <a:cubicBezTo>
                    <a:pt x="0" y="109728"/>
                    <a:pt x="109728" y="0"/>
                    <a:pt x="245110" y="0"/>
                  </a:cubicBezTo>
                  <a:lnTo>
                    <a:pt x="2115058" y="0"/>
                  </a:lnTo>
                  <a:cubicBezTo>
                    <a:pt x="2250440" y="0"/>
                    <a:pt x="2360168" y="109728"/>
                    <a:pt x="2360168" y="245110"/>
                  </a:cubicBezTo>
                  <a:lnTo>
                    <a:pt x="2360168" y="272161"/>
                  </a:lnTo>
                  <a:cubicBezTo>
                    <a:pt x="2360168" y="407543"/>
                    <a:pt x="2250440" y="517271"/>
                    <a:pt x="2115058" y="517271"/>
                  </a:cubicBezTo>
                  <a:lnTo>
                    <a:pt x="245110" y="517271"/>
                  </a:lnTo>
                  <a:cubicBezTo>
                    <a:pt x="109728" y="517271"/>
                    <a:pt x="0" y="407543"/>
                    <a:pt x="0" y="272161"/>
                  </a:cubicBezTo>
                  <a:close/>
                </a:path>
              </a:pathLst>
            </a:custGeom>
            <a:solidFill>
              <a:srgbClr val="CCFFEF"/>
            </a:solidFill>
          </p:spPr>
        </p:sp>
      </p:grpSp>
      <p:grpSp>
        <p:nvGrpSpPr>
          <p:cNvPr name="Group 8" id="8"/>
          <p:cNvGrpSpPr/>
          <p:nvPr/>
        </p:nvGrpSpPr>
        <p:grpSpPr>
          <a:xfrm rot="0">
            <a:off x="1028700" y="2487509"/>
            <a:ext cx="16230600" cy="6770791"/>
            <a:chOff x="0" y="0"/>
            <a:chExt cx="20895904" cy="8716979"/>
          </a:xfrm>
        </p:grpSpPr>
        <p:sp>
          <p:nvSpPr>
            <p:cNvPr name="Freeform 9" id="9"/>
            <p:cNvSpPr/>
            <p:nvPr/>
          </p:nvSpPr>
          <p:spPr>
            <a:xfrm flipH="false" flipV="false" rot="0">
              <a:off x="0" y="0"/>
              <a:ext cx="20895917" cy="8716946"/>
            </a:xfrm>
            <a:custGeom>
              <a:avLst/>
              <a:gdLst/>
              <a:ahLst/>
              <a:cxnLst/>
              <a:rect r="r" b="b" t="t" l="l"/>
              <a:pathLst>
                <a:path h="8716946" w="20895917">
                  <a:moveTo>
                    <a:pt x="0" y="0"/>
                  </a:moveTo>
                  <a:lnTo>
                    <a:pt x="20895917" y="0"/>
                  </a:lnTo>
                  <a:lnTo>
                    <a:pt x="20895917" y="8716946"/>
                  </a:lnTo>
                  <a:lnTo>
                    <a:pt x="0" y="8716946"/>
                  </a:lnTo>
                  <a:lnTo>
                    <a:pt x="0" y="0"/>
                  </a:lnTo>
                  <a:close/>
                </a:path>
              </a:pathLst>
            </a:custGeom>
            <a:blipFill>
              <a:blip r:embed="rId4"/>
              <a:stretch>
                <a:fillRect l="0" t="-5883" r="0" b="-5883"/>
              </a:stretch>
            </a:blipFill>
          </p:spPr>
        </p:sp>
      </p:grpSp>
      <p:sp>
        <p:nvSpPr>
          <p:cNvPr name="TextBox 10" id="10"/>
          <p:cNvSpPr txBox="true"/>
          <p:nvPr/>
        </p:nvSpPr>
        <p:spPr>
          <a:xfrm rot="0">
            <a:off x="1145800" y="979951"/>
            <a:ext cx="1433684" cy="266890"/>
          </a:xfrm>
          <a:prstGeom prst="rect">
            <a:avLst/>
          </a:prstGeom>
        </p:spPr>
        <p:txBody>
          <a:bodyPr anchor="t" rtlCol="false" tIns="0" lIns="0" bIns="0" rIns="0">
            <a:spAutoFit/>
          </a:bodyPr>
          <a:lstStyle/>
          <a:p>
            <a:pPr algn="ctr">
              <a:lnSpc>
                <a:spcPts val="1556"/>
              </a:lnSpc>
            </a:pPr>
            <a:r>
              <a:rPr lang="en-US" sz="1351" b="true">
                <a:solidFill>
                  <a:srgbClr val="4B4A4A"/>
                </a:solidFill>
                <a:latin typeface="Calibri (MS) Bold"/>
                <a:ea typeface="Calibri (MS) Bold"/>
                <a:cs typeface="Calibri (MS) Bold"/>
                <a:sym typeface="Calibri (MS) Bold"/>
              </a:rPr>
              <a:t>MODÉLISATION</a:t>
            </a:r>
          </a:p>
        </p:txBody>
      </p:sp>
      <p:sp>
        <p:nvSpPr>
          <p:cNvPr name="TextBox 11" id="11"/>
          <p:cNvSpPr txBox="true"/>
          <p:nvPr/>
        </p:nvSpPr>
        <p:spPr>
          <a:xfrm rot="0">
            <a:off x="992991" y="1259881"/>
            <a:ext cx="14126319" cy="957656"/>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RandomForest</a:t>
            </a:r>
            <a:r>
              <a:rPr lang="en-US" sz="5404" b="true">
                <a:solidFill>
                  <a:srgbClr val="006747"/>
                </a:solidFill>
                <a:latin typeface="Calibri (MS) Bold"/>
                <a:ea typeface="Calibri (MS) Bold"/>
                <a:cs typeface="Calibri (MS) Bold"/>
                <a:sym typeface="Calibri (MS) Bold"/>
              </a:rPr>
              <a:t> retenu — PR-AUC sur test, seuil F2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1208532"/>
            <a:ext cx="1273740" cy="431044"/>
            <a:chOff x="0" y="0"/>
            <a:chExt cx="1698320" cy="574726"/>
          </a:xfrm>
        </p:grpSpPr>
        <p:sp>
          <p:nvSpPr>
            <p:cNvPr name="Freeform 7" id="7"/>
            <p:cNvSpPr/>
            <p:nvPr/>
          </p:nvSpPr>
          <p:spPr>
            <a:xfrm flipH="false" flipV="false" rot="0">
              <a:off x="0" y="0"/>
              <a:ext cx="1698371" cy="574802"/>
            </a:xfrm>
            <a:custGeom>
              <a:avLst/>
              <a:gdLst/>
              <a:ahLst/>
              <a:cxnLst/>
              <a:rect r="r" b="b" t="t" l="l"/>
              <a:pathLst>
                <a:path h="574802" w="1698371">
                  <a:moveTo>
                    <a:pt x="0" y="272415"/>
                  </a:moveTo>
                  <a:cubicBezTo>
                    <a:pt x="0" y="121920"/>
                    <a:pt x="121920" y="0"/>
                    <a:pt x="272415" y="0"/>
                  </a:cubicBezTo>
                  <a:lnTo>
                    <a:pt x="1425956" y="0"/>
                  </a:lnTo>
                  <a:cubicBezTo>
                    <a:pt x="1576451" y="0"/>
                    <a:pt x="1698371" y="121920"/>
                    <a:pt x="1698371" y="272415"/>
                  </a:cubicBezTo>
                  <a:lnTo>
                    <a:pt x="1698371" y="302387"/>
                  </a:lnTo>
                  <a:cubicBezTo>
                    <a:pt x="1698371" y="452882"/>
                    <a:pt x="1576451" y="574802"/>
                    <a:pt x="1425956" y="574802"/>
                  </a:cubicBezTo>
                  <a:lnTo>
                    <a:pt x="272415" y="574802"/>
                  </a:lnTo>
                  <a:cubicBezTo>
                    <a:pt x="121920" y="574675"/>
                    <a:pt x="0" y="452755"/>
                    <a:pt x="0" y="302387"/>
                  </a:cubicBezTo>
                  <a:close/>
                </a:path>
              </a:pathLst>
            </a:custGeom>
            <a:solidFill>
              <a:srgbClr val="CCFFEF"/>
            </a:solidFill>
          </p:spPr>
        </p:sp>
      </p:grpSp>
      <p:sp>
        <p:nvSpPr>
          <p:cNvPr name="TextBox 8" id="8"/>
          <p:cNvSpPr txBox="true"/>
          <p:nvPr/>
        </p:nvSpPr>
        <p:spPr>
          <a:xfrm rot="0">
            <a:off x="1163231" y="1284056"/>
            <a:ext cx="1848355" cy="270472"/>
          </a:xfrm>
          <a:prstGeom prst="rect">
            <a:avLst/>
          </a:prstGeom>
        </p:spPr>
        <p:txBody>
          <a:bodyPr anchor="t" rtlCol="false" tIns="0" lIns="0" bIns="0" rIns="0">
            <a:spAutoFit/>
          </a:bodyPr>
          <a:lstStyle/>
          <a:p>
            <a:pPr algn="l">
              <a:lnSpc>
                <a:spcPts val="1988"/>
              </a:lnSpc>
            </a:pPr>
            <a:r>
              <a:rPr lang="en-US" sz="1726">
                <a:solidFill>
                  <a:srgbClr val="4B4A4A"/>
                </a:solidFill>
                <a:latin typeface="Arimo"/>
                <a:ea typeface="Arimo"/>
                <a:cs typeface="Arimo"/>
                <a:sym typeface="Arimo"/>
              </a:rPr>
              <a:t>ÉTHIQUE</a:t>
            </a:r>
          </a:p>
        </p:txBody>
      </p:sp>
      <p:grpSp>
        <p:nvGrpSpPr>
          <p:cNvPr name="Group 9" id="9"/>
          <p:cNvGrpSpPr/>
          <p:nvPr/>
        </p:nvGrpSpPr>
        <p:grpSpPr>
          <a:xfrm rot="0">
            <a:off x="2408520" y="1208532"/>
            <a:ext cx="2096938" cy="431044"/>
            <a:chOff x="0" y="0"/>
            <a:chExt cx="2795918" cy="574726"/>
          </a:xfrm>
        </p:grpSpPr>
        <p:sp>
          <p:nvSpPr>
            <p:cNvPr name="Freeform 10" id="10"/>
            <p:cNvSpPr/>
            <p:nvPr/>
          </p:nvSpPr>
          <p:spPr>
            <a:xfrm flipH="false" flipV="false" rot="0">
              <a:off x="0" y="0"/>
              <a:ext cx="2795905" cy="574802"/>
            </a:xfrm>
            <a:custGeom>
              <a:avLst/>
              <a:gdLst/>
              <a:ahLst/>
              <a:cxnLst/>
              <a:rect r="r" b="b" t="t" l="l"/>
              <a:pathLst>
                <a:path h="574802" w="2795905">
                  <a:moveTo>
                    <a:pt x="0" y="272415"/>
                  </a:moveTo>
                  <a:cubicBezTo>
                    <a:pt x="0" y="121920"/>
                    <a:pt x="121920" y="0"/>
                    <a:pt x="272415" y="0"/>
                  </a:cubicBezTo>
                  <a:lnTo>
                    <a:pt x="2523490" y="0"/>
                  </a:lnTo>
                  <a:cubicBezTo>
                    <a:pt x="2673985" y="0"/>
                    <a:pt x="2795905" y="121920"/>
                    <a:pt x="2795905" y="272415"/>
                  </a:cubicBezTo>
                  <a:lnTo>
                    <a:pt x="2795905" y="302387"/>
                  </a:lnTo>
                  <a:cubicBezTo>
                    <a:pt x="2795905" y="452882"/>
                    <a:pt x="2673985" y="574802"/>
                    <a:pt x="2523490" y="574802"/>
                  </a:cubicBezTo>
                  <a:lnTo>
                    <a:pt x="272415" y="574802"/>
                  </a:lnTo>
                  <a:cubicBezTo>
                    <a:pt x="121920" y="574675"/>
                    <a:pt x="0" y="452755"/>
                    <a:pt x="0" y="302387"/>
                  </a:cubicBezTo>
                  <a:close/>
                </a:path>
              </a:pathLst>
            </a:custGeom>
            <a:solidFill>
              <a:srgbClr val="CCFFEF"/>
            </a:solidFill>
          </p:spPr>
        </p:sp>
      </p:grpSp>
      <p:sp>
        <p:nvSpPr>
          <p:cNvPr name="TextBox 11" id="11"/>
          <p:cNvSpPr txBox="true"/>
          <p:nvPr/>
        </p:nvSpPr>
        <p:spPr>
          <a:xfrm rot="0">
            <a:off x="2578760" y="1284056"/>
            <a:ext cx="2671553" cy="270472"/>
          </a:xfrm>
          <a:prstGeom prst="rect">
            <a:avLst/>
          </a:prstGeom>
        </p:spPr>
        <p:txBody>
          <a:bodyPr anchor="t" rtlCol="false" tIns="0" lIns="0" bIns="0" rIns="0">
            <a:spAutoFit/>
          </a:bodyPr>
          <a:lstStyle/>
          <a:p>
            <a:pPr algn="l">
              <a:lnSpc>
                <a:spcPts val="1988"/>
              </a:lnSpc>
            </a:pPr>
            <a:r>
              <a:rPr lang="en-US" sz="1726">
                <a:solidFill>
                  <a:srgbClr val="4B4A4A"/>
                </a:solidFill>
                <a:latin typeface="Arimo"/>
                <a:ea typeface="Arimo"/>
                <a:cs typeface="Arimo"/>
                <a:sym typeface="Arimo"/>
              </a:rPr>
              <a:t>TRANSPARENCE</a:t>
            </a:r>
          </a:p>
        </p:txBody>
      </p:sp>
      <p:sp>
        <p:nvSpPr>
          <p:cNvPr name="TextBox 12" id="12"/>
          <p:cNvSpPr txBox="true"/>
          <p:nvPr/>
        </p:nvSpPr>
        <p:spPr>
          <a:xfrm rot="0">
            <a:off x="992991" y="1610201"/>
            <a:ext cx="16315868" cy="102953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Équité : on mesure, on ne cache pas</a:t>
            </a:r>
          </a:p>
        </p:txBody>
      </p:sp>
      <p:sp>
        <p:nvSpPr>
          <p:cNvPr name="TextBox 13" id="13"/>
          <p:cNvSpPr txBox="true"/>
          <p:nvPr/>
        </p:nvSpPr>
        <p:spPr>
          <a:xfrm rot="0">
            <a:off x="992991" y="2941453"/>
            <a:ext cx="16315868" cy="1031796"/>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L'équité est au cœur de notre démarche. Nous ne nous contentons pas de prédire, nous vous donnons les outils pour mesurer et </a:t>
            </a:r>
          </a:p>
          <a:p>
            <a:pPr algn="l">
              <a:lnSpc>
                <a:spcPts val="3354"/>
              </a:lnSpc>
            </a:pPr>
            <a:r>
              <a:rPr lang="en-US" sz="2101">
                <a:solidFill>
                  <a:srgbClr val="4B4A4A"/>
                </a:solidFill>
                <a:latin typeface="Calibri (MS)"/>
                <a:ea typeface="Calibri (MS)"/>
                <a:cs typeface="Calibri (MS)"/>
                <a:sym typeface="Calibri (MS)"/>
              </a:rPr>
              <a:t>corriger les inégalités potentielles, renforçant ainsi la confiance de vos équipes et de vos instances.</a:t>
            </a:r>
          </a:p>
        </p:txBody>
      </p:sp>
      <p:grpSp>
        <p:nvGrpSpPr>
          <p:cNvPr name="Group 14" id="14"/>
          <p:cNvGrpSpPr/>
          <p:nvPr/>
        </p:nvGrpSpPr>
        <p:grpSpPr>
          <a:xfrm rot="0">
            <a:off x="519522" y="4696635"/>
            <a:ext cx="5520242" cy="4225738"/>
            <a:chOff x="0" y="0"/>
            <a:chExt cx="7360323" cy="5634317"/>
          </a:xfrm>
        </p:grpSpPr>
        <p:sp>
          <p:nvSpPr>
            <p:cNvPr name="Freeform 15" id="15"/>
            <p:cNvSpPr/>
            <p:nvPr/>
          </p:nvSpPr>
          <p:spPr>
            <a:xfrm flipH="false" flipV="false" rot="0">
              <a:off x="0" y="0"/>
              <a:ext cx="7360285" cy="5634228"/>
            </a:xfrm>
            <a:custGeom>
              <a:avLst/>
              <a:gdLst/>
              <a:ahLst/>
              <a:cxnLst/>
              <a:rect r="r" b="b" t="t" l="l"/>
              <a:pathLst>
                <a:path h="5634228" w="7360285">
                  <a:moveTo>
                    <a:pt x="0" y="939038"/>
                  </a:moveTo>
                  <a:cubicBezTo>
                    <a:pt x="0" y="420497"/>
                    <a:pt x="420497" y="0"/>
                    <a:pt x="939038" y="0"/>
                  </a:cubicBezTo>
                  <a:lnTo>
                    <a:pt x="6421247" y="0"/>
                  </a:lnTo>
                  <a:cubicBezTo>
                    <a:pt x="6939915" y="0"/>
                    <a:pt x="7360285" y="420497"/>
                    <a:pt x="7360285" y="939038"/>
                  </a:cubicBezTo>
                  <a:lnTo>
                    <a:pt x="7360285" y="4695190"/>
                  </a:lnTo>
                  <a:cubicBezTo>
                    <a:pt x="7360285" y="5213858"/>
                    <a:pt x="6939788" y="5634228"/>
                    <a:pt x="6421247" y="5634228"/>
                  </a:cubicBezTo>
                  <a:lnTo>
                    <a:pt x="939038" y="5634228"/>
                  </a:lnTo>
                  <a:cubicBezTo>
                    <a:pt x="420497" y="5634355"/>
                    <a:pt x="0" y="5213858"/>
                    <a:pt x="0" y="4695190"/>
                  </a:cubicBezTo>
                  <a:close/>
                </a:path>
              </a:pathLst>
            </a:custGeom>
            <a:solidFill>
              <a:srgbClr val="E7FAF3"/>
            </a:solidFill>
          </p:spPr>
        </p:sp>
      </p:grpSp>
      <p:grpSp>
        <p:nvGrpSpPr>
          <p:cNvPr name="Group 16" id="16"/>
          <p:cNvGrpSpPr/>
          <p:nvPr/>
        </p:nvGrpSpPr>
        <p:grpSpPr>
          <a:xfrm rot="0">
            <a:off x="2851156" y="4266724"/>
            <a:ext cx="855059" cy="864594"/>
            <a:chOff x="0" y="0"/>
            <a:chExt cx="1140079" cy="1152792"/>
          </a:xfrm>
        </p:grpSpPr>
        <p:sp>
          <p:nvSpPr>
            <p:cNvPr name="Freeform 17" id="17"/>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18" id="18"/>
          <p:cNvSpPr txBox="true"/>
          <p:nvPr/>
        </p:nvSpPr>
        <p:spPr>
          <a:xfrm rot="0">
            <a:off x="1118159" y="5271497"/>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Audit Automatique</a:t>
            </a:r>
          </a:p>
        </p:txBody>
      </p:sp>
      <p:sp>
        <p:nvSpPr>
          <p:cNvPr name="TextBox 19" id="19"/>
          <p:cNvSpPr txBox="true"/>
          <p:nvPr/>
        </p:nvSpPr>
        <p:spPr>
          <a:xfrm rot="0">
            <a:off x="1118159" y="6203794"/>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Un audit constant et automatisé des </a:t>
            </a:r>
          </a:p>
          <a:p>
            <a:pPr algn="l">
              <a:lnSpc>
                <a:spcPts val="2875"/>
              </a:lnSpc>
            </a:pPr>
            <a:r>
              <a:rPr lang="en-US" sz="1801">
                <a:solidFill>
                  <a:srgbClr val="4B4A4A"/>
                </a:solidFill>
                <a:latin typeface="Calibri (MS)"/>
                <a:ea typeface="Calibri (MS)"/>
                <a:cs typeface="Calibri (MS)"/>
                <a:sym typeface="Calibri (MS)"/>
              </a:rPr>
              <a:t>performances par sexe, âge et territoire, </a:t>
            </a:r>
          </a:p>
          <a:p>
            <a:pPr algn="l">
              <a:lnSpc>
                <a:spcPts val="2875"/>
              </a:lnSpc>
            </a:pPr>
            <a:r>
              <a:rPr lang="en-US" sz="1801">
                <a:solidFill>
                  <a:srgbClr val="4B4A4A"/>
                </a:solidFill>
                <a:latin typeface="Calibri (MS)"/>
                <a:ea typeface="Calibri (MS)"/>
                <a:cs typeface="Calibri (MS)"/>
                <a:sym typeface="Calibri (MS)"/>
              </a:rPr>
              <a:t>pour une vision objective des éventuels </a:t>
            </a:r>
          </a:p>
          <a:p>
            <a:pPr algn="l">
              <a:lnSpc>
                <a:spcPts val="2875"/>
              </a:lnSpc>
            </a:pPr>
            <a:r>
              <a:rPr lang="en-US" sz="1801">
                <a:solidFill>
                  <a:srgbClr val="4B4A4A"/>
                </a:solidFill>
                <a:latin typeface="Calibri (MS)"/>
                <a:ea typeface="Calibri (MS)"/>
                <a:cs typeface="Calibri (MS)"/>
                <a:sym typeface="Calibri (MS)"/>
              </a:rPr>
              <a:t>déséquilibres.</a:t>
            </a:r>
          </a:p>
        </p:txBody>
      </p:sp>
      <p:sp>
        <p:nvSpPr>
          <p:cNvPr name="Freeform 20" id="20" descr="flow chart"/>
          <p:cNvSpPr/>
          <p:nvPr/>
        </p:nvSpPr>
        <p:spPr>
          <a:xfrm flipH="false" flipV="false" rot="0">
            <a:off x="3056106" y="4475007"/>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1" id="21"/>
          <p:cNvGrpSpPr/>
          <p:nvPr/>
        </p:nvGrpSpPr>
        <p:grpSpPr>
          <a:xfrm rot="0">
            <a:off x="6192279" y="4742393"/>
            <a:ext cx="5583155" cy="4179027"/>
            <a:chOff x="0" y="0"/>
            <a:chExt cx="7444207" cy="5572036"/>
          </a:xfrm>
        </p:grpSpPr>
        <p:sp>
          <p:nvSpPr>
            <p:cNvPr name="Freeform 22" id="22"/>
            <p:cNvSpPr/>
            <p:nvPr/>
          </p:nvSpPr>
          <p:spPr>
            <a:xfrm flipH="false" flipV="false" rot="0">
              <a:off x="0" y="0"/>
              <a:ext cx="7444232" cy="5572125"/>
            </a:xfrm>
            <a:custGeom>
              <a:avLst/>
              <a:gdLst/>
              <a:ahLst/>
              <a:cxnLst/>
              <a:rect r="r" b="b" t="t" l="l"/>
              <a:pathLst>
                <a:path h="5572125" w="7444232">
                  <a:moveTo>
                    <a:pt x="0" y="928751"/>
                  </a:moveTo>
                  <a:cubicBezTo>
                    <a:pt x="0" y="415798"/>
                    <a:pt x="415798" y="0"/>
                    <a:pt x="928751" y="0"/>
                  </a:cubicBezTo>
                  <a:lnTo>
                    <a:pt x="6515481" y="0"/>
                  </a:lnTo>
                  <a:cubicBezTo>
                    <a:pt x="7028435" y="0"/>
                    <a:pt x="7444232" y="415798"/>
                    <a:pt x="7444232" y="928751"/>
                  </a:cubicBezTo>
                  <a:lnTo>
                    <a:pt x="7444232" y="4643374"/>
                  </a:lnTo>
                  <a:cubicBezTo>
                    <a:pt x="7444232" y="5156327"/>
                    <a:pt x="7028435" y="5572125"/>
                    <a:pt x="6515481" y="5572125"/>
                  </a:cubicBezTo>
                  <a:lnTo>
                    <a:pt x="928751" y="5572125"/>
                  </a:lnTo>
                  <a:cubicBezTo>
                    <a:pt x="415798" y="5571998"/>
                    <a:pt x="0" y="5156200"/>
                    <a:pt x="0" y="4643374"/>
                  </a:cubicBezTo>
                  <a:close/>
                </a:path>
              </a:pathLst>
            </a:custGeom>
            <a:solidFill>
              <a:srgbClr val="E7FAF3"/>
            </a:solidFill>
          </p:spPr>
        </p:sp>
      </p:grpSp>
      <p:grpSp>
        <p:nvGrpSpPr>
          <p:cNvPr name="Group 23" id="23"/>
          <p:cNvGrpSpPr/>
          <p:nvPr/>
        </p:nvGrpSpPr>
        <p:grpSpPr>
          <a:xfrm rot="0">
            <a:off x="8550602" y="4316292"/>
            <a:ext cx="864594" cy="855059"/>
            <a:chOff x="0" y="0"/>
            <a:chExt cx="1152792" cy="1140079"/>
          </a:xfrm>
        </p:grpSpPr>
        <p:sp>
          <p:nvSpPr>
            <p:cNvPr name="Freeform 24" id="24"/>
            <p:cNvSpPr/>
            <p:nvPr/>
          </p:nvSpPr>
          <p:spPr>
            <a:xfrm flipH="false" flipV="false" rot="0">
              <a:off x="0" y="0"/>
              <a:ext cx="1152779" cy="1140079"/>
            </a:xfrm>
            <a:custGeom>
              <a:avLst/>
              <a:gdLst/>
              <a:ahLst/>
              <a:cxnLst/>
              <a:rect r="r" b="b" t="t" l="l"/>
              <a:pathLst>
                <a:path h="1140079" w="1152779">
                  <a:moveTo>
                    <a:pt x="0" y="570103"/>
                  </a:moveTo>
                  <a:cubicBezTo>
                    <a:pt x="0" y="255270"/>
                    <a:pt x="258064" y="0"/>
                    <a:pt x="576453" y="0"/>
                  </a:cubicBezTo>
                  <a:cubicBezTo>
                    <a:pt x="894842" y="0"/>
                    <a:pt x="1152779" y="255270"/>
                    <a:pt x="1152779" y="570103"/>
                  </a:cubicBezTo>
                  <a:cubicBezTo>
                    <a:pt x="1152779" y="884936"/>
                    <a:pt x="894715" y="1140079"/>
                    <a:pt x="576453" y="1140079"/>
                  </a:cubicBezTo>
                  <a:cubicBezTo>
                    <a:pt x="258191" y="1140079"/>
                    <a:pt x="0" y="884809"/>
                    <a:pt x="0" y="570103"/>
                  </a:cubicBezTo>
                  <a:close/>
                </a:path>
              </a:pathLst>
            </a:custGeom>
            <a:solidFill>
              <a:srgbClr val="006747"/>
            </a:solidFill>
          </p:spPr>
        </p:sp>
      </p:grpSp>
      <p:sp>
        <p:nvSpPr>
          <p:cNvPr name="TextBox 25" id="25"/>
          <p:cNvSpPr txBox="true"/>
          <p:nvPr/>
        </p:nvSpPr>
        <p:spPr>
          <a:xfrm rot="0">
            <a:off x="6797592" y="5309626"/>
            <a:ext cx="4652791" cy="82259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Visibilité des Écarts</a:t>
            </a:r>
          </a:p>
        </p:txBody>
      </p:sp>
      <p:sp>
        <p:nvSpPr>
          <p:cNvPr name="TextBox 26" id="26"/>
          <p:cNvSpPr txBox="true"/>
          <p:nvPr/>
        </p:nvSpPr>
        <p:spPr>
          <a:xfrm rot="0">
            <a:off x="6797592" y="6232398"/>
            <a:ext cx="4652791" cy="483213"/>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Les écarts de performance sont mis en </a:t>
            </a:r>
          </a:p>
          <a:p>
            <a:pPr algn="l">
              <a:lnSpc>
                <a:spcPts val="2875"/>
              </a:lnSpc>
            </a:pPr>
            <a:r>
              <a:rPr lang="en-US" sz="1801">
                <a:solidFill>
                  <a:srgbClr val="4B4A4A"/>
                </a:solidFill>
                <a:latin typeface="Calibri (MS)"/>
                <a:ea typeface="Calibri (MS)"/>
                <a:cs typeface="Calibri (MS)"/>
                <a:sym typeface="Calibri (MS)"/>
              </a:rPr>
              <a:t>lumière, rendant ces informations cruciales </a:t>
            </a:r>
          </a:p>
          <a:p>
            <a:pPr algn="l">
              <a:lnSpc>
                <a:spcPts val="2875"/>
              </a:lnSpc>
            </a:pPr>
            <a:r>
              <a:rPr lang="en-US" sz="1801">
                <a:solidFill>
                  <a:srgbClr val="4B4A4A"/>
                </a:solidFill>
                <a:latin typeface="Calibri (MS)"/>
                <a:ea typeface="Calibri (MS)"/>
                <a:cs typeface="Calibri (MS)"/>
                <a:sym typeface="Calibri (MS)"/>
              </a:rPr>
              <a:t>visibles et actionnables pour vos comités </a:t>
            </a:r>
          </a:p>
          <a:p>
            <a:pPr algn="l">
              <a:lnSpc>
                <a:spcPts val="2875"/>
              </a:lnSpc>
            </a:pPr>
            <a:r>
              <a:rPr lang="en-US" sz="1801">
                <a:solidFill>
                  <a:srgbClr val="4B4A4A"/>
                </a:solidFill>
                <a:latin typeface="Calibri (MS)"/>
                <a:ea typeface="Calibri (MS)"/>
                <a:cs typeface="Calibri (MS)"/>
                <a:sym typeface="Calibri (MS)"/>
              </a:rPr>
              <a:t>qualité et d'éthique.</a:t>
            </a:r>
          </a:p>
        </p:txBody>
      </p:sp>
      <p:sp>
        <p:nvSpPr>
          <p:cNvPr name="Freeform 27" id="27" descr="AI"/>
          <p:cNvSpPr/>
          <p:nvPr/>
        </p:nvSpPr>
        <p:spPr>
          <a:xfrm flipH="false" flipV="false" rot="0">
            <a:off x="8757456" y="4518384"/>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8" id="28"/>
          <p:cNvGrpSpPr/>
          <p:nvPr/>
        </p:nvGrpSpPr>
        <p:grpSpPr>
          <a:xfrm rot="0">
            <a:off x="12017559" y="4756690"/>
            <a:ext cx="5520242" cy="4164730"/>
            <a:chOff x="0" y="0"/>
            <a:chExt cx="7360323" cy="5552973"/>
          </a:xfrm>
        </p:grpSpPr>
        <p:sp>
          <p:nvSpPr>
            <p:cNvPr name="Freeform 29" id="29"/>
            <p:cNvSpPr/>
            <p:nvPr/>
          </p:nvSpPr>
          <p:spPr>
            <a:xfrm flipH="false" flipV="false" rot="0">
              <a:off x="0" y="0"/>
              <a:ext cx="7360412" cy="5553075"/>
            </a:xfrm>
            <a:custGeom>
              <a:avLst/>
              <a:gdLst/>
              <a:ahLst/>
              <a:cxnLst/>
              <a:rect r="r" b="b" t="t" l="l"/>
              <a:pathLst>
                <a:path h="5553075" w="7360412">
                  <a:moveTo>
                    <a:pt x="0" y="925576"/>
                  </a:moveTo>
                  <a:cubicBezTo>
                    <a:pt x="0" y="414401"/>
                    <a:pt x="414401" y="0"/>
                    <a:pt x="925576" y="0"/>
                  </a:cubicBezTo>
                  <a:lnTo>
                    <a:pt x="6434836" y="0"/>
                  </a:lnTo>
                  <a:cubicBezTo>
                    <a:pt x="6946011" y="0"/>
                    <a:pt x="7360412" y="414401"/>
                    <a:pt x="7360412" y="925576"/>
                  </a:cubicBezTo>
                  <a:lnTo>
                    <a:pt x="7360412" y="4627499"/>
                  </a:lnTo>
                  <a:cubicBezTo>
                    <a:pt x="7360412" y="5138674"/>
                    <a:pt x="6946011" y="5553075"/>
                    <a:pt x="6434836" y="5553075"/>
                  </a:cubicBezTo>
                  <a:lnTo>
                    <a:pt x="925576" y="5553075"/>
                  </a:lnTo>
                  <a:cubicBezTo>
                    <a:pt x="414401" y="5552948"/>
                    <a:pt x="0" y="5138547"/>
                    <a:pt x="0" y="4627499"/>
                  </a:cubicBezTo>
                  <a:close/>
                </a:path>
              </a:pathLst>
            </a:custGeom>
            <a:solidFill>
              <a:srgbClr val="E7FAF3"/>
            </a:solidFill>
          </p:spPr>
        </p:sp>
      </p:grpSp>
      <p:grpSp>
        <p:nvGrpSpPr>
          <p:cNvPr name="Group 30" id="30"/>
          <p:cNvGrpSpPr/>
          <p:nvPr/>
        </p:nvGrpSpPr>
        <p:grpSpPr>
          <a:xfrm rot="0">
            <a:off x="14349193" y="4326779"/>
            <a:ext cx="855059" cy="864594"/>
            <a:chOff x="0" y="0"/>
            <a:chExt cx="1140079" cy="1152792"/>
          </a:xfrm>
        </p:grpSpPr>
        <p:sp>
          <p:nvSpPr>
            <p:cNvPr name="Freeform 31" id="31"/>
            <p:cNvSpPr/>
            <p:nvPr/>
          </p:nvSpPr>
          <p:spPr>
            <a:xfrm flipH="false" flipV="false" rot="0">
              <a:off x="0" y="0"/>
              <a:ext cx="1140079" cy="1152779"/>
            </a:xfrm>
            <a:custGeom>
              <a:avLst/>
              <a:gdLst/>
              <a:ahLst/>
              <a:cxnLst/>
              <a:rect r="r" b="b" t="t" l="l"/>
              <a:pathLst>
                <a:path h="1152779" w="1140079">
                  <a:moveTo>
                    <a:pt x="0" y="576453"/>
                  </a:moveTo>
                  <a:cubicBezTo>
                    <a:pt x="0" y="258064"/>
                    <a:pt x="255270" y="0"/>
                    <a:pt x="570103" y="0"/>
                  </a:cubicBezTo>
                  <a:cubicBezTo>
                    <a:pt x="884936" y="0"/>
                    <a:pt x="1140079" y="258064"/>
                    <a:pt x="1140079" y="576453"/>
                  </a:cubicBezTo>
                  <a:cubicBezTo>
                    <a:pt x="1140079" y="894842"/>
                    <a:pt x="884809" y="1152779"/>
                    <a:pt x="570103" y="1152779"/>
                  </a:cubicBezTo>
                  <a:cubicBezTo>
                    <a:pt x="255397" y="1152779"/>
                    <a:pt x="0" y="894715"/>
                    <a:pt x="0" y="576453"/>
                  </a:cubicBezTo>
                  <a:close/>
                </a:path>
              </a:pathLst>
            </a:custGeom>
            <a:solidFill>
              <a:srgbClr val="006747"/>
            </a:solidFill>
          </p:spPr>
        </p:sp>
      </p:grpSp>
      <p:sp>
        <p:nvSpPr>
          <p:cNvPr name="TextBox 32" id="32"/>
          <p:cNvSpPr txBox="true"/>
          <p:nvPr/>
        </p:nvSpPr>
        <p:spPr>
          <a:xfrm rot="0">
            <a:off x="12616196" y="5331552"/>
            <a:ext cx="4600356" cy="830228"/>
          </a:xfrm>
          <a:prstGeom prst="rect">
            <a:avLst/>
          </a:prstGeom>
        </p:spPr>
        <p:txBody>
          <a:bodyPr anchor="t" rtlCol="false" tIns="0" lIns="0" bIns="0" rIns="0">
            <a:spAutoFit/>
          </a:bodyPr>
          <a:lstStyle/>
          <a:p>
            <a:pPr algn="l">
              <a:lnSpc>
                <a:spcPts val="3372"/>
              </a:lnSpc>
            </a:pPr>
            <a:r>
              <a:rPr lang="en-US" sz="2702" b="true">
                <a:solidFill>
                  <a:srgbClr val="4B4A4A"/>
                </a:solidFill>
                <a:latin typeface="Calibri (MS) Bold"/>
                <a:ea typeface="Calibri (MS) Bold"/>
                <a:cs typeface="Calibri (MS) Bold"/>
                <a:sym typeface="Calibri (MS) Bold"/>
              </a:rPr>
              <a:t>Crédibilité Renforcée</a:t>
            </a:r>
          </a:p>
        </p:txBody>
      </p:sp>
      <p:sp>
        <p:nvSpPr>
          <p:cNvPr name="TextBox 33" id="33"/>
          <p:cNvSpPr txBox="true"/>
          <p:nvPr/>
        </p:nvSpPr>
        <p:spPr>
          <a:xfrm rot="0">
            <a:off x="12616196" y="6263850"/>
            <a:ext cx="4600356" cy="487975"/>
          </a:xfrm>
          <a:prstGeom prst="rect">
            <a:avLst/>
          </a:prstGeom>
        </p:spPr>
        <p:txBody>
          <a:bodyPr anchor="t" rtlCol="false" tIns="0" lIns="0" bIns="0" rIns="0">
            <a:spAutoFit/>
          </a:bodyPr>
          <a:lstStyle/>
          <a:p>
            <a:pPr algn="l">
              <a:lnSpc>
                <a:spcPts val="2875"/>
              </a:lnSpc>
            </a:pPr>
            <a:r>
              <a:rPr lang="en-US" sz="1801">
                <a:solidFill>
                  <a:srgbClr val="4B4A4A"/>
                </a:solidFill>
                <a:latin typeface="Calibri (MS)"/>
                <a:ea typeface="Calibri (MS)"/>
                <a:cs typeface="Calibri (MS)"/>
                <a:sym typeface="Calibri (MS)"/>
              </a:rPr>
              <a:t>Cette transparence totale n'est pas seulement </a:t>
            </a:r>
          </a:p>
          <a:p>
            <a:pPr algn="l">
              <a:lnSpc>
                <a:spcPts val="2875"/>
              </a:lnSpc>
            </a:pPr>
            <a:r>
              <a:rPr lang="en-US" sz="1801">
                <a:solidFill>
                  <a:srgbClr val="4B4A4A"/>
                </a:solidFill>
                <a:latin typeface="Calibri (MS)"/>
                <a:ea typeface="Calibri (MS)"/>
                <a:cs typeface="Calibri (MS)"/>
                <a:sym typeface="Calibri (MS)"/>
              </a:rPr>
              <a:t>une obligation, c'est un atout majeur pour </a:t>
            </a:r>
          </a:p>
          <a:p>
            <a:pPr algn="l">
              <a:lnSpc>
                <a:spcPts val="2875"/>
              </a:lnSpc>
            </a:pPr>
            <a:r>
              <a:rPr lang="en-US" sz="1801">
                <a:solidFill>
                  <a:srgbClr val="4B4A4A"/>
                </a:solidFill>
                <a:latin typeface="Calibri (MS)"/>
                <a:ea typeface="Calibri (MS)"/>
                <a:cs typeface="Calibri (MS)"/>
                <a:sym typeface="Calibri (MS)"/>
              </a:rPr>
              <a:t>construire et maintenir la crédibilité auprès des </a:t>
            </a:r>
          </a:p>
          <a:p>
            <a:pPr algn="l">
              <a:lnSpc>
                <a:spcPts val="2875"/>
              </a:lnSpc>
            </a:pPr>
            <a:r>
              <a:rPr lang="en-US" sz="1801">
                <a:solidFill>
                  <a:srgbClr val="4B4A4A"/>
                </a:solidFill>
                <a:latin typeface="Calibri (MS)"/>
                <a:ea typeface="Calibri (MS)"/>
                <a:cs typeface="Calibri (MS)"/>
                <a:sym typeface="Calibri (MS)"/>
              </a:rPr>
              <a:t>médecins, du personnel soignant et de la </a:t>
            </a:r>
          </a:p>
          <a:p>
            <a:pPr algn="l">
              <a:lnSpc>
                <a:spcPts val="2875"/>
              </a:lnSpc>
            </a:pPr>
            <a:r>
              <a:rPr lang="en-US" sz="1801">
                <a:solidFill>
                  <a:srgbClr val="4B4A4A"/>
                </a:solidFill>
                <a:latin typeface="Calibri (MS)"/>
                <a:ea typeface="Calibri (MS)"/>
                <a:cs typeface="Calibri (MS)"/>
                <a:sym typeface="Calibri (MS)"/>
              </a:rPr>
              <a:t>direction.</a:t>
            </a:r>
          </a:p>
        </p:txBody>
      </p:sp>
      <p:sp>
        <p:nvSpPr>
          <p:cNvPr name="Freeform 34" id="34" descr="inspiration"/>
          <p:cNvSpPr/>
          <p:nvPr/>
        </p:nvSpPr>
        <p:spPr>
          <a:xfrm flipH="false" flipV="false" rot="0">
            <a:off x="14554143" y="4535538"/>
            <a:ext cx="447075" cy="447075"/>
          </a:xfrm>
          <a:custGeom>
            <a:avLst/>
            <a:gdLst/>
            <a:ahLst/>
            <a:cxnLst/>
            <a:rect r="r" b="b" t="t" l="l"/>
            <a:pathLst>
              <a:path h="447075" w="447075">
                <a:moveTo>
                  <a:pt x="0" y="0"/>
                </a:moveTo>
                <a:lnTo>
                  <a:pt x="447075" y="0"/>
                </a:lnTo>
                <a:lnTo>
                  <a:pt x="447075" y="447075"/>
                </a:lnTo>
                <a:lnTo>
                  <a:pt x="0" y="4470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992991" y="822027"/>
            <a:ext cx="2215201" cy="388001"/>
            <a:chOff x="0" y="0"/>
            <a:chExt cx="2953601" cy="517334"/>
          </a:xfrm>
        </p:grpSpPr>
        <p:sp>
          <p:nvSpPr>
            <p:cNvPr name="Freeform 7" id="7"/>
            <p:cNvSpPr/>
            <p:nvPr/>
          </p:nvSpPr>
          <p:spPr>
            <a:xfrm flipH="false" flipV="false" rot="0">
              <a:off x="0" y="0"/>
              <a:ext cx="2953512" cy="517271"/>
            </a:xfrm>
            <a:custGeom>
              <a:avLst/>
              <a:gdLst/>
              <a:ahLst/>
              <a:cxnLst/>
              <a:rect r="r" b="b" t="t" l="l"/>
              <a:pathLst>
                <a:path h="517271" w="2953512">
                  <a:moveTo>
                    <a:pt x="0" y="245110"/>
                  </a:moveTo>
                  <a:cubicBezTo>
                    <a:pt x="0" y="109728"/>
                    <a:pt x="109728" y="0"/>
                    <a:pt x="245110" y="0"/>
                  </a:cubicBezTo>
                  <a:lnTo>
                    <a:pt x="2708402" y="0"/>
                  </a:lnTo>
                  <a:cubicBezTo>
                    <a:pt x="2843784" y="0"/>
                    <a:pt x="2953512" y="109728"/>
                    <a:pt x="2953512" y="245110"/>
                  </a:cubicBezTo>
                  <a:lnTo>
                    <a:pt x="2953512" y="272161"/>
                  </a:lnTo>
                  <a:cubicBezTo>
                    <a:pt x="2953512" y="407543"/>
                    <a:pt x="2843784" y="517271"/>
                    <a:pt x="2708402" y="517271"/>
                  </a:cubicBezTo>
                  <a:lnTo>
                    <a:pt x="245110" y="517271"/>
                  </a:lnTo>
                  <a:cubicBezTo>
                    <a:pt x="109728" y="517271"/>
                    <a:pt x="0" y="407543"/>
                    <a:pt x="0" y="272161"/>
                  </a:cubicBezTo>
                  <a:close/>
                </a:path>
              </a:pathLst>
            </a:custGeom>
            <a:solidFill>
              <a:srgbClr val="CCFFEF"/>
            </a:solidFill>
          </p:spPr>
        </p:sp>
      </p:grpSp>
      <p:sp>
        <p:nvSpPr>
          <p:cNvPr name="TextBox 8" id="8"/>
          <p:cNvSpPr txBox="true"/>
          <p:nvPr/>
        </p:nvSpPr>
        <p:spPr>
          <a:xfrm rot="0">
            <a:off x="1146096" y="889054"/>
            <a:ext cx="2824067" cy="244411"/>
          </a:xfrm>
          <a:prstGeom prst="rect">
            <a:avLst/>
          </a:prstGeom>
        </p:spPr>
        <p:txBody>
          <a:bodyPr anchor="t" rtlCol="false" tIns="0" lIns="0" bIns="0" rIns="0">
            <a:spAutoFit/>
          </a:bodyPr>
          <a:lstStyle/>
          <a:p>
            <a:pPr algn="l">
              <a:lnSpc>
                <a:spcPts val="1815"/>
              </a:lnSpc>
            </a:pPr>
            <a:r>
              <a:rPr lang="en-US" sz="1576">
                <a:solidFill>
                  <a:srgbClr val="4B4A4A"/>
                </a:solidFill>
                <a:latin typeface="Arimo"/>
                <a:ea typeface="Arimo"/>
                <a:cs typeface="Arimo"/>
                <a:sym typeface="Arimo"/>
              </a:rPr>
              <a:t>SCÉNARIO D'USAGE</a:t>
            </a:r>
          </a:p>
        </p:txBody>
      </p:sp>
      <p:sp>
        <p:nvSpPr>
          <p:cNvPr name="TextBox 9" id="9"/>
          <p:cNvSpPr txBox="true"/>
          <p:nvPr/>
        </p:nvSpPr>
        <p:spPr>
          <a:xfrm rot="0">
            <a:off x="992991" y="1159050"/>
            <a:ext cx="16315868" cy="94091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Scénario d'usage : Le coordinateur au quotidien</a:t>
            </a:r>
          </a:p>
        </p:txBody>
      </p:sp>
      <p:sp>
        <p:nvSpPr>
          <p:cNvPr name="TextBox 10" id="10"/>
          <p:cNvSpPr txBox="true"/>
          <p:nvPr/>
        </p:nvSpPr>
        <p:spPr>
          <a:xfrm rot="0">
            <a:off x="992991" y="2320804"/>
            <a:ext cx="16315868" cy="900122"/>
          </a:xfrm>
          <a:prstGeom prst="rect">
            <a:avLst/>
          </a:prstGeom>
        </p:spPr>
        <p:txBody>
          <a:bodyPr anchor="t" rtlCol="false" tIns="0" lIns="0" bIns="0" rIns="0">
            <a:spAutoFit/>
          </a:bodyPr>
          <a:lstStyle/>
          <a:p>
            <a:pPr algn="l">
              <a:lnSpc>
                <a:spcPts val="3354"/>
              </a:lnSpc>
            </a:pPr>
            <a:r>
              <a:rPr lang="en-US" sz="2101">
                <a:solidFill>
                  <a:srgbClr val="4B4A4A"/>
                </a:solidFill>
                <a:latin typeface="Calibri (MS)"/>
                <a:ea typeface="Calibri (MS)"/>
                <a:cs typeface="Calibri (MS)"/>
                <a:sym typeface="Calibri (MS)"/>
              </a:rPr>
              <a:t>Découvrez comment CISIA transforme le quotidien du coordinateur, en rendant chaque prise de décision plus rapide, </a:t>
            </a:r>
          </a:p>
          <a:p>
            <a:pPr algn="l">
              <a:lnSpc>
                <a:spcPts val="3354"/>
              </a:lnSpc>
            </a:pPr>
            <a:r>
              <a:rPr lang="en-US" sz="2101">
                <a:solidFill>
                  <a:srgbClr val="4B4A4A"/>
                </a:solidFill>
                <a:latin typeface="Calibri (MS)"/>
                <a:ea typeface="Calibri (MS)"/>
                <a:cs typeface="Calibri (MS)"/>
                <a:sym typeface="Calibri (MS)"/>
              </a:rPr>
              <a:t>plus précise et plus humaine.</a:t>
            </a:r>
          </a:p>
        </p:txBody>
      </p:sp>
      <p:grpSp>
        <p:nvGrpSpPr>
          <p:cNvPr name="Group 11" id="11"/>
          <p:cNvGrpSpPr/>
          <p:nvPr/>
        </p:nvGrpSpPr>
        <p:grpSpPr>
          <a:xfrm rot="0">
            <a:off x="992991" y="6476257"/>
            <a:ext cx="16315868" cy="28594"/>
            <a:chOff x="0" y="0"/>
            <a:chExt cx="21754490" cy="38125"/>
          </a:xfrm>
        </p:grpSpPr>
        <p:sp>
          <p:nvSpPr>
            <p:cNvPr name="Freeform 12" id="12"/>
            <p:cNvSpPr/>
            <p:nvPr/>
          </p:nvSpPr>
          <p:spPr>
            <a:xfrm flipH="false" flipV="false" rot="0">
              <a:off x="0" y="0"/>
              <a:ext cx="21754464" cy="38100"/>
            </a:xfrm>
            <a:custGeom>
              <a:avLst/>
              <a:gdLst/>
              <a:ahLst/>
              <a:cxnLst/>
              <a:rect r="r" b="b" t="t" l="l"/>
              <a:pathLst>
                <a:path h="38100" w="21754464">
                  <a:moveTo>
                    <a:pt x="0" y="19050"/>
                  </a:moveTo>
                  <a:cubicBezTo>
                    <a:pt x="0" y="8509"/>
                    <a:pt x="8509" y="0"/>
                    <a:pt x="19050" y="0"/>
                  </a:cubicBezTo>
                  <a:lnTo>
                    <a:pt x="21735414" y="0"/>
                  </a:lnTo>
                  <a:cubicBezTo>
                    <a:pt x="21745955" y="0"/>
                    <a:pt x="21754464" y="8509"/>
                    <a:pt x="21754464" y="19050"/>
                  </a:cubicBezTo>
                  <a:cubicBezTo>
                    <a:pt x="21754464" y="29591"/>
                    <a:pt x="21745955" y="38100"/>
                    <a:pt x="21735414" y="38100"/>
                  </a:cubicBezTo>
                  <a:lnTo>
                    <a:pt x="19050" y="38100"/>
                  </a:lnTo>
                  <a:cubicBezTo>
                    <a:pt x="8509" y="38100"/>
                    <a:pt x="0" y="29591"/>
                    <a:pt x="0" y="19050"/>
                  </a:cubicBezTo>
                  <a:close/>
                </a:path>
              </a:pathLst>
            </a:custGeom>
            <a:solidFill>
              <a:srgbClr val="198060"/>
            </a:solidFill>
          </p:spPr>
        </p:sp>
      </p:grpSp>
      <p:grpSp>
        <p:nvGrpSpPr>
          <p:cNvPr name="Group 13" id="13"/>
          <p:cNvGrpSpPr/>
          <p:nvPr/>
        </p:nvGrpSpPr>
        <p:grpSpPr>
          <a:xfrm rot="0">
            <a:off x="4155596" y="5710238"/>
            <a:ext cx="28594" cy="766020"/>
            <a:chOff x="0" y="0"/>
            <a:chExt cx="38125" cy="1021359"/>
          </a:xfrm>
        </p:grpSpPr>
        <p:sp>
          <p:nvSpPr>
            <p:cNvPr name="Freeform 14" id="14"/>
            <p:cNvSpPr/>
            <p:nvPr/>
          </p:nvSpPr>
          <p:spPr>
            <a:xfrm flipH="false" flipV="false" rot="0">
              <a:off x="0" y="0"/>
              <a:ext cx="38100" cy="1021334"/>
            </a:xfrm>
            <a:custGeom>
              <a:avLst/>
              <a:gdLst/>
              <a:ahLst/>
              <a:cxnLst/>
              <a:rect r="r" b="b" t="t" l="l"/>
              <a:pathLst>
                <a:path h="1021334" w="38100">
                  <a:moveTo>
                    <a:pt x="0" y="19050"/>
                  </a:moveTo>
                  <a:cubicBezTo>
                    <a:pt x="0" y="8509"/>
                    <a:pt x="8509" y="0"/>
                    <a:pt x="19050" y="0"/>
                  </a:cubicBezTo>
                  <a:cubicBezTo>
                    <a:pt x="29591" y="0"/>
                    <a:pt x="38100" y="8509"/>
                    <a:pt x="38100" y="19050"/>
                  </a:cubicBezTo>
                  <a:lnTo>
                    <a:pt x="38100" y="1002284"/>
                  </a:lnTo>
                  <a:cubicBezTo>
                    <a:pt x="38100" y="1012825"/>
                    <a:pt x="29591" y="1021334"/>
                    <a:pt x="19050" y="1021334"/>
                  </a:cubicBezTo>
                  <a:cubicBezTo>
                    <a:pt x="8509" y="1021334"/>
                    <a:pt x="0" y="1012825"/>
                    <a:pt x="0" y="1002284"/>
                  </a:cubicBezTo>
                  <a:close/>
                </a:path>
              </a:pathLst>
            </a:custGeom>
            <a:solidFill>
              <a:srgbClr val="198060"/>
            </a:solidFill>
          </p:spPr>
        </p:sp>
      </p:grpSp>
      <p:grpSp>
        <p:nvGrpSpPr>
          <p:cNvPr name="Group 15" id="15"/>
          <p:cNvGrpSpPr/>
          <p:nvPr/>
        </p:nvGrpSpPr>
        <p:grpSpPr>
          <a:xfrm rot="0">
            <a:off x="4074195" y="6380559"/>
            <a:ext cx="191386" cy="191395"/>
            <a:chOff x="0" y="0"/>
            <a:chExt cx="255181" cy="255194"/>
          </a:xfrm>
        </p:grpSpPr>
        <p:sp>
          <p:nvSpPr>
            <p:cNvPr name="Freeform 16" id="16"/>
            <p:cNvSpPr/>
            <p:nvPr/>
          </p:nvSpPr>
          <p:spPr>
            <a:xfrm flipH="false" flipV="false" rot="0">
              <a:off x="0" y="0"/>
              <a:ext cx="255143" cy="255143"/>
            </a:xfrm>
            <a:custGeom>
              <a:avLst/>
              <a:gdLst/>
              <a:ahLst/>
              <a:cxnLst/>
              <a:rect r="r" b="b" t="t" l="l"/>
              <a:pathLst>
                <a:path h="255143" w="255143">
                  <a:moveTo>
                    <a:pt x="0" y="127635"/>
                  </a:moveTo>
                  <a:cubicBezTo>
                    <a:pt x="0" y="57150"/>
                    <a:pt x="57150" y="0"/>
                    <a:pt x="127635" y="0"/>
                  </a:cubicBezTo>
                  <a:cubicBezTo>
                    <a:pt x="198120" y="0"/>
                    <a:pt x="255143" y="57150"/>
                    <a:pt x="255143" y="127635"/>
                  </a:cubicBezTo>
                  <a:cubicBezTo>
                    <a:pt x="255143" y="198120"/>
                    <a:pt x="198120" y="255143"/>
                    <a:pt x="127635" y="255143"/>
                  </a:cubicBezTo>
                  <a:cubicBezTo>
                    <a:pt x="57150" y="255143"/>
                    <a:pt x="0" y="198120"/>
                    <a:pt x="0" y="127635"/>
                  </a:cubicBezTo>
                  <a:close/>
                </a:path>
              </a:pathLst>
            </a:custGeom>
            <a:solidFill>
              <a:srgbClr val="006747"/>
            </a:solidFill>
          </p:spPr>
        </p:sp>
      </p:grpSp>
      <p:grpSp>
        <p:nvGrpSpPr>
          <p:cNvPr name="Group 17" id="17"/>
          <p:cNvGrpSpPr/>
          <p:nvPr/>
        </p:nvGrpSpPr>
        <p:grpSpPr>
          <a:xfrm rot="0">
            <a:off x="988219" y="4644619"/>
            <a:ext cx="6363491" cy="1070381"/>
            <a:chOff x="0" y="0"/>
            <a:chExt cx="8484654" cy="1427175"/>
          </a:xfrm>
        </p:grpSpPr>
        <p:sp>
          <p:nvSpPr>
            <p:cNvPr name="Freeform 18" id="18"/>
            <p:cNvSpPr/>
            <p:nvPr/>
          </p:nvSpPr>
          <p:spPr>
            <a:xfrm flipH="false" flipV="false" rot="0">
              <a:off x="0" y="0"/>
              <a:ext cx="8484615" cy="1427188"/>
            </a:xfrm>
            <a:custGeom>
              <a:avLst/>
              <a:gdLst/>
              <a:ahLst/>
              <a:cxnLst/>
              <a:rect r="r" b="b" t="t" l="l"/>
              <a:pathLst>
                <a:path h="1427188" w="8484615">
                  <a:moveTo>
                    <a:pt x="0" y="147026"/>
                  </a:moveTo>
                  <a:cubicBezTo>
                    <a:pt x="0" y="65837"/>
                    <a:pt x="137795" y="0"/>
                    <a:pt x="307721" y="0"/>
                  </a:cubicBezTo>
                  <a:lnTo>
                    <a:pt x="8176895" y="0"/>
                  </a:lnTo>
                  <a:cubicBezTo>
                    <a:pt x="8346821" y="0"/>
                    <a:pt x="8484615" y="65837"/>
                    <a:pt x="8484615" y="147026"/>
                  </a:cubicBezTo>
                  <a:lnTo>
                    <a:pt x="8484615" y="1280155"/>
                  </a:lnTo>
                  <a:cubicBezTo>
                    <a:pt x="8484615" y="1361344"/>
                    <a:pt x="8346821" y="1427188"/>
                    <a:pt x="8176895" y="1427188"/>
                  </a:cubicBezTo>
                  <a:lnTo>
                    <a:pt x="307721" y="1427188"/>
                  </a:lnTo>
                  <a:cubicBezTo>
                    <a:pt x="137795" y="1427188"/>
                    <a:pt x="0" y="1361344"/>
                    <a:pt x="0" y="1280155"/>
                  </a:cubicBezTo>
                  <a:close/>
                </a:path>
              </a:pathLst>
            </a:custGeom>
            <a:solidFill>
              <a:srgbClr val="D1EFE4"/>
            </a:solidFill>
            <a:ln w="9532" cap="sq">
              <a:solidFill>
                <a:srgbClr val="006747"/>
              </a:solidFill>
              <a:prstDash val="solid"/>
              <a:miter/>
            </a:ln>
          </p:spPr>
        </p:sp>
      </p:grpSp>
      <p:sp>
        <p:nvSpPr>
          <p:cNvPr name="TextBox 19" id="19"/>
          <p:cNvSpPr txBox="true"/>
          <p:nvPr/>
        </p:nvSpPr>
        <p:spPr>
          <a:xfrm rot="0">
            <a:off x="1272026" y="4948085"/>
            <a:ext cx="5824328" cy="398869"/>
          </a:xfrm>
          <a:prstGeom prst="rect">
            <a:avLst/>
          </a:prstGeom>
        </p:spPr>
        <p:txBody>
          <a:bodyPr anchor="t" rtlCol="false" tIns="0" lIns="0" bIns="0" rIns="0">
            <a:spAutoFit/>
          </a:bodyPr>
          <a:lstStyle/>
          <a:p>
            <a:pPr algn="ctr">
              <a:lnSpc>
                <a:spcPts val="2697"/>
              </a:lnSpc>
            </a:pPr>
            <a:r>
              <a:rPr lang="en-US" sz="2702" b="true">
                <a:solidFill>
                  <a:srgbClr val="4B4A4A"/>
                </a:solidFill>
                <a:latin typeface="Calibri (MS) Bold"/>
                <a:ea typeface="Calibri (MS) Bold"/>
                <a:cs typeface="Calibri (MS) Bold"/>
                <a:sym typeface="Calibri (MS) Bold"/>
              </a:rPr>
              <a:t>8h30 - Filtration</a:t>
            </a:r>
          </a:p>
        </p:txBody>
      </p:sp>
      <p:grpSp>
        <p:nvGrpSpPr>
          <p:cNvPr name="Group 20" id="20"/>
          <p:cNvGrpSpPr/>
          <p:nvPr/>
        </p:nvGrpSpPr>
        <p:grpSpPr>
          <a:xfrm rot="0">
            <a:off x="7476230" y="6476257"/>
            <a:ext cx="28594" cy="766020"/>
            <a:chOff x="0" y="0"/>
            <a:chExt cx="38125" cy="1021359"/>
          </a:xfrm>
        </p:grpSpPr>
        <p:sp>
          <p:nvSpPr>
            <p:cNvPr name="Freeform 21" id="21"/>
            <p:cNvSpPr/>
            <p:nvPr/>
          </p:nvSpPr>
          <p:spPr>
            <a:xfrm flipH="false" flipV="false" rot="0">
              <a:off x="0" y="0"/>
              <a:ext cx="38100" cy="1021334"/>
            </a:xfrm>
            <a:custGeom>
              <a:avLst/>
              <a:gdLst/>
              <a:ahLst/>
              <a:cxnLst/>
              <a:rect r="r" b="b" t="t" l="l"/>
              <a:pathLst>
                <a:path h="1021334" w="38100">
                  <a:moveTo>
                    <a:pt x="0" y="19050"/>
                  </a:moveTo>
                  <a:cubicBezTo>
                    <a:pt x="0" y="8509"/>
                    <a:pt x="8509" y="0"/>
                    <a:pt x="19050" y="0"/>
                  </a:cubicBezTo>
                  <a:cubicBezTo>
                    <a:pt x="29591" y="0"/>
                    <a:pt x="38100" y="8509"/>
                    <a:pt x="38100" y="19050"/>
                  </a:cubicBezTo>
                  <a:lnTo>
                    <a:pt x="38100" y="1002284"/>
                  </a:lnTo>
                  <a:cubicBezTo>
                    <a:pt x="38100" y="1012825"/>
                    <a:pt x="29591" y="1021334"/>
                    <a:pt x="19050" y="1021334"/>
                  </a:cubicBezTo>
                  <a:cubicBezTo>
                    <a:pt x="8509" y="1021334"/>
                    <a:pt x="0" y="1012825"/>
                    <a:pt x="0" y="1002284"/>
                  </a:cubicBezTo>
                  <a:close/>
                </a:path>
              </a:pathLst>
            </a:custGeom>
            <a:solidFill>
              <a:srgbClr val="198060"/>
            </a:solidFill>
          </p:spPr>
        </p:sp>
      </p:grpSp>
      <p:grpSp>
        <p:nvGrpSpPr>
          <p:cNvPr name="Group 22" id="22"/>
          <p:cNvGrpSpPr/>
          <p:nvPr/>
        </p:nvGrpSpPr>
        <p:grpSpPr>
          <a:xfrm rot="0">
            <a:off x="7394839" y="6380559"/>
            <a:ext cx="191386" cy="191395"/>
            <a:chOff x="0" y="0"/>
            <a:chExt cx="255181" cy="255194"/>
          </a:xfrm>
        </p:grpSpPr>
        <p:sp>
          <p:nvSpPr>
            <p:cNvPr name="Freeform 23" id="23"/>
            <p:cNvSpPr/>
            <p:nvPr/>
          </p:nvSpPr>
          <p:spPr>
            <a:xfrm flipH="false" flipV="false" rot="0">
              <a:off x="0" y="0"/>
              <a:ext cx="255143" cy="255143"/>
            </a:xfrm>
            <a:custGeom>
              <a:avLst/>
              <a:gdLst/>
              <a:ahLst/>
              <a:cxnLst/>
              <a:rect r="r" b="b" t="t" l="l"/>
              <a:pathLst>
                <a:path h="255143" w="255143">
                  <a:moveTo>
                    <a:pt x="0" y="127635"/>
                  </a:moveTo>
                  <a:cubicBezTo>
                    <a:pt x="0" y="57150"/>
                    <a:pt x="57150" y="0"/>
                    <a:pt x="127635" y="0"/>
                  </a:cubicBezTo>
                  <a:cubicBezTo>
                    <a:pt x="198120" y="0"/>
                    <a:pt x="255143" y="57150"/>
                    <a:pt x="255143" y="127635"/>
                  </a:cubicBezTo>
                  <a:cubicBezTo>
                    <a:pt x="255143" y="198120"/>
                    <a:pt x="198120" y="255143"/>
                    <a:pt x="127635" y="255143"/>
                  </a:cubicBezTo>
                  <a:cubicBezTo>
                    <a:pt x="57150" y="255143"/>
                    <a:pt x="0" y="198120"/>
                    <a:pt x="0" y="127635"/>
                  </a:cubicBezTo>
                  <a:close/>
                </a:path>
              </a:pathLst>
            </a:custGeom>
            <a:solidFill>
              <a:srgbClr val="006747"/>
            </a:solidFill>
          </p:spPr>
        </p:sp>
      </p:grpSp>
      <p:grpSp>
        <p:nvGrpSpPr>
          <p:cNvPr name="Group 24" id="24"/>
          <p:cNvGrpSpPr/>
          <p:nvPr/>
        </p:nvGrpSpPr>
        <p:grpSpPr>
          <a:xfrm rot="0">
            <a:off x="4308710" y="7237514"/>
            <a:ext cx="6363643" cy="1120135"/>
            <a:chOff x="0" y="0"/>
            <a:chExt cx="8484857" cy="1493514"/>
          </a:xfrm>
        </p:grpSpPr>
        <p:sp>
          <p:nvSpPr>
            <p:cNvPr name="Freeform 25" id="25"/>
            <p:cNvSpPr/>
            <p:nvPr/>
          </p:nvSpPr>
          <p:spPr>
            <a:xfrm flipH="false" flipV="false" rot="0">
              <a:off x="0" y="0"/>
              <a:ext cx="8484870" cy="1493526"/>
            </a:xfrm>
            <a:custGeom>
              <a:avLst/>
              <a:gdLst/>
              <a:ahLst/>
              <a:cxnLst/>
              <a:rect r="r" b="b" t="t" l="l"/>
              <a:pathLst>
                <a:path h="1493526" w="8484870">
                  <a:moveTo>
                    <a:pt x="0" y="153860"/>
                  </a:moveTo>
                  <a:cubicBezTo>
                    <a:pt x="0" y="68898"/>
                    <a:pt x="137795" y="0"/>
                    <a:pt x="307721" y="0"/>
                  </a:cubicBezTo>
                  <a:lnTo>
                    <a:pt x="8177149" y="0"/>
                  </a:lnTo>
                  <a:cubicBezTo>
                    <a:pt x="8347075" y="0"/>
                    <a:pt x="8484870" y="68898"/>
                    <a:pt x="8484870" y="153860"/>
                  </a:cubicBezTo>
                  <a:lnTo>
                    <a:pt x="8484870" y="1339660"/>
                  </a:lnTo>
                  <a:cubicBezTo>
                    <a:pt x="8484870" y="1424623"/>
                    <a:pt x="8347075" y="1493526"/>
                    <a:pt x="8177149" y="1493526"/>
                  </a:cubicBezTo>
                  <a:lnTo>
                    <a:pt x="307721" y="1493526"/>
                  </a:lnTo>
                  <a:cubicBezTo>
                    <a:pt x="137795" y="1493526"/>
                    <a:pt x="0" y="1424623"/>
                    <a:pt x="0" y="1339660"/>
                  </a:cubicBezTo>
                  <a:close/>
                </a:path>
              </a:pathLst>
            </a:custGeom>
            <a:solidFill>
              <a:srgbClr val="D1EFE4"/>
            </a:solidFill>
            <a:ln w="9532" cap="sq">
              <a:solidFill>
                <a:srgbClr val="006747"/>
              </a:solidFill>
              <a:prstDash val="solid"/>
              <a:miter/>
            </a:ln>
          </p:spPr>
        </p:sp>
      </p:grpSp>
      <p:sp>
        <p:nvSpPr>
          <p:cNvPr name="TextBox 26" id="26"/>
          <p:cNvSpPr txBox="true"/>
          <p:nvPr/>
        </p:nvSpPr>
        <p:spPr>
          <a:xfrm rot="0">
            <a:off x="4578286" y="7598147"/>
            <a:ext cx="5824480" cy="398869"/>
          </a:xfrm>
          <a:prstGeom prst="rect">
            <a:avLst/>
          </a:prstGeom>
        </p:spPr>
        <p:txBody>
          <a:bodyPr anchor="t" rtlCol="false" tIns="0" lIns="0" bIns="0" rIns="0">
            <a:spAutoFit/>
          </a:bodyPr>
          <a:lstStyle/>
          <a:p>
            <a:pPr algn="ctr">
              <a:lnSpc>
                <a:spcPts val="2697"/>
              </a:lnSpc>
            </a:pPr>
            <a:r>
              <a:rPr lang="en-US" sz="2702" b="true">
                <a:solidFill>
                  <a:srgbClr val="4B4A4A"/>
                </a:solidFill>
                <a:latin typeface="Calibri (MS) Bold"/>
                <a:ea typeface="Calibri (MS) Bold"/>
                <a:cs typeface="Calibri (MS) Bold"/>
                <a:sym typeface="Calibri (MS) Bold"/>
              </a:rPr>
              <a:t>Analyse Approfondie</a:t>
            </a:r>
          </a:p>
        </p:txBody>
      </p:sp>
      <p:grpSp>
        <p:nvGrpSpPr>
          <p:cNvPr name="Group 27" id="27"/>
          <p:cNvGrpSpPr/>
          <p:nvPr/>
        </p:nvGrpSpPr>
        <p:grpSpPr>
          <a:xfrm rot="0">
            <a:off x="10796864" y="5710238"/>
            <a:ext cx="28594" cy="766020"/>
            <a:chOff x="0" y="0"/>
            <a:chExt cx="38125" cy="1021359"/>
          </a:xfrm>
        </p:grpSpPr>
        <p:sp>
          <p:nvSpPr>
            <p:cNvPr name="Freeform 28" id="28"/>
            <p:cNvSpPr/>
            <p:nvPr/>
          </p:nvSpPr>
          <p:spPr>
            <a:xfrm flipH="false" flipV="false" rot="0">
              <a:off x="0" y="0"/>
              <a:ext cx="38100" cy="1021334"/>
            </a:xfrm>
            <a:custGeom>
              <a:avLst/>
              <a:gdLst/>
              <a:ahLst/>
              <a:cxnLst/>
              <a:rect r="r" b="b" t="t" l="l"/>
              <a:pathLst>
                <a:path h="1021334" w="38100">
                  <a:moveTo>
                    <a:pt x="0" y="19050"/>
                  </a:moveTo>
                  <a:cubicBezTo>
                    <a:pt x="0" y="8509"/>
                    <a:pt x="8509" y="0"/>
                    <a:pt x="19050" y="0"/>
                  </a:cubicBezTo>
                  <a:cubicBezTo>
                    <a:pt x="29591" y="0"/>
                    <a:pt x="38100" y="8509"/>
                    <a:pt x="38100" y="19050"/>
                  </a:cubicBezTo>
                  <a:lnTo>
                    <a:pt x="38100" y="1002284"/>
                  </a:lnTo>
                  <a:cubicBezTo>
                    <a:pt x="38100" y="1012825"/>
                    <a:pt x="29591" y="1021334"/>
                    <a:pt x="19050" y="1021334"/>
                  </a:cubicBezTo>
                  <a:cubicBezTo>
                    <a:pt x="8509" y="1021334"/>
                    <a:pt x="0" y="1012825"/>
                    <a:pt x="0" y="1002284"/>
                  </a:cubicBezTo>
                  <a:close/>
                </a:path>
              </a:pathLst>
            </a:custGeom>
            <a:solidFill>
              <a:srgbClr val="198060"/>
            </a:solidFill>
          </p:spPr>
        </p:sp>
      </p:grpSp>
      <p:grpSp>
        <p:nvGrpSpPr>
          <p:cNvPr name="Group 29" id="29"/>
          <p:cNvGrpSpPr/>
          <p:nvPr/>
        </p:nvGrpSpPr>
        <p:grpSpPr>
          <a:xfrm rot="0">
            <a:off x="10715473" y="6380559"/>
            <a:ext cx="191386" cy="191395"/>
            <a:chOff x="0" y="0"/>
            <a:chExt cx="255181" cy="255194"/>
          </a:xfrm>
        </p:grpSpPr>
        <p:sp>
          <p:nvSpPr>
            <p:cNvPr name="Freeform 30" id="30"/>
            <p:cNvSpPr/>
            <p:nvPr/>
          </p:nvSpPr>
          <p:spPr>
            <a:xfrm flipH="false" flipV="false" rot="0">
              <a:off x="0" y="0"/>
              <a:ext cx="255143" cy="255143"/>
            </a:xfrm>
            <a:custGeom>
              <a:avLst/>
              <a:gdLst/>
              <a:ahLst/>
              <a:cxnLst/>
              <a:rect r="r" b="b" t="t" l="l"/>
              <a:pathLst>
                <a:path h="255143" w="255143">
                  <a:moveTo>
                    <a:pt x="0" y="127635"/>
                  </a:moveTo>
                  <a:cubicBezTo>
                    <a:pt x="0" y="57150"/>
                    <a:pt x="57150" y="0"/>
                    <a:pt x="127635" y="0"/>
                  </a:cubicBezTo>
                  <a:cubicBezTo>
                    <a:pt x="198120" y="0"/>
                    <a:pt x="255143" y="57150"/>
                    <a:pt x="255143" y="127635"/>
                  </a:cubicBezTo>
                  <a:cubicBezTo>
                    <a:pt x="255143" y="198120"/>
                    <a:pt x="198120" y="255143"/>
                    <a:pt x="127635" y="255143"/>
                  </a:cubicBezTo>
                  <a:cubicBezTo>
                    <a:pt x="57150" y="255143"/>
                    <a:pt x="0" y="198120"/>
                    <a:pt x="0" y="127635"/>
                  </a:cubicBezTo>
                  <a:close/>
                </a:path>
              </a:pathLst>
            </a:custGeom>
            <a:solidFill>
              <a:srgbClr val="006747"/>
            </a:solidFill>
          </p:spPr>
        </p:sp>
      </p:grpSp>
      <p:grpSp>
        <p:nvGrpSpPr>
          <p:cNvPr name="Group 31" id="31"/>
          <p:cNvGrpSpPr/>
          <p:nvPr/>
        </p:nvGrpSpPr>
        <p:grpSpPr>
          <a:xfrm rot="0">
            <a:off x="7629344" y="4644619"/>
            <a:ext cx="6363643" cy="1070381"/>
            <a:chOff x="0" y="0"/>
            <a:chExt cx="8484857" cy="1427175"/>
          </a:xfrm>
        </p:grpSpPr>
        <p:sp>
          <p:nvSpPr>
            <p:cNvPr name="Freeform 32" id="32"/>
            <p:cNvSpPr/>
            <p:nvPr/>
          </p:nvSpPr>
          <p:spPr>
            <a:xfrm flipH="false" flipV="false" rot="0">
              <a:off x="0" y="0"/>
              <a:ext cx="8484870" cy="1427188"/>
            </a:xfrm>
            <a:custGeom>
              <a:avLst/>
              <a:gdLst/>
              <a:ahLst/>
              <a:cxnLst/>
              <a:rect r="r" b="b" t="t" l="l"/>
              <a:pathLst>
                <a:path h="1427188" w="8484870">
                  <a:moveTo>
                    <a:pt x="0" y="147026"/>
                  </a:moveTo>
                  <a:cubicBezTo>
                    <a:pt x="0" y="65837"/>
                    <a:pt x="137795" y="0"/>
                    <a:pt x="307721" y="0"/>
                  </a:cubicBezTo>
                  <a:lnTo>
                    <a:pt x="8177149" y="0"/>
                  </a:lnTo>
                  <a:cubicBezTo>
                    <a:pt x="8347075" y="0"/>
                    <a:pt x="8484870" y="65837"/>
                    <a:pt x="8484870" y="147026"/>
                  </a:cubicBezTo>
                  <a:lnTo>
                    <a:pt x="8484870" y="1280155"/>
                  </a:lnTo>
                  <a:cubicBezTo>
                    <a:pt x="8484870" y="1361344"/>
                    <a:pt x="8347075" y="1427188"/>
                    <a:pt x="8177149" y="1427188"/>
                  </a:cubicBezTo>
                  <a:lnTo>
                    <a:pt x="307721" y="1427188"/>
                  </a:lnTo>
                  <a:cubicBezTo>
                    <a:pt x="137795" y="1427188"/>
                    <a:pt x="0" y="1361344"/>
                    <a:pt x="0" y="1280155"/>
                  </a:cubicBezTo>
                  <a:close/>
                </a:path>
              </a:pathLst>
            </a:custGeom>
            <a:solidFill>
              <a:srgbClr val="D1EFE4"/>
            </a:solidFill>
            <a:ln w="9532" cap="sq">
              <a:solidFill>
                <a:srgbClr val="006747"/>
              </a:solidFill>
              <a:prstDash val="solid"/>
              <a:miter/>
            </a:ln>
          </p:spPr>
        </p:sp>
      </p:grpSp>
      <p:sp>
        <p:nvSpPr>
          <p:cNvPr name="TextBox 33" id="33"/>
          <p:cNvSpPr txBox="true"/>
          <p:nvPr/>
        </p:nvSpPr>
        <p:spPr>
          <a:xfrm rot="0">
            <a:off x="7913218" y="4980375"/>
            <a:ext cx="5824480" cy="398869"/>
          </a:xfrm>
          <a:prstGeom prst="rect">
            <a:avLst/>
          </a:prstGeom>
        </p:spPr>
        <p:txBody>
          <a:bodyPr anchor="t" rtlCol="false" tIns="0" lIns="0" bIns="0" rIns="0">
            <a:spAutoFit/>
          </a:bodyPr>
          <a:lstStyle/>
          <a:p>
            <a:pPr algn="ctr">
              <a:lnSpc>
                <a:spcPts val="2697"/>
              </a:lnSpc>
            </a:pPr>
            <a:r>
              <a:rPr lang="en-US" sz="2702" b="true">
                <a:solidFill>
                  <a:srgbClr val="4B4A4A"/>
                </a:solidFill>
                <a:latin typeface="Calibri (MS) Bold"/>
                <a:ea typeface="Calibri (MS) Bold"/>
                <a:cs typeface="Calibri (MS) Bold"/>
                <a:sym typeface="Calibri (MS) Bold"/>
              </a:rPr>
              <a:t>Action Ciblée</a:t>
            </a:r>
          </a:p>
        </p:txBody>
      </p:sp>
      <p:grpSp>
        <p:nvGrpSpPr>
          <p:cNvPr name="Group 34" id="34"/>
          <p:cNvGrpSpPr/>
          <p:nvPr/>
        </p:nvGrpSpPr>
        <p:grpSpPr>
          <a:xfrm rot="0">
            <a:off x="14117498" y="6476257"/>
            <a:ext cx="28594" cy="766020"/>
            <a:chOff x="0" y="0"/>
            <a:chExt cx="38125" cy="1021359"/>
          </a:xfrm>
        </p:grpSpPr>
        <p:sp>
          <p:nvSpPr>
            <p:cNvPr name="Freeform 35" id="35"/>
            <p:cNvSpPr/>
            <p:nvPr/>
          </p:nvSpPr>
          <p:spPr>
            <a:xfrm flipH="false" flipV="false" rot="0">
              <a:off x="0" y="0"/>
              <a:ext cx="38100" cy="1021334"/>
            </a:xfrm>
            <a:custGeom>
              <a:avLst/>
              <a:gdLst/>
              <a:ahLst/>
              <a:cxnLst/>
              <a:rect r="r" b="b" t="t" l="l"/>
              <a:pathLst>
                <a:path h="1021334" w="38100">
                  <a:moveTo>
                    <a:pt x="0" y="19050"/>
                  </a:moveTo>
                  <a:cubicBezTo>
                    <a:pt x="0" y="8509"/>
                    <a:pt x="8509" y="0"/>
                    <a:pt x="19050" y="0"/>
                  </a:cubicBezTo>
                  <a:cubicBezTo>
                    <a:pt x="29591" y="0"/>
                    <a:pt x="38100" y="8509"/>
                    <a:pt x="38100" y="19050"/>
                  </a:cubicBezTo>
                  <a:lnTo>
                    <a:pt x="38100" y="1002284"/>
                  </a:lnTo>
                  <a:cubicBezTo>
                    <a:pt x="38100" y="1012825"/>
                    <a:pt x="29591" y="1021334"/>
                    <a:pt x="19050" y="1021334"/>
                  </a:cubicBezTo>
                  <a:cubicBezTo>
                    <a:pt x="8509" y="1021334"/>
                    <a:pt x="0" y="1012825"/>
                    <a:pt x="0" y="1002284"/>
                  </a:cubicBezTo>
                  <a:close/>
                </a:path>
              </a:pathLst>
            </a:custGeom>
            <a:solidFill>
              <a:srgbClr val="198060"/>
            </a:solidFill>
          </p:spPr>
        </p:sp>
      </p:grpSp>
      <p:grpSp>
        <p:nvGrpSpPr>
          <p:cNvPr name="Group 36" id="36"/>
          <p:cNvGrpSpPr/>
          <p:nvPr/>
        </p:nvGrpSpPr>
        <p:grpSpPr>
          <a:xfrm rot="0">
            <a:off x="14036107" y="6380559"/>
            <a:ext cx="191386" cy="191395"/>
            <a:chOff x="0" y="0"/>
            <a:chExt cx="255181" cy="255194"/>
          </a:xfrm>
        </p:grpSpPr>
        <p:sp>
          <p:nvSpPr>
            <p:cNvPr name="Freeform 37" id="37"/>
            <p:cNvSpPr/>
            <p:nvPr/>
          </p:nvSpPr>
          <p:spPr>
            <a:xfrm flipH="false" flipV="false" rot="0">
              <a:off x="0" y="0"/>
              <a:ext cx="255143" cy="255143"/>
            </a:xfrm>
            <a:custGeom>
              <a:avLst/>
              <a:gdLst/>
              <a:ahLst/>
              <a:cxnLst/>
              <a:rect r="r" b="b" t="t" l="l"/>
              <a:pathLst>
                <a:path h="255143" w="255143">
                  <a:moveTo>
                    <a:pt x="0" y="127635"/>
                  </a:moveTo>
                  <a:cubicBezTo>
                    <a:pt x="0" y="57150"/>
                    <a:pt x="57150" y="0"/>
                    <a:pt x="127635" y="0"/>
                  </a:cubicBezTo>
                  <a:cubicBezTo>
                    <a:pt x="198120" y="0"/>
                    <a:pt x="255143" y="57150"/>
                    <a:pt x="255143" y="127635"/>
                  </a:cubicBezTo>
                  <a:cubicBezTo>
                    <a:pt x="255143" y="198120"/>
                    <a:pt x="198120" y="255143"/>
                    <a:pt x="127635" y="255143"/>
                  </a:cubicBezTo>
                  <a:cubicBezTo>
                    <a:pt x="57150" y="255143"/>
                    <a:pt x="0" y="198120"/>
                    <a:pt x="0" y="127635"/>
                  </a:cubicBezTo>
                  <a:close/>
                </a:path>
              </a:pathLst>
            </a:custGeom>
            <a:solidFill>
              <a:srgbClr val="006747"/>
            </a:solidFill>
          </p:spPr>
        </p:sp>
      </p:grpSp>
      <p:grpSp>
        <p:nvGrpSpPr>
          <p:cNvPr name="Group 38" id="38"/>
          <p:cNvGrpSpPr/>
          <p:nvPr/>
        </p:nvGrpSpPr>
        <p:grpSpPr>
          <a:xfrm rot="0">
            <a:off x="10949978" y="7237514"/>
            <a:ext cx="6363643" cy="1120135"/>
            <a:chOff x="0" y="0"/>
            <a:chExt cx="8484857" cy="1493514"/>
          </a:xfrm>
        </p:grpSpPr>
        <p:sp>
          <p:nvSpPr>
            <p:cNvPr name="Freeform 39" id="39"/>
            <p:cNvSpPr/>
            <p:nvPr/>
          </p:nvSpPr>
          <p:spPr>
            <a:xfrm flipH="false" flipV="false" rot="0">
              <a:off x="0" y="0"/>
              <a:ext cx="8484870" cy="1493526"/>
            </a:xfrm>
            <a:custGeom>
              <a:avLst/>
              <a:gdLst/>
              <a:ahLst/>
              <a:cxnLst/>
              <a:rect r="r" b="b" t="t" l="l"/>
              <a:pathLst>
                <a:path h="1493526" w="8484870">
                  <a:moveTo>
                    <a:pt x="0" y="153860"/>
                  </a:moveTo>
                  <a:cubicBezTo>
                    <a:pt x="0" y="68898"/>
                    <a:pt x="137795" y="0"/>
                    <a:pt x="307721" y="0"/>
                  </a:cubicBezTo>
                  <a:lnTo>
                    <a:pt x="8177149" y="0"/>
                  </a:lnTo>
                  <a:cubicBezTo>
                    <a:pt x="8347075" y="0"/>
                    <a:pt x="8484870" y="68898"/>
                    <a:pt x="8484870" y="153860"/>
                  </a:cubicBezTo>
                  <a:lnTo>
                    <a:pt x="8484870" y="1339660"/>
                  </a:lnTo>
                  <a:cubicBezTo>
                    <a:pt x="8484870" y="1424623"/>
                    <a:pt x="8347075" y="1493526"/>
                    <a:pt x="8177149" y="1493526"/>
                  </a:cubicBezTo>
                  <a:lnTo>
                    <a:pt x="307721" y="1493526"/>
                  </a:lnTo>
                  <a:cubicBezTo>
                    <a:pt x="137795" y="1493526"/>
                    <a:pt x="0" y="1424623"/>
                    <a:pt x="0" y="1339660"/>
                  </a:cubicBezTo>
                  <a:close/>
                </a:path>
              </a:pathLst>
            </a:custGeom>
            <a:solidFill>
              <a:srgbClr val="D1EFE4"/>
            </a:solidFill>
            <a:ln w="9532" cap="sq">
              <a:solidFill>
                <a:srgbClr val="006747"/>
              </a:solidFill>
              <a:prstDash val="solid"/>
              <a:miter/>
            </a:ln>
          </p:spPr>
        </p:sp>
      </p:grpSp>
      <p:sp>
        <p:nvSpPr>
          <p:cNvPr name="TextBox 40" id="40"/>
          <p:cNvSpPr txBox="true"/>
          <p:nvPr/>
        </p:nvSpPr>
        <p:spPr>
          <a:xfrm rot="0">
            <a:off x="11219555" y="7598147"/>
            <a:ext cx="5824480" cy="398869"/>
          </a:xfrm>
          <a:prstGeom prst="rect">
            <a:avLst/>
          </a:prstGeom>
        </p:spPr>
        <p:txBody>
          <a:bodyPr anchor="t" rtlCol="false" tIns="0" lIns="0" bIns="0" rIns="0">
            <a:spAutoFit/>
          </a:bodyPr>
          <a:lstStyle/>
          <a:p>
            <a:pPr algn="ctr">
              <a:lnSpc>
                <a:spcPts val="2697"/>
              </a:lnSpc>
            </a:pPr>
            <a:r>
              <a:rPr lang="en-US" sz="2702" b="true">
                <a:solidFill>
                  <a:srgbClr val="4B4A4A"/>
                </a:solidFill>
                <a:latin typeface="Calibri (MS) Bold"/>
                <a:ea typeface="Calibri (MS) Bold"/>
                <a:cs typeface="Calibri (MS) Bold"/>
                <a:sym typeface="Calibri (MS) Bold"/>
              </a:rPr>
              <a:t>Patient Suivi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90196"/>
              </a:srgbClr>
            </a:solidFill>
          </p:spPr>
        </p:sp>
      </p:grpSp>
      <p:grpSp>
        <p:nvGrpSpPr>
          <p:cNvPr name="Group 6" id="6"/>
          <p:cNvGrpSpPr/>
          <p:nvPr/>
        </p:nvGrpSpPr>
        <p:grpSpPr>
          <a:xfrm rot="0">
            <a:off x="0" y="0"/>
            <a:ext cx="18301840" cy="10295039"/>
            <a:chOff x="0" y="0"/>
            <a:chExt cx="24402453" cy="13726719"/>
          </a:xfrm>
        </p:grpSpPr>
        <p:sp>
          <p:nvSpPr>
            <p:cNvPr name="Freeform 7" id="7"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4"/>
              <a:stretch>
                <a:fillRect l="-1" t="0" r="-1" b="0"/>
              </a:stretch>
            </a:blipFill>
          </p:spPr>
        </p:sp>
      </p:grpSp>
      <p:grpSp>
        <p:nvGrpSpPr>
          <p:cNvPr name="Group 8" id="8"/>
          <p:cNvGrpSpPr/>
          <p:nvPr/>
        </p:nvGrpSpPr>
        <p:grpSpPr>
          <a:xfrm rot="0">
            <a:off x="0" y="0"/>
            <a:ext cx="18301840" cy="10295039"/>
            <a:chOff x="0" y="0"/>
            <a:chExt cx="24402453" cy="13726719"/>
          </a:xfrm>
        </p:grpSpPr>
        <p:sp>
          <p:nvSpPr>
            <p:cNvPr name="Freeform 9" id="9"/>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E5F9F2">
                <a:alpha val="72157"/>
              </a:srgbClr>
            </a:solidFill>
          </p:spPr>
        </p:sp>
      </p:grpSp>
      <p:grpSp>
        <p:nvGrpSpPr>
          <p:cNvPr name="Group 10" id="10"/>
          <p:cNvGrpSpPr/>
          <p:nvPr/>
        </p:nvGrpSpPr>
        <p:grpSpPr>
          <a:xfrm rot="0">
            <a:off x="992991" y="1238621"/>
            <a:ext cx="1632985" cy="388001"/>
            <a:chOff x="0" y="0"/>
            <a:chExt cx="2177313" cy="517334"/>
          </a:xfrm>
        </p:grpSpPr>
        <p:sp>
          <p:nvSpPr>
            <p:cNvPr name="Freeform 11" id="11"/>
            <p:cNvSpPr/>
            <p:nvPr/>
          </p:nvSpPr>
          <p:spPr>
            <a:xfrm flipH="false" flipV="false" rot="0">
              <a:off x="0" y="0"/>
              <a:ext cx="2177288" cy="517271"/>
            </a:xfrm>
            <a:custGeom>
              <a:avLst/>
              <a:gdLst/>
              <a:ahLst/>
              <a:cxnLst/>
              <a:rect r="r" b="b" t="t" l="l"/>
              <a:pathLst>
                <a:path h="517271" w="2177288">
                  <a:moveTo>
                    <a:pt x="0" y="245110"/>
                  </a:moveTo>
                  <a:cubicBezTo>
                    <a:pt x="0" y="109728"/>
                    <a:pt x="109728" y="0"/>
                    <a:pt x="245110" y="0"/>
                  </a:cubicBezTo>
                  <a:lnTo>
                    <a:pt x="1932178" y="0"/>
                  </a:lnTo>
                  <a:cubicBezTo>
                    <a:pt x="2067560" y="0"/>
                    <a:pt x="2177288" y="109728"/>
                    <a:pt x="2177288" y="245110"/>
                  </a:cubicBezTo>
                  <a:lnTo>
                    <a:pt x="2177288" y="272161"/>
                  </a:lnTo>
                  <a:cubicBezTo>
                    <a:pt x="2177288" y="407543"/>
                    <a:pt x="2067560" y="517271"/>
                    <a:pt x="1932178" y="517271"/>
                  </a:cubicBezTo>
                  <a:lnTo>
                    <a:pt x="245110" y="517271"/>
                  </a:lnTo>
                  <a:cubicBezTo>
                    <a:pt x="109728" y="517271"/>
                    <a:pt x="0" y="407543"/>
                    <a:pt x="0" y="272161"/>
                  </a:cubicBezTo>
                  <a:close/>
                </a:path>
              </a:pathLst>
            </a:custGeom>
            <a:solidFill>
              <a:srgbClr val="CCFFEF"/>
            </a:solidFill>
          </p:spPr>
        </p:sp>
      </p:grpSp>
      <p:sp>
        <p:nvSpPr>
          <p:cNvPr name="TextBox 12" id="12"/>
          <p:cNvSpPr txBox="true"/>
          <p:nvPr/>
        </p:nvSpPr>
        <p:spPr>
          <a:xfrm rot="0">
            <a:off x="1146096" y="1305658"/>
            <a:ext cx="2241852" cy="244411"/>
          </a:xfrm>
          <a:prstGeom prst="rect">
            <a:avLst/>
          </a:prstGeom>
        </p:spPr>
        <p:txBody>
          <a:bodyPr anchor="t" rtlCol="false" tIns="0" lIns="0" bIns="0" rIns="0">
            <a:spAutoFit/>
          </a:bodyPr>
          <a:lstStyle/>
          <a:p>
            <a:pPr algn="l">
              <a:lnSpc>
                <a:spcPts val="1815"/>
              </a:lnSpc>
            </a:pPr>
            <a:r>
              <a:rPr lang="en-US" sz="1576">
                <a:solidFill>
                  <a:srgbClr val="4B4A4A"/>
                </a:solidFill>
                <a:latin typeface="Arimo"/>
                <a:ea typeface="Arimo"/>
                <a:cs typeface="Arimo"/>
                <a:sym typeface="Arimo"/>
              </a:rPr>
              <a:t>CONCLUSION</a:t>
            </a:r>
          </a:p>
        </p:txBody>
      </p:sp>
      <p:sp>
        <p:nvSpPr>
          <p:cNvPr name="TextBox 13" id="13"/>
          <p:cNvSpPr txBox="true"/>
          <p:nvPr/>
        </p:nvSpPr>
        <p:spPr>
          <a:xfrm rot="0">
            <a:off x="992991" y="1575645"/>
            <a:ext cx="16315868" cy="940918"/>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CISIA Readmit</a:t>
            </a:r>
          </a:p>
        </p:txBody>
      </p:sp>
      <p:sp>
        <p:nvSpPr>
          <p:cNvPr name="TextBox 14" id="14"/>
          <p:cNvSpPr txBox="true"/>
          <p:nvPr/>
        </p:nvSpPr>
        <p:spPr>
          <a:xfrm rot="0">
            <a:off x="993277" y="3482311"/>
            <a:ext cx="16315734" cy="1244822"/>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Moins de réadmissions évitées trop tard.</a:t>
            </a:r>
          </a:p>
        </p:txBody>
      </p:sp>
      <p:sp>
        <p:nvSpPr>
          <p:cNvPr name="TextBox 15" id="15"/>
          <p:cNvSpPr txBox="true"/>
          <p:nvPr/>
        </p:nvSpPr>
        <p:spPr>
          <a:xfrm rot="0">
            <a:off x="993277" y="5096161"/>
            <a:ext cx="16315734" cy="1245775"/>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Plus de suivi là où le risque est réel.</a:t>
            </a:r>
          </a:p>
        </p:txBody>
      </p:sp>
      <p:sp>
        <p:nvSpPr>
          <p:cNvPr name="TextBox 16" id="16"/>
          <p:cNvSpPr txBox="true"/>
          <p:nvPr/>
        </p:nvSpPr>
        <p:spPr>
          <a:xfrm rot="0">
            <a:off x="993277" y="6710953"/>
            <a:ext cx="16315734" cy="1245775"/>
          </a:xfrm>
          <a:prstGeom prst="rect">
            <a:avLst/>
          </a:prstGeom>
        </p:spPr>
        <p:txBody>
          <a:bodyPr anchor="t" rtlCol="false" tIns="0" lIns="0" bIns="0" rIns="0">
            <a:spAutoFit/>
          </a:bodyPr>
          <a:lstStyle/>
          <a:p>
            <a:pPr algn="l">
              <a:lnSpc>
                <a:spcPts val="6744"/>
              </a:lnSpc>
            </a:pPr>
            <a:r>
              <a:rPr lang="en-US" sz="5404" b="true">
                <a:solidFill>
                  <a:srgbClr val="006747"/>
                </a:solidFill>
                <a:latin typeface="Calibri (MS) Bold"/>
                <a:ea typeface="Calibri (MS) Bold"/>
                <a:cs typeface="Calibri (MS) Bold"/>
                <a:sym typeface="Calibri (MS) Bold"/>
              </a:rPr>
              <a:t>Sans compromettre le secret médical.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DAHWeySPSWE</dc:identifier>
  <dcterms:modified xsi:type="dcterms:W3CDTF">2011-08-01T06:04:30Z</dcterms:modified>
  <cp:revision>1</cp:revision>
  <dc:title>Projet_CISIA_LSB</dc:title>
</cp:coreProperties>
</file>
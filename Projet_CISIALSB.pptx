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8288000" cy="10287000"/>
  <p:notesSz cx="6858000" cy="9144000"/>
  <p:embeddedFontLst>
    <p:embeddedFont>
      <p:font typeface="Calibri (MS) Italics" charset="1" panose="020F05020202040A0204"/>
      <p:regular r:id="rId29"/>
    </p:embeddedFont>
    <p:embeddedFont>
      <p:font typeface="Arial Bold" charset="1" panose="020B0704020202020204"/>
      <p:regular r:id="rId30"/>
    </p:embeddedFont>
    <p:embeddedFont>
      <p:font typeface="Arimo" charset="1" panose="020B0604020202020204"/>
      <p:regular r:id="rId31"/>
    </p:embeddedFont>
    <p:embeddedFont>
      <p:font typeface="Calibri (MS) Bold" charset="1" panose="020F0702030404030204"/>
      <p:regular r:id="rId32"/>
    </p:embeddedFont>
    <p:embeddedFont>
      <p:font typeface="Calibri (MS)" charset="1" panose="020F0502020204030204"/>
      <p:regular r:id="rId33"/>
    </p:embeddedFont>
    <p:embeddedFont>
      <p:font typeface="TT Rounds Condensed" charset="1" panose="02000506030000020003"/>
      <p:regular r:id="rId34"/>
    </p:embeddedFont>
    <p:embeddedFont>
      <p:font typeface="TT Rounds Condensed Bold" charset="1" panose="02000806030000020003"/>
      <p:regular r:id="rId35"/>
    </p:embeddedFont>
    <p:embeddedFont>
      <p:font typeface="Noto Serif Bold" charset="1" panose="02020800060500020200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jpeg" Type="http://schemas.openxmlformats.org/officeDocument/2006/relationships/image"/><Relationship Id="rId4" Target="../media/image5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svg" Type="http://schemas.openxmlformats.org/officeDocument/2006/relationships/image"/><Relationship Id="rId2" Target="../media/image1.jpe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sv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24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27.png" Type="http://schemas.openxmlformats.org/officeDocument/2006/relationships/image"/><Relationship Id="rId8" Target="../media/image28.svg" Type="http://schemas.openxmlformats.org/officeDocument/2006/relationships/image"/><Relationship Id="rId9" Target="../media/image2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1.png" Type="http://schemas.openxmlformats.org/officeDocument/2006/relationships/image"/><Relationship Id="rId4" Target="../media/image32.svg" Type="http://schemas.openxmlformats.org/officeDocument/2006/relationships/image"/><Relationship Id="rId5" Target="../media/image33.png" Type="http://schemas.openxmlformats.org/officeDocument/2006/relationships/image"/><Relationship Id="rId6" Target="../media/image34.svg" Type="http://schemas.openxmlformats.org/officeDocument/2006/relationships/image"/><Relationship Id="rId7" Target="../media/image35.png" Type="http://schemas.openxmlformats.org/officeDocument/2006/relationships/image"/><Relationship Id="rId8" Target="../media/image36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svg" Type="http://schemas.openxmlformats.org/officeDocument/2006/relationships/image"/><Relationship Id="rId2" Target="../media/image1.jpeg" Type="http://schemas.openxmlformats.org/officeDocument/2006/relationships/image"/><Relationship Id="rId3" Target="../media/image37.png" Type="http://schemas.openxmlformats.org/officeDocument/2006/relationships/image"/><Relationship Id="rId4" Target="../media/image38.svg" Type="http://schemas.openxmlformats.org/officeDocument/2006/relationships/image"/><Relationship Id="rId5" Target="../media/image39.png" Type="http://schemas.openxmlformats.org/officeDocument/2006/relationships/image"/><Relationship Id="rId6" Target="../media/image40.svg" Type="http://schemas.openxmlformats.org/officeDocument/2006/relationships/image"/><Relationship Id="rId7" Target="../media/image41.png" Type="http://schemas.openxmlformats.org/officeDocument/2006/relationships/image"/><Relationship Id="rId8" Target="../media/image42.svg" Type="http://schemas.openxmlformats.org/officeDocument/2006/relationships/image"/><Relationship Id="rId9" Target="../media/image4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2.svg" Type="http://schemas.openxmlformats.org/officeDocument/2006/relationships/image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46.svg" Type="http://schemas.openxmlformats.org/officeDocument/2006/relationships/image"/><Relationship Id="rId5" Target="../media/image47.png" Type="http://schemas.openxmlformats.org/officeDocument/2006/relationships/image"/><Relationship Id="rId6" Target="../media/image48.svg" Type="http://schemas.openxmlformats.org/officeDocument/2006/relationships/image"/><Relationship Id="rId7" Target="../media/image49.png" Type="http://schemas.openxmlformats.org/officeDocument/2006/relationships/image"/><Relationship Id="rId8" Target="../media/image50.sv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3.png" Type="http://schemas.openxmlformats.org/officeDocument/2006/relationships/image"/><Relationship Id="rId4" Target="../media/image54.svg" Type="http://schemas.openxmlformats.org/officeDocument/2006/relationships/image"/><Relationship Id="rId5" Target="../media/image55.png" Type="http://schemas.openxmlformats.org/officeDocument/2006/relationships/image"/><Relationship Id="rId6" Target="../media/image56.svg" Type="http://schemas.openxmlformats.org/officeDocument/2006/relationships/image"/><Relationship Id="rId7" Target="../media/image57.png" Type="http://schemas.openxmlformats.org/officeDocument/2006/relationships/image"/><Relationship Id="rId8" Target="../media/image58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62.png" Type="http://schemas.openxmlformats.org/officeDocument/2006/relationships/image"/><Relationship Id="rId6" Target="../media/image63.svg" Type="http://schemas.openxmlformats.org/officeDocument/2006/relationships/image"/><Relationship Id="rId7" Target="../media/image64.png" Type="http://schemas.openxmlformats.org/officeDocument/2006/relationships/image"/><Relationship Id="rId8" Target="../media/image65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3.svg" Type="http://schemas.openxmlformats.org/officeDocument/2006/relationships/image"/><Relationship Id="rId11" Target="../media/image74.png" Type="http://schemas.openxmlformats.org/officeDocument/2006/relationships/image"/><Relationship Id="rId12" Target="../media/image75.svg" Type="http://schemas.openxmlformats.org/officeDocument/2006/relationships/image"/><Relationship Id="rId2" Target="../media/image1.jpeg" Type="http://schemas.openxmlformats.org/officeDocument/2006/relationships/image"/><Relationship Id="rId3" Target="../media/image66.png" Type="http://schemas.openxmlformats.org/officeDocument/2006/relationships/image"/><Relationship Id="rId4" Target="../media/image67.svg" Type="http://schemas.openxmlformats.org/officeDocument/2006/relationships/image"/><Relationship Id="rId5" Target="../media/image68.png" Type="http://schemas.openxmlformats.org/officeDocument/2006/relationships/image"/><Relationship Id="rId6" Target="../media/image69.svg" Type="http://schemas.openxmlformats.org/officeDocument/2006/relationships/image"/><Relationship Id="rId7" Target="../media/image70.png" Type="http://schemas.openxmlformats.org/officeDocument/2006/relationships/image"/><Relationship Id="rId8" Target="../media/image71.svg" Type="http://schemas.openxmlformats.org/officeDocument/2006/relationships/image"/><Relationship Id="rId9" Target="../media/image72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2.svg" Type="http://schemas.openxmlformats.org/officeDocument/2006/relationships/image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46.svg" Type="http://schemas.openxmlformats.org/officeDocument/2006/relationships/image"/><Relationship Id="rId5" Target="../media/image47.png" Type="http://schemas.openxmlformats.org/officeDocument/2006/relationships/image"/><Relationship Id="rId6" Target="../media/image48.svg" Type="http://schemas.openxmlformats.org/officeDocument/2006/relationships/image"/><Relationship Id="rId7" Target="../media/image49.png" Type="http://schemas.openxmlformats.org/officeDocument/2006/relationships/image"/><Relationship Id="rId8" Target="../media/image50.sv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7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35686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295417" y="3282591"/>
            <a:ext cx="3729771" cy="3729866"/>
            <a:chOff x="0" y="0"/>
            <a:chExt cx="4973028" cy="4973155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4973066" cy="4973193"/>
            </a:xfrm>
            <a:custGeom>
              <a:avLst/>
              <a:gdLst/>
              <a:ahLst/>
              <a:cxnLst/>
              <a:rect r="r" b="b" t="t" l="l"/>
              <a:pathLst>
                <a:path h="4973193" w="4973066">
                  <a:moveTo>
                    <a:pt x="0" y="0"/>
                  </a:moveTo>
                  <a:lnTo>
                    <a:pt x="4973066" y="0"/>
                  </a:lnTo>
                  <a:lnTo>
                    <a:pt x="4973066" y="4973193"/>
                  </a:lnTo>
                  <a:lnTo>
                    <a:pt x="0" y="4973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081652" y="0"/>
            <a:ext cx="7206348" cy="10295039"/>
            <a:chOff x="0" y="0"/>
            <a:chExt cx="9608464" cy="13726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08439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608439">
                  <a:moveTo>
                    <a:pt x="0" y="0"/>
                  </a:moveTo>
                  <a:lnTo>
                    <a:pt x="9608439" y="0"/>
                  </a:lnTo>
                  <a:lnTo>
                    <a:pt x="9608439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991" y="2350160"/>
            <a:ext cx="9452677" cy="1039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i="true">
                <a:solidFill>
                  <a:srgbClr val="006747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CISIA Santé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3277" y="3455546"/>
            <a:ext cx="9226458" cy="2707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3"/>
              </a:lnSpc>
            </a:pPr>
            <a:r>
              <a:rPr lang="en-US" sz="6004" b="true">
                <a:solidFill>
                  <a:srgbClr val="006747"/>
                </a:solidFill>
                <a:latin typeface="Arial Bold"/>
                <a:ea typeface="Arial Bold"/>
                <a:cs typeface="Arial Bold"/>
                <a:sym typeface="Arial Bold"/>
              </a:rPr>
              <a:t>Priorisez les sorties à risque avant la réadmission.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6493012"/>
            <a:ext cx="10367762" cy="549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Score de réadmission à 30 jours · explicable · 100 % local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88219" y="7356662"/>
            <a:ext cx="4116429" cy="440579"/>
            <a:chOff x="0" y="0"/>
            <a:chExt cx="5488572" cy="58743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488559" cy="587375"/>
            </a:xfrm>
            <a:custGeom>
              <a:avLst/>
              <a:gdLst/>
              <a:ahLst/>
              <a:cxnLst/>
              <a:rect r="r" b="b" t="t" l="l"/>
              <a:pathLst>
                <a:path h="587375" w="5488559">
                  <a:moveTo>
                    <a:pt x="0" y="278384"/>
                  </a:moveTo>
                  <a:cubicBezTo>
                    <a:pt x="0" y="124714"/>
                    <a:pt x="124714" y="0"/>
                    <a:pt x="278384" y="0"/>
                  </a:cubicBezTo>
                  <a:lnTo>
                    <a:pt x="5210175" y="0"/>
                  </a:lnTo>
                  <a:cubicBezTo>
                    <a:pt x="5363972" y="0"/>
                    <a:pt x="5488559" y="124714"/>
                    <a:pt x="5488559" y="278384"/>
                  </a:cubicBezTo>
                  <a:lnTo>
                    <a:pt x="5488559" y="308991"/>
                  </a:lnTo>
                  <a:cubicBezTo>
                    <a:pt x="5488559" y="462788"/>
                    <a:pt x="5363845" y="587375"/>
                    <a:pt x="5210175" y="587375"/>
                  </a:cubicBezTo>
                  <a:lnTo>
                    <a:pt x="278384" y="587375"/>
                  </a:lnTo>
                  <a:cubicBezTo>
                    <a:pt x="124714" y="587375"/>
                    <a:pt x="0" y="462788"/>
                    <a:pt x="0" y="308991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2067" r="0" b="-132078"/>
              </a:stretch>
            </a:blip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162955" y="7437225"/>
            <a:ext cx="3766271" cy="267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006747"/>
                </a:solidFill>
                <a:latin typeface="Arimo"/>
                <a:ea typeface="Arimo"/>
                <a:cs typeface="Arimo"/>
                <a:sym typeface="Arimo"/>
              </a:rPr>
              <a:t>Léo Segalini Briant · Certification CIF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236902" y="7356662"/>
            <a:ext cx="4098255" cy="440579"/>
            <a:chOff x="0" y="0"/>
            <a:chExt cx="5464340" cy="5874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64302" cy="587375"/>
            </a:xfrm>
            <a:custGeom>
              <a:avLst/>
              <a:gdLst/>
              <a:ahLst/>
              <a:cxnLst/>
              <a:rect r="r" b="b" t="t" l="l"/>
              <a:pathLst>
                <a:path h="587375" w="5464302">
                  <a:moveTo>
                    <a:pt x="0" y="278384"/>
                  </a:moveTo>
                  <a:cubicBezTo>
                    <a:pt x="0" y="124714"/>
                    <a:pt x="124714" y="0"/>
                    <a:pt x="278384" y="0"/>
                  </a:cubicBezTo>
                  <a:lnTo>
                    <a:pt x="5185918" y="0"/>
                  </a:lnTo>
                  <a:cubicBezTo>
                    <a:pt x="5339715" y="0"/>
                    <a:pt x="5464302" y="124714"/>
                    <a:pt x="5464302" y="278384"/>
                  </a:cubicBezTo>
                  <a:lnTo>
                    <a:pt x="5464302" y="308991"/>
                  </a:lnTo>
                  <a:cubicBezTo>
                    <a:pt x="5464302" y="462788"/>
                    <a:pt x="5339588" y="587375"/>
                    <a:pt x="5185918" y="587375"/>
                  </a:cubicBezTo>
                  <a:lnTo>
                    <a:pt x="278384" y="587375"/>
                  </a:lnTo>
                  <a:cubicBezTo>
                    <a:pt x="124714" y="587375"/>
                    <a:pt x="0" y="462788"/>
                    <a:pt x="0" y="308991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1263" r="0" b="-131274"/>
              </a:stretch>
            </a:blip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5411572" y="7437225"/>
            <a:ext cx="3738629" cy="258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006747"/>
                </a:solidFill>
                <a:latin typeface="Arimo"/>
                <a:ea typeface="Arimo"/>
                <a:cs typeface="Arimo"/>
                <a:sym typeface="Arimo"/>
              </a:rPr>
              <a:t>Données synthétiques · Démo locale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101147"/>
            <a:ext cx="1476746" cy="431044"/>
            <a:chOff x="0" y="0"/>
            <a:chExt cx="1968995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69008" cy="574802"/>
            </a:xfrm>
            <a:custGeom>
              <a:avLst/>
              <a:gdLst/>
              <a:ahLst/>
              <a:cxnLst/>
              <a:rect r="r" b="b" t="t" l="l"/>
              <a:pathLst>
                <a:path h="574802" w="1969008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1696593" y="0"/>
                  </a:lnTo>
                  <a:cubicBezTo>
                    <a:pt x="1847088" y="0"/>
                    <a:pt x="1969008" y="121920"/>
                    <a:pt x="1969008" y="272415"/>
                  </a:cubicBezTo>
                  <a:lnTo>
                    <a:pt x="1969008" y="302387"/>
                  </a:lnTo>
                  <a:cubicBezTo>
                    <a:pt x="1969008" y="452882"/>
                    <a:pt x="1847088" y="574802"/>
                    <a:pt x="1696593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1166784"/>
            <a:ext cx="1139123" cy="285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CONTEXTE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3277" y="1591075"/>
            <a:ext cx="16324316" cy="1278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 défi clinique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2991" y="3614137"/>
            <a:ext cx="5260438" cy="5260572"/>
            <a:chOff x="0" y="0"/>
            <a:chExt cx="7013918" cy="7014096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7013956" cy="7014083"/>
            </a:xfrm>
            <a:custGeom>
              <a:avLst/>
              <a:gdLst/>
              <a:ahLst/>
              <a:cxnLst/>
              <a:rect r="r" b="b" t="t" l="l"/>
              <a:pathLst>
                <a:path h="7014083" w="7013956">
                  <a:moveTo>
                    <a:pt x="0" y="0"/>
                  </a:moveTo>
                  <a:lnTo>
                    <a:pt x="7013956" y="0"/>
                  </a:lnTo>
                  <a:lnTo>
                    <a:pt x="7013956" y="7014083"/>
                  </a:lnTo>
                  <a:lnTo>
                    <a:pt x="0" y="70140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955231" y="4744574"/>
            <a:ext cx="10363000" cy="148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Chaque année, des patients sortent à domicile… et reviennent sous 30 jours.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Sans outil de priorisation, vos équipes suivent « à l'aveugle » : trop tard, trop large, trop coûteux.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55231" y="6314189"/>
            <a:ext cx="10363000" cy="1306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1"/>
              </a:lnSpc>
            </a:pPr>
            <a:r>
              <a:rPr lang="en-US" sz="3002">
                <a:solidFill>
                  <a:srgbClr val="006747"/>
                </a:solidFill>
                <a:latin typeface="Calibri (MS)"/>
                <a:ea typeface="Calibri (MS)"/>
                <a:cs typeface="Calibri (MS)"/>
                <a:sym typeface="Calibri (MS)"/>
              </a:rPr>
              <a:t>Qui doit être rappelé/accompagné en priorité après la sortie 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247108"/>
            <a:ext cx="1476746" cy="431044"/>
            <a:chOff x="0" y="0"/>
            <a:chExt cx="1968995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69008" cy="574802"/>
            </a:xfrm>
            <a:custGeom>
              <a:avLst/>
              <a:gdLst/>
              <a:ahLst/>
              <a:cxnLst/>
              <a:rect r="r" b="b" t="t" l="l"/>
              <a:pathLst>
                <a:path h="574802" w="1969008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1696593" y="0"/>
                  </a:lnTo>
                  <a:cubicBezTo>
                    <a:pt x="1847088" y="0"/>
                    <a:pt x="1969008" y="121920"/>
                    <a:pt x="1969008" y="272415"/>
                  </a:cubicBezTo>
                  <a:lnTo>
                    <a:pt x="1969008" y="302387"/>
                  </a:lnTo>
                  <a:cubicBezTo>
                    <a:pt x="1969008" y="452882"/>
                    <a:pt x="1847088" y="574802"/>
                    <a:pt x="1696593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82024" y="1313583"/>
            <a:ext cx="1099090" cy="233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CONTEXTE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3277" y="1649225"/>
            <a:ext cx="16384372" cy="1900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 que vous perdez chaque jour sans solution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73922" y="3971458"/>
            <a:ext cx="8054121" cy="2203333"/>
            <a:chOff x="0" y="0"/>
            <a:chExt cx="10738828" cy="29377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738739" cy="2937764"/>
            </a:xfrm>
            <a:custGeom>
              <a:avLst/>
              <a:gdLst/>
              <a:ahLst/>
              <a:cxnLst/>
              <a:rect r="r" b="b" t="t" l="l"/>
              <a:pathLst>
                <a:path h="2937764" w="10738739">
                  <a:moveTo>
                    <a:pt x="0" y="346456"/>
                  </a:moveTo>
                  <a:cubicBezTo>
                    <a:pt x="0" y="155067"/>
                    <a:pt x="155067" y="0"/>
                    <a:pt x="346456" y="0"/>
                  </a:cubicBezTo>
                  <a:lnTo>
                    <a:pt x="10392283" y="0"/>
                  </a:lnTo>
                  <a:cubicBezTo>
                    <a:pt x="10583672" y="0"/>
                    <a:pt x="10738739" y="155067"/>
                    <a:pt x="10738739" y="346456"/>
                  </a:cubicBezTo>
                  <a:lnTo>
                    <a:pt x="10738739" y="2591308"/>
                  </a:lnTo>
                  <a:cubicBezTo>
                    <a:pt x="10738739" y="2782697"/>
                    <a:pt x="10583672" y="2937764"/>
                    <a:pt x="10392283" y="2937764"/>
                  </a:cubicBezTo>
                  <a:lnTo>
                    <a:pt x="346456" y="2937764"/>
                  </a:lnTo>
                  <a:cubicBezTo>
                    <a:pt x="155067" y="2937764"/>
                    <a:pt x="0" y="2782697"/>
                    <a:pt x="0" y="259130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38128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314850" y="4245712"/>
            <a:ext cx="7372274" cy="509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Aucune vision objective du risque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14526" y="4801591"/>
            <a:ext cx="7372398" cy="104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Impossible d'identifier les patients fragiles avant qu'il ne soit trop tard.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73645" y="3971458"/>
            <a:ext cx="8054273" cy="2203333"/>
            <a:chOff x="0" y="0"/>
            <a:chExt cx="10739031" cy="293777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738993" cy="2937764"/>
            </a:xfrm>
            <a:custGeom>
              <a:avLst/>
              <a:gdLst/>
              <a:ahLst/>
              <a:cxnLst/>
              <a:rect r="r" b="b" t="t" l="l"/>
              <a:pathLst>
                <a:path h="2937764" w="10738993">
                  <a:moveTo>
                    <a:pt x="0" y="346456"/>
                  </a:moveTo>
                  <a:cubicBezTo>
                    <a:pt x="0" y="155067"/>
                    <a:pt x="155067" y="0"/>
                    <a:pt x="346456" y="0"/>
                  </a:cubicBezTo>
                  <a:lnTo>
                    <a:pt x="10392537" y="0"/>
                  </a:lnTo>
                  <a:cubicBezTo>
                    <a:pt x="10583926" y="0"/>
                    <a:pt x="10738993" y="155067"/>
                    <a:pt x="10738993" y="346456"/>
                  </a:cubicBezTo>
                  <a:lnTo>
                    <a:pt x="10738993" y="2591308"/>
                  </a:lnTo>
                  <a:cubicBezTo>
                    <a:pt x="10738993" y="2782697"/>
                    <a:pt x="10583926" y="2937764"/>
                    <a:pt x="10392537" y="2937764"/>
                  </a:cubicBezTo>
                  <a:lnTo>
                    <a:pt x="346456" y="2937764"/>
                  </a:lnTo>
                  <a:cubicBezTo>
                    <a:pt x="155067" y="2937764"/>
                    <a:pt x="0" y="2782697"/>
                    <a:pt x="0" y="259130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38128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9614573" y="4245712"/>
            <a:ext cx="7372417" cy="509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Charge inutile sur les faibles risques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14430" y="4801591"/>
            <a:ext cx="7363816" cy="10112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Vos équipes mobilisent du temps et des ressources là où ce n'est pas nécessaire.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73922" y="6420402"/>
            <a:ext cx="8054121" cy="2646597"/>
            <a:chOff x="0" y="0"/>
            <a:chExt cx="10738828" cy="352879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738739" cy="3528822"/>
            </a:xfrm>
            <a:custGeom>
              <a:avLst/>
              <a:gdLst/>
              <a:ahLst/>
              <a:cxnLst/>
              <a:rect r="r" b="b" t="t" l="l"/>
              <a:pathLst>
                <a:path h="3528822" w="10738739">
                  <a:moveTo>
                    <a:pt x="0" y="345440"/>
                  </a:moveTo>
                  <a:cubicBezTo>
                    <a:pt x="0" y="154686"/>
                    <a:pt x="154686" y="0"/>
                    <a:pt x="345440" y="0"/>
                  </a:cubicBezTo>
                  <a:lnTo>
                    <a:pt x="10393299" y="0"/>
                  </a:lnTo>
                  <a:cubicBezTo>
                    <a:pt x="10584053" y="0"/>
                    <a:pt x="10738739" y="154686"/>
                    <a:pt x="10738739" y="345440"/>
                  </a:cubicBezTo>
                  <a:lnTo>
                    <a:pt x="10738739" y="3183382"/>
                  </a:lnTo>
                  <a:cubicBezTo>
                    <a:pt x="10738739" y="3374136"/>
                    <a:pt x="10584053" y="3528822"/>
                    <a:pt x="10393299" y="3528822"/>
                  </a:cubicBezTo>
                  <a:lnTo>
                    <a:pt x="345440" y="3528822"/>
                  </a:lnTo>
                  <a:cubicBezTo>
                    <a:pt x="154686" y="3528822"/>
                    <a:pt x="0" y="3374136"/>
                    <a:pt x="0" y="3183382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38128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314526" y="6694694"/>
            <a:ext cx="7381923" cy="953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Peu de traçabilité pour justifier une alerte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4850" y="7266261"/>
            <a:ext cx="7372274" cy="103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Sans données probantes, difficile de défendre une décision clinique.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273645" y="6420402"/>
            <a:ext cx="8054273" cy="2646597"/>
            <a:chOff x="0" y="0"/>
            <a:chExt cx="10739031" cy="352879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738993" cy="3528822"/>
            </a:xfrm>
            <a:custGeom>
              <a:avLst/>
              <a:gdLst/>
              <a:ahLst/>
              <a:cxnLst/>
              <a:rect r="r" b="b" t="t" l="l"/>
              <a:pathLst>
                <a:path h="3528822" w="10738993">
                  <a:moveTo>
                    <a:pt x="0" y="345440"/>
                  </a:moveTo>
                  <a:cubicBezTo>
                    <a:pt x="0" y="154686"/>
                    <a:pt x="154686" y="0"/>
                    <a:pt x="345440" y="0"/>
                  </a:cubicBezTo>
                  <a:lnTo>
                    <a:pt x="10393553" y="0"/>
                  </a:lnTo>
                  <a:cubicBezTo>
                    <a:pt x="10584307" y="0"/>
                    <a:pt x="10738993" y="154686"/>
                    <a:pt x="10738993" y="345440"/>
                  </a:cubicBezTo>
                  <a:lnTo>
                    <a:pt x="10738993" y="3183382"/>
                  </a:lnTo>
                  <a:cubicBezTo>
                    <a:pt x="10738993" y="3374136"/>
                    <a:pt x="10584307" y="3528822"/>
                    <a:pt x="10393553" y="3528822"/>
                  </a:cubicBezTo>
                  <a:lnTo>
                    <a:pt x="345440" y="3528822"/>
                  </a:lnTo>
                  <a:cubicBezTo>
                    <a:pt x="154686" y="3528822"/>
                    <a:pt x="0" y="3374136"/>
                    <a:pt x="0" y="3183382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38128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9614573" y="6694656"/>
            <a:ext cx="7372417" cy="509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Pression RGPD &amp; secret médical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614573" y="7251011"/>
            <a:ext cx="7372417" cy="103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Les outils cloud freinent l'adoption faute de conformité garantie.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856182" y="2481262"/>
            <a:ext cx="3085900" cy="431044"/>
            <a:chOff x="0" y="0"/>
            <a:chExt cx="4114533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114546" cy="574802"/>
            </a:xfrm>
            <a:custGeom>
              <a:avLst/>
              <a:gdLst/>
              <a:ahLst/>
              <a:cxnLst/>
              <a:rect r="r" b="b" t="t" l="l"/>
              <a:pathLst>
                <a:path h="574802" w="4114546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3842131" y="0"/>
                  </a:lnTo>
                  <a:cubicBezTo>
                    <a:pt x="3992626" y="0"/>
                    <a:pt x="4114546" y="121920"/>
                    <a:pt x="4114546" y="272415"/>
                  </a:cubicBezTo>
                  <a:lnTo>
                    <a:pt x="4114546" y="302387"/>
                  </a:lnTo>
                  <a:cubicBezTo>
                    <a:pt x="4114546" y="452882"/>
                    <a:pt x="3992626" y="574802"/>
                    <a:pt x="3842131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8026317" y="2547080"/>
            <a:ext cx="2763460" cy="264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PROPOSITION DE VALEUR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56182" y="2882932"/>
            <a:ext cx="9452677" cy="19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Notre proposition de valeur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856639" y="5100914"/>
            <a:ext cx="9452372" cy="2712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CISIA Readmit</a:t>
            </a: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 estime le risque de réadmission à 30 jours au moment de la sortie, explique pourquoi, et aide à déclencher un suivi renforcé là où ça compte.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solution opérationnelle pour le coordinateur de sortie — pas un gadget data.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-70542" y="0"/>
            <a:ext cx="6786153" cy="10295039"/>
            <a:chOff x="0" y="0"/>
            <a:chExt cx="9048204" cy="1372671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048242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048242">
                  <a:moveTo>
                    <a:pt x="0" y="0"/>
                  </a:moveTo>
                  <a:lnTo>
                    <a:pt x="4524121" y="0"/>
                  </a:lnTo>
                  <a:cubicBezTo>
                    <a:pt x="7022719" y="0"/>
                    <a:pt x="9048242" y="3072892"/>
                    <a:pt x="9048242" y="6863334"/>
                  </a:cubicBezTo>
                  <a:cubicBezTo>
                    <a:pt x="9048242" y="10653775"/>
                    <a:pt x="7022719" y="13726668"/>
                    <a:pt x="4524121" y="13726668"/>
                  </a:cubicBezTo>
                  <a:lnTo>
                    <a:pt x="0" y="13726668"/>
                  </a:lnTo>
                  <a:close/>
                </a:path>
              </a:pathLst>
            </a:custGeom>
            <a:blipFill>
              <a:blip r:embed="rId3"/>
              <a:stretch>
                <a:fillRect l="-568" t="0" r="-568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2345246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Bénéfices pour votre établissement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75170" y="4197134"/>
            <a:ext cx="3866359" cy="3464090"/>
            <a:chOff x="0" y="0"/>
            <a:chExt cx="5155146" cy="461878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441258" y="3732905"/>
            <a:ext cx="934183" cy="886520"/>
            <a:chOff x="0" y="0"/>
            <a:chExt cx="1245578" cy="11820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11" id="11" descr="preencoded.png"/>
          <p:cNvSpPr/>
          <p:nvPr/>
        </p:nvSpPr>
        <p:spPr>
          <a:xfrm flipH="false" flipV="false" rot="0">
            <a:off x="2755830" y="4007444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388" t="0" r="-1388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315479" y="4912119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Prioriser les bonnes sorties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15479" y="6055109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Temps soignant focalisé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62682" y="4140898"/>
            <a:ext cx="3866359" cy="3464090"/>
            <a:chOff x="0" y="0"/>
            <a:chExt cx="5155146" cy="461878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620099" y="3732905"/>
            <a:ext cx="934183" cy="886520"/>
            <a:chOff x="0" y="0"/>
            <a:chExt cx="1245578" cy="118202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583922" y="4932140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Prouver la conformité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583922" y="6042717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Registre, biais, local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3450281" y="4140898"/>
            <a:ext cx="3866359" cy="3464090"/>
            <a:chOff x="0" y="0"/>
            <a:chExt cx="5155146" cy="461878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4916369" y="3676669"/>
            <a:ext cx="934183" cy="886520"/>
            <a:chOff x="0" y="0"/>
            <a:chExt cx="1245578" cy="118202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3790590" y="4865408"/>
            <a:ext cx="3221965" cy="96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5"/>
              </a:lnSpc>
            </a:pPr>
            <a:r>
              <a:rPr lang="en-US" sz="243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Intégrer sans exposer le DPI au cloud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790590" y="5998864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(ou : Intégrer sans risque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 — DPI 100% local)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5074120" y="4198087"/>
            <a:ext cx="3866359" cy="3464090"/>
            <a:chOff x="0" y="0"/>
            <a:chExt cx="5155146" cy="4618787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391504" y="3732905"/>
            <a:ext cx="934183" cy="886520"/>
            <a:chOff x="0" y="0"/>
            <a:chExt cx="1245578" cy="118202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30" id="30" descr="Reading"/>
          <p:cNvSpPr/>
          <p:nvPr/>
        </p:nvSpPr>
        <p:spPr>
          <a:xfrm flipH="false" flipV="false" rot="0">
            <a:off x="6687969" y="4009349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5377253" y="4916891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Comprendre chaque alerte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377253" y="6130414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SHAP +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justification en français</a:t>
            </a:r>
          </a:p>
        </p:txBody>
      </p:sp>
      <p:sp>
        <p:nvSpPr>
          <p:cNvPr name="Freeform 33" id="33" descr="preencoded.png"/>
          <p:cNvSpPr/>
          <p:nvPr/>
        </p:nvSpPr>
        <p:spPr>
          <a:xfrm flipH="false" flipV="false" rot="0">
            <a:off x="10897495" y="4007444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10" y="0"/>
                </a:lnTo>
                <a:lnTo>
                  <a:pt x="340310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12500" r="0" b="-12499"/>
            </a:stretch>
          </a:blipFill>
        </p:spPr>
      </p:sp>
      <p:sp>
        <p:nvSpPr>
          <p:cNvPr name="Freeform 34" id="34" descr="preencoded.png"/>
          <p:cNvSpPr/>
          <p:nvPr/>
        </p:nvSpPr>
        <p:spPr>
          <a:xfrm flipH="false" flipV="false" rot="0">
            <a:off x="15212835" y="3934997"/>
            <a:ext cx="341262" cy="341262"/>
          </a:xfrm>
          <a:custGeom>
            <a:avLst/>
            <a:gdLst/>
            <a:ahLst/>
            <a:cxnLst/>
            <a:rect r="r" b="b" t="t" l="l"/>
            <a:pathLst>
              <a:path h="341262" w="341262">
                <a:moveTo>
                  <a:pt x="0" y="0"/>
                </a:moveTo>
                <a:lnTo>
                  <a:pt x="341261" y="0"/>
                </a:lnTo>
                <a:lnTo>
                  <a:pt x="341261" y="341261"/>
                </a:lnTo>
                <a:lnTo>
                  <a:pt x="0" y="34126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6944" t="0" r="-6944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831666"/>
            <a:ext cx="16315868" cy="940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Comment ça marche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808740" y="2232231"/>
            <a:ext cx="14684216" cy="6441405"/>
            <a:chOff x="0" y="0"/>
            <a:chExt cx="19578955" cy="8588540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9578955" cy="8588502"/>
            </a:xfrm>
            <a:custGeom>
              <a:avLst/>
              <a:gdLst/>
              <a:ahLst/>
              <a:cxnLst/>
              <a:rect r="r" b="b" t="t" l="l"/>
              <a:pathLst>
                <a:path h="8588502" w="19578955">
                  <a:moveTo>
                    <a:pt x="0" y="0"/>
                  </a:moveTo>
                  <a:lnTo>
                    <a:pt x="19578955" y="0"/>
                  </a:lnTo>
                  <a:lnTo>
                    <a:pt x="19578955" y="8588502"/>
                  </a:lnTo>
                  <a:lnTo>
                    <a:pt x="0" y="8588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3" t="0" r="-3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258897" y="6933371"/>
            <a:ext cx="2219306" cy="445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401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Calcul risque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258897" y="7443778"/>
            <a:ext cx="2219306" cy="651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"/>
              </a:lnSpc>
            </a:pPr>
            <a:r>
              <a:rPr lang="en-US" sz="195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Score automatisé en pourcentage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09102" y="6535988"/>
            <a:ext cx="2219306" cy="842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401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Action équipe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309102" y="7443778"/>
            <a:ext cx="2219306" cy="651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"/>
              </a:lnSpc>
            </a:pPr>
            <a:r>
              <a:rPr lang="en-US" sz="195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Intervention et recommandation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11504" y="2763545"/>
            <a:ext cx="2219306" cy="842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401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Données séjour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811504" y="3671335"/>
            <a:ext cx="2219306" cy="953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"/>
              </a:lnSpc>
            </a:pPr>
            <a:r>
              <a:rPr lang="en-US" sz="195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Collecte des paramètres patients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833448" y="2763545"/>
            <a:ext cx="2219306" cy="445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401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Alerte suivi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833448" y="3273952"/>
            <a:ext cx="2219306" cy="651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"/>
              </a:lnSpc>
            </a:pPr>
            <a:r>
              <a:rPr lang="en-US" sz="195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Notification si seuil dépassé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35438" y="8827427"/>
            <a:ext cx="17230954" cy="492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4"/>
              </a:lnSpc>
            </a:pPr>
            <a:r>
              <a:rPr lang="en-US" sz="19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 1 coup d'œil : % de risque, seuil d'alerte, recommandation « suivi renforcé ».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632280"/>
            <a:ext cx="2364134" cy="431044"/>
            <a:chOff x="0" y="0"/>
            <a:chExt cx="3152178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52140" cy="574802"/>
            </a:xfrm>
            <a:custGeom>
              <a:avLst/>
              <a:gdLst/>
              <a:ahLst/>
              <a:cxnLst/>
              <a:rect r="r" b="b" t="t" l="l"/>
              <a:pathLst>
                <a:path h="574802" w="3152140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2879725" y="0"/>
                  </a:lnTo>
                  <a:cubicBezTo>
                    <a:pt x="3030220" y="0"/>
                    <a:pt x="3152140" y="121920"/>
                    <a:pt x="3152140" y="272415"/>
                  </a:cubicBezTo>
                  <a:lnTo>
                    <a:pt x="3152140" y="302387"/>
                  </a:lnTo>
                  <a:cubicBezTo>
                    <a:pt x="3152140" y="452882"/>
                    <a:pt x="3030220" y="574802"/>
                    <a:pt x="2879725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1698698"/>
            <a:ext cx="2006584" cy="28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FONCTIONNALITÉS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2033949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Écran clé : score &amp; alerte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5438" y="3007728"/>
            <a:ext cx="17230954" cy="577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Dès la sortie, visualisez immédiatement le risque de réadmission et les actions prioritaires.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7779" y="8010573"/>
            <a:ext cx="16805434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 spc="-12">
                <a:solidFill>
                  <a:srgbClr val="4B4A4A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         </a:t>
            </a:r>
            <a:r>
              <a:rPr lang="en-US" b="true" sz="2101" spc="-12">
                <a:solidFill>
                  <a:srgbClr val="4B4A4A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Exemple démo :</a:t>
            </a:r>
            <a:r>
              <a:rPr lang="en-US" sz="2101" spc="-12">
                <a:solidFill>
                  <a:srgbClr val="4B4A4A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 Patient avec un risque de </a:t>
            </a:r>
            <a:r>
              <a:rPr lang="en-US" sz="2101" spc="-12">
                <a:solidFill>
                  <a:srgbClr val="006747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85%</a:t>
            </a:r>
            <a:r>
              <a:rPr lang="en-US" sz="2101" spc="-12">
                <a:solidFill>
                  <a:srgbClr val="4B4A4A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 de réadmission, bien au-dessus du seuil d'alerte de </a:t>
            </a:r>
            <a:r>
              <a:rPr lang="en-US" sz="2101" spc="-12">
                <a:solidFill>
                  <a:srgbClr val="006747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48%</a:t>
            </a:r>
            <a:r>
              <a:rPr lang="en-US" sz="2101" spc="-12">
                <a:solidFill>
                  <a:srgbClr val="4B4A4A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.       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35724" y="4522508"/>
            <a:ext cx="5520242" cy="2920422"/>
            <a:chOff x="0" y="0"/>
            <a:chExt cx="7360323" cy="389389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60285" cy="3893820"/>
            </a:xfrm>
            <a:custGeom>
              <a:avLst/>
              <a:gdLst/>
              <a:ahLst/>
              <a:cxnLst/>
              <a:rect r="r" b="b" t="t" l="l"/>
              <a:pathLst>
                <a:path h="3893820" w="7360285">
                  <a:moveTo>
                    <a:pt x="0" y="648970"/>
                  </a:moveTo>
                  <a:cubicBezTo>
                    <a:pt x="0" y="290576"/>
                    <a:pt x="290576" y="0"/>
                    <a:pt x="648970" y="0"/>
                  </a:cubicBezTo>
                  <a:lnTo>
                    <a:pt x="6711315" y="0"/>
                  </a:lnTo>
                  <a:cubicBezTo>
                    <a:pt x="7069709" y="0"/>
                    <a:pt x="7360285" y="290576"/>
                    <a:pt x="7360285" y="648970"/>
                  </a:cubicBezTo>
                  <a:lnTo>
                    <a:pt x="7360285" y="3244850"/>
                  </a:lnTo>
                  <a:cubicBezTo>
                    <a:pt x="7360285" y="3603244"/>
                    <a:pt x="7069709" y="3893820"/>
                    <a:pt x="6711315" y="3893820"/>
                  </a:cubicBezTo>
                  <a:lnTo>
                    <a:pt x="648970" y="3893820"/>
                  </a:lnTo>
                  <a:cubicBezTo>
                    <a:pt x="290576" y="3893947"/>
                    <a:pt x="0" y="3603371"/>
                    <a:pt x="0" y="3244850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867816" y="4092283"/>
            <a:ext cx="855164" cy="864251"/>
            <a:chOff x="0" y="0"/>
            <a:chExt cx="1140219" cy="11523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40206" cy="1152398"/>
            </a:xfrm>
            <a:custGeom>
              <a:avLst/>
              <a:gdLst/>
              <a:ahLst/>
              <a:cxnLst/>
              <a:rect r="r" b="b" t="t" l="l"/>
              <a:pathLst>
                <a:path h="1152398" w="1140206">
                  <a:moveTo>
                    <a:pt x="0" y="576199"/>
                  </a:moveTo>
                  <a:cubicBezTo>
                    <a:pt x="0" y="257937"/>
                    <a:pt x="255270" y="0"/>
                    <a:pt x="570103" y="0"/>
                  </a:cubicBezTo>
                  <a:cubicBezTo>
                    <a:pt x="884936" y="0"/>
                    <a:pt x="1140206" y="257937"/>
                    <a:pt x="1140206" y="576199"/>
                  </a:cubicBezTo>
                  <a:cubicBezTo>
                    <a:pt x="1140206" y="894461"/>
                    <a:pt x="884936" y="1152398"/>
                    <a:pt x="570103" y="1152398"/>
                  </a:cubicBezTo>
                  <a:cubicBezTo>
                    <a:pt x="255270" y="1152398"/>
                    <a:pt x="0" y="894334"/>
                    <a:pt x="0" y="576199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134066" y="5039754"/>
            <a:ext cx="4600204" cy="887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Probabilité de réadmission à 30 jours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34066" y="6029430"/>
            <a:ext cx="4600204" cy="487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score clair pour chaque patient.</a:t>
            </a:r>
          </a:p>
        </p:txBody>
      </p:sp>
      <p:sp>
        <p:nvSpPr>
          <p:cNvPr name="Freeform 18" id="18" descr="1 circle"/>
          <p:cNvSpPr/>
          <p:nvPr/>
        </p:nvSpPr>
        <p:spPr>
          <a:xfrm flipH="false" flipV="false" rot="0">
            <a:off x="3072365" y="4288869"/>
            <a:ext cx="446951" cy="471068"/>
          </a:xfrm>
          <a:custGeom>
            <a:avLst/>
            <a:gdLst/>
            <a:ahLst/>
            <a:cxnLst/>
            <a:rect r="r" b="b" t="t" l="l"/>
            <a:pathLst>
              <a:path h="471068" w="446951">
                <a:moveTo>
                  <a:pt x="0" y="0"/>
                </a:moveTo>
                <a:lnTo>
                  <a:pt x="446951" y="0"/>
                </a:lnTo>
                <a:lnTo>
                  <a:pt x="446951" y="471069"/>
                </a:lnTo>
                <a:lnTo>
                  <a:pt x="0" y="4710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-5395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6208481" y="4567952"/>
            <a:ext cx="5583155" cy="2890237"/>
            <a:chOff x="0" y="0"/>
            <a:chExt cx="7444207" cy="3853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444105" cy="3853561"/>
            </a:xfrm>
            <a:custGeom>
              <a:avLst/>
              <a:gdLst/>
              <a:ahLst/>
              <a:cxnLst/>
              <a:rect r="r" b="b" t="t" l="l"/>
              <a:pathLst>
                <a:path h="3853561" w="7444105">
                  <a:moveTo>
                    <a:pt x="0" y="642239"/>
                  </a:moveTo>
                  <a:cubicBezTo>
                    <a:pt x="0" y="287528"/>
                    <a:pt x="287528" y="0"/>
                    <a:pt x="642239" y="0"/>
                  </a:cubicBezTo>
                  <a:lnTo>
                    <a:pt x="6801866" y="0"/>
                  </a:lnTo>
                  <a:cubicBezTo>
                    <a:pt x="7156577" y="0"/>
                    <a:pt x="7444105" y="287528"/>
                    <a:pt x="7444105" y="642239"/>
                  </a:cubicBezTo>
                  <a:lnTo>
                    <a:pt x="7444105" y="3211322"/>
                  </a:lnTo>
                  <a:cubicBezTo>
                    <a:pt x="7444105" y="3566033"/>
                    <a:pt x="7156577" y="3853561"/>
                    <a:pt x="6801866" y="3853561"/>
                  </a:cubicBezTo>
                  <a:lnTo>
                    <a:pt x="642239" y="3853561"/>
                  </a:lnTo>
                  <a:cubicBezTo>
                    <a:pt x="287528" y="3853688"/>
                    <a:pt x="0" y="3566033"/>
                    <a:pt x="0" y="3211322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566814" y="4141851"/>
            <a:ext cx="864594" cy="855059"/>
            <a:chOff x="0" y="0"/>
            <a:chExt cx="1152792" cy="114007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5277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2779">
                  <a:moveTo>
                    <a:pt x="0" y="570103"/>
                  </a:moveTo>
                  <a:cubicBezTo>
                    <a:pt x="0" y="255270"/>
                    <a:pt x="258064" y="0"/>
                    <a:pt x="576453" y="0"/>
                  </a:cubicBezTo>
                  <a:cubicBezTo>
                    <a:pt x="894842" y="0"/>
                    <a:pt x="1152779" y="255270"/>
                    <a:pt x="1152779" y="570103"/>
                  </a:cubicBezTo>
                  <a:cubicBezTo>
                    <a:pt x="1152779" y="884936"/>
                    <a:pt x="894715" y="1140079"/>
                    <a:pt x="576453" y="1140079"/>
                  </a:cubicBezTo>
                  <a:cubicBezTo>
                    <a:pt x="258191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13794" y="5078035"/>
            <a:ext cx="4652791" cy="879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Seuil d’alerte calibré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813794" y="6057948"/>
            <a:ext cx="4652791" cy="483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Conçu pour identifier les patients à risque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sans les surcharger.</a:t>
            </a:r>
          </a:p>
        </p:txBody>
      </p:sp>
      <p:sp>
        <p:nvSpPr>
          <p:cNvPr name="Freeform 25" id="25" descr="2 circles"/>
          <p:cNvSpPr/>
          <p:nvPr/>
        </p:nvSpPr>
        <p:spPr>
          <a:xfrm flipH="false" flipV="false" rot="0">
            <a:off x="8773668" y="4343933"/>
            <a:ext cx="451837" cy="451837"/>
          </a:xfrm>
          <a:custGeom>
            <a:avLst/>
            <a:gdLst/>
            <a:ahLst/>
            <a:cxnLst/>
            <a:rect r="r" b="b" t="t" l="l"/>
            <a:pathLst>
              <a:path h="451837" w="451837">
                <a:moveTo>
                  <a:pt x="0" y="0"/>
                </a:moveTo>
                <a:lnTo>
                  <a:pt x="451837" y="0"/>
                </a:lnTo>
                <a:lnTo>
                  <a:pt x="451837" y="451838"/>
                </a:lnTo>
                <a:lnTo>
                  <a:pt x="0" y="4518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2033761" y="4582249"/>
            <a:ext cx="5520242" cy="2920746"/>
            <a:chOff x="0" y="0"/>
            <a:chExt cx="7360323" cy="389432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365395" y="4152338"/>
            <a:ext cx="855059" cy="864594"/>
            <a:chOff x="0" y="0"/>
            <a:chExt cx="1140079" cy="115279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2632398" y="5099952"/>
            <a:ext cx="4600356" cy="88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Badge "suivi renforcé"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632398" y="6089409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Indicateur visuel instantané lorsque le seuil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est dépassé.</a:t>
            </a:r>
          </a:p>
        </p:txBody>
      </p:sp>
      <p:sp>
        <p:nvSpPr>
          <p:cNvPr name="Freeform 32" id="32" descr="3-Circle"/>
          <p:cNvSpPr/>
          <p:nvPr/>
        </p:nvSpPr>
        <p:spPr>
          <a:xfrm flipH="false" flipV="false" rot="0">
            <a:off x="14570345" y="4361097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224477"/>
            <a:ext cx="2096938" cy="431044"/>
            <a:chOff x="0" y="0"/>
            <a:chExt cx="2795918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95905" cy="574802"/>
            </a:xfrm>
            <a:custGeom>
              <a:avLst/>
              <a:gdLst/>
              <a:ahLst/>
              <a:cxnLst/>
              <a:rect r="r" b="b" t="t" l="l"/>
              <a:pathLst>
                <a:path h="574802" w="2795905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2523490" y="0"/>
                  </a:lnTo>
                  <a:cubicBezTo>
                    <a:pt x="2673985" y="0"/>
                    <a:pt x="2795905" y="121920"/>
                    <a:pt x="2795905" y="272415"/>
                  </a:cubicBezTo>
                  <a:lnTo>
                    <a:pt x="2795905" y="302387"/>
                  </a:lnTo>
                  <a:cubicBezTo>
                    <a:pt x="2795905" y="452882"/>
                    <a:pt x="2673985" y="574802"/>
                    <a:pt x="2523490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1290704"/>
            <a:ext cx="1693916" cy="28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TRANSPARENCE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626137"/>
            <a:ext cx="16315868" cy="19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Pourquoi ce score ? La confiance par l'explication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3844052"/>
            <a:ext cx="16315868" cy="103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Nous ne vous donnons pas une « boîte noire ». Chaque alerte s'accompagne d'une explication claire des facteurs qui influencent le risque, vous permettant de communiquer en toute confiance avec l'équipe de suivi.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35902" y="5821461"/>
            <a:ext cx="3866359" cy="3464090"/>
            <a:chOff x="0" y="0"/>
            <a:chExt cx="5155146" cy="46187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201999" y="5357231"/>
            <a:ext cx="934183" cy="886520"/>
            <a:chOff x="0" y="0"/>
            <a:chExt cx="1245578" cy="118202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15" id="15" descr="patient"/>
          <p:cNvSpPr/>
          <p:nvPr/>
        </p:nvSpPr>
        <p:spPr>
          <a:xfrm flipH="false" flipV="false" rot="0">
            <a:off x="2516562" y="5631771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76211" y="6536455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Facteurs Patient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6211" y="7623191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Âge, comorbidités,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historique médical.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023414" y="5765225"/>
            <a:ext cx="3866359" cy="3464090"/>
            <a:chOff x="0" y="0"/>
            <a:chExt cx="5155146" cy="461878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380831" y="5357231"/>
            <a:ext cx="934183" cy="886520"/>
            <a:chOff x="0" y="0"/>
            <a:chExt cx="1245578" cy="118202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344654" y="6556467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Constantes Biologiques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44654" y="7667044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Analyses sanguines,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tension, autres indicateurs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vitaux.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3211023" y="5765225"/>
            <a:ext cx="3866359" cy="3464090"/>
            <a:chOff x="0" y="0"/>
            <a:chExt cx="5155146" cy="461878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677111" y="5300996"/>
            <a:ext cx="934183" cy="886520"/>
            <a:chOff x="0" y="0"/>
            <a:chExt cx="1245578" cy="1182027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3551322" y="6480210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Type de Séjour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51322" y="7623191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Durée, motif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d'hospitalisation,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services impliqués.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4834861" y="5822423"/>
            <a:ext cx="3866359" cy="3464090"/>
            <a:chOff x="0" y="0"/>
            <a:chExt cx="5155146" cy="461878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155184" cy="4618863"/>
            </a:xfrm>
            <a:custGeom>
              <a:avLst/>
              <a:gdLst/>
              <a:ahLst/>
              <a:cxnLst/>
              <a:rect r="r" b="b" t="t" l="l"/>
              <a:pathLst>
                <a:path h="4618863" w="5155184">
                  <a:moveTo>
                    <a:pt x="0" y="769874"/>
                  </a:moveTo>
                  <a:cubicBezTo>
                    <a:pt x="0" y="344678"/>
                    <a:pt x="344678" y="0"/>
                    <a:pt x="769874" y="0"/>
                  </a:cubicBezTo>
                  <a:lnTo>
                    <a:pt x="4385310" y="0"/>
                  </a:lnTo>
                  <a:cubicBezTo>
                    <a:pt x="4810506" y="0"/>
                    <a:pt x="5155184" y="344678"/>
                    <a:pt x="5155184" y="769874"/>
                  </a:cubicBezTo>
                  <a:lnTo>
                    <a:pt x="5155184" y="3848989"/>
                  </a:lnTo>
                  <a:cubicBezTo>
                    <a:pt x="5155184" y="4274185"/>
                    <a:pt x="4810506" y="4618863"/>
                    <a:pt x="4385310" y="4618863"/>
                  </a:cubicBezTo>
                  <a:lnTo>
                    <a:pt x="769874" y="4618863"/>
                  </a:lnTo>
                  <a:cubicBezTo>
                    <a:pt x="344678" y="4618736"/>
                    <a:pt x="0" y="4274185"/>
                    <a:pt x="0" y="38489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152245" y="5357231"/>
            <a:ext cx="934183" cy="886520"/>
            <a:chOff x="0" y="0"/>
            <a:chExt cx="1245578" cy="118202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45616" cy="1181989"/>
            </a:xfrm>
            <a:custGeom>
              <a:avLst/>
              <a:gdLst/>
              <a:ahLst/>
              <a:cxnLst/>
              <a:rect r="r" b="b" t="t" l="l"/>
              <a:pathLst>
                <a:path h="1181989" w="1245616">
                  <a:moveTo>
                    <a:pt x="0" y="591058"/>
                  </a:moveTo>
                  <a:cubicBezTo>
                    <a:pt x="0" y="264668"/>
                    <a:pt x="278892" y="0"/>
                    <a:pt x="622808" y="0"/>
                  </a:cubicBezTo>
                  <a:cubicBezTo>
                    <a:pt x="966724" y="0"/>
                    <a:pt x="1245616" y="264668"/>
                    <a:pt x="1245616" y="591058"/>
                  </a:cubicBezTo>
                  <a:cubicBezTo>
                    <a:pt x="1245616" y="917448"/>
                    <a:pt x="966724" y="1181989"/>
                    <a:pt x="622808" y="1181989"/>
                  </a:cubicBezTo>
                  <a:cubicBezTo>
                    <a:pt x="278892" y="1181989"/>
                    <a:pt x="0" y="917448"/>
                    <a:pt x="0" y="59105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34" id="34" descr="Hospital logo"/>
          <p:cNvSpPr/>
          <p:nvPr/>
        </p:nvSpPr>
        <p:spPr>
          <a:xfrm flipH="false" flipV="false" rot="0">
            <a:off x="6448701" y="5633676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5137985" y="6541218"/>
            <a:ext cx="3221965" cy="973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Médication &amp; Traitement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137985" y="7623191"/>
            <a:ext cx="3221965" cy="577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Prescriptions actuelles et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passées, interventions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chirurgicales.</a:t>
            </a:r>
          </a:p>
        </p:txBody>
      </p:sp>
      <p:sp>
        <p:nvSpPr>
          <p:cNvPr name="Freeform 37" id="37" descr="electrocardiogram"/>
          <p:cNvSpPr/>
          <p:nvPr/>
        </p:nvSpPr>
        <p:spPr>
          <a:xfrm flipH="false" flipV="false" rot="0">
            <a:off x="10658227" y="5631771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10" y="0"/>
                </a:lnTo>
                <a:lnTo>
                  <a:pt x="340310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8" id="38" descr="Hospital"/>
          <p:cNvSpPr/>
          <p:nvPr/>
        </p:nvSpPr>
        <p:spPr>
          <a:xfrm flipH="false" flipV="false" rot="0">
            <a:off x="14973567" y="5559323"/>
            <a:ext cx="341262" cy="341262"/>
          </a:xfrm>
          <a:custGeom>
            <a:avLst/>
            <a:gdLst/>
            <a:ahLst/>
            <a:cxnLst/>
            <a:rect r="r" b="b" t="t" l="l"/>
            <a:pathLst>
              <a:path h="341262" w="341262">
                <a:moveTo>
                  <a:pt x="0" y="0"/>
                </a:moveTo>
                <a:lnTo>
                  <a:pt x="341261" y="0"/>
                </a:lnTo>
                <a:lnTo>
                  <a:pt x="341261" y="341262"/>
                </a:lnTo>
                <a:lnTo>
                  <a:pt x="0" y="34126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440885"/>
            <a:ext cx="2012785" cy="431044"/>
            <a:chOff x="0" y="0"/>
            <a:chExt cx="2683713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3764" cy="574802"/>
            </a:xfrm>
            <a:custGeom>
              <a:avLst/>
              <a:gdLst/>
              <a:ahLst/>
              <a:cxnLst/>
              <a:rect r="r" b="b" t="t" l="l"/>
              <a:pathLst>
                <a:path h="574802" w="2683764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2411349" y="0"/>
                  </a:lnTo>
                  <a:cubicBezTo>
                    <a:pt x="2561844" y="0"/>
                    <a:pt x="2683764" y="121920"/>
                    <a:pt x="2683764" y="272415"/>
                  </a:cubicBezTo>
                  <a:lnTo>
                    <a:pt x="2683764" y="302387"/>
                  </a:lnTo>
                  <a:cubicBezTo>
                    <a:pt x="2683764" y="452882"/>
                    <a:pt x="2561844" y="574802"/>
                    <a:pt x="2411349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1507093"/>
            <a:ext cx="1763506" cy="247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OPÉRATIONNEL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842554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Justification en langage métier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2825867"/>
            <a:ext cx="16315868" cy="103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Comprendre les raisons du score de risque n'a jamais été aussi simple et sécurisé. Notre solution vous fournit une justification claire et conforme, directement là où vous en avez besoin.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41439" y="4879658"/>
            <a:ext cx="5520242" cy="4735716"/>
            <a:chOff x="0" y="0"/>
            <a:chExt cx="7360323" cy="631428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0412" cy="6314313"/>
            </a:xfrm>
            <a:custGeom>
              <a:avLst/>
              <a:gdLst/>
              <a:ahLst/>
              <a:cxnLst/>
              <a:rect r="r" b="b" t="t" l="l"/>
              <a:pathLst>
                <a:path h="6314313" w="7360412">
                  <a:moveTo>
                    <a:pt x="0" y="1052449"/>
                  </a:moveTo>
                  <a:cubicBezTo>
                    <a:pt x="0" y="471170"/>
                    <a:pt x="471170" y="0"/>
                    <a:pt x="1052449" y="0"/>
                  </a:cubicBezTo>
                  <a:lnTo>
                    <a:pt x="6307963" y="0"/>
                  </a:lnTo>
                  <a:cubicBezTo>
                    <a:pt x="6889242" y="0"/>
                    <a:pt x="7360412" y="471170"/>
                    <a:pt x="7360412" y="1052449"/>
                  </a:cubicBezTo>
                  <a:lnTo>
                    <a:pt x="7360412" y="5261864"/>
                  </a:lnTo>
                  <a:cubicBezTo>
                    <a:pt x="7360412" y="5843143"/>
                    <a:pt x="6889242" y="6314313"/>
                    <a:pt x="6307963" y="6314313"/>
                  </a:cubicBezTo>
                  <a:lnTo>
                    <a:pt x="1052449" y="6314313"/>
                  </a:lnTo>
                  <a:cubicBezTo>
                    <a:pt x="471170" y="6314313"/>
                    <a:pt x="0" y="5843143"/>
                    <a:pt x="0" y="5261864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630005" y="4229548"/>
            <a:ext cx="1343120" cy="1369809"/>
            <a:chOff x="0" y="0"/>
            <a:chExt cx="1790827" cy="182641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90954" cy="1826514"/>
            </a:xfrm>
            <a:custGeom>
              <a:avLst/>
              <a:gdLst/>
              <a:ahLst/>
              <a:cxnLst/>
              <a:rect r="r" b="b" t="t" l="l"/>
              <a:pathLst>
                <a:path h="1826514" w="1790954">
                  <a:moveTo>
                    <a:pt x="0" y="913257"/>
                  </a:moveTo>
                  <a:cubicBezTo>
                    <a:pt x="0" y="408813"/>
                    <a:pt x="400939" y="0"/>
                    <a:pt x="895477" y="0"/>
                  </a:cubicBezTo>
                  <a:cubicBezTo>
                    <a:pt x="1390015" y="0"/>
                    <a:pt x="1790954" y="408813"/>
                    <a:pt x="1790954" y="913257"/>
                  </a:cubicBezTo>
                  <a:cubicBezTo>
                    <a:pt x="1790954" y="1417701"/>
                    <a:pt x="1390015" y="1826514"/>
                    <a:pt x="895477" y="1826514"/>
                  </a:cubicBezTo>
                  <a:cubicBezTo>
                    <a:pt x="400939" y="1826514"/>
                    <a:pt x="0" y="1417574"/>
                    <a:pt x="0" y="913257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40085" y="5852017"/>
            <a:ext cx="4600356" cy="1304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Analyse Locale et Pertinente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07672" y="7033136"/>
            <a:ext cx="4600356" cy="744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brief est généré directement sur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votre poste, à partir de comptes-rendus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masqués, pour une pertinence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contextuelle maximale.</a:t>
            </a:r>
          </a:p>
        </p:txBody>
      </p:sp>
      <p:sp>
        <p:nvSpPr>
          <p:cNvPr name="Freeform 17" id="17" descr="server"/>
          <p:cNvSpPr/>
          <p:nvPr/>
        </p:nvSpPr>
        <p:spPr>
          <a:xfrm flipH="false" flipV="false" rot="0">
            <a:off x="2926461" y="4526956"/>
            <a:ext cx="751161" cy="751161"/>
          </a:xfrm>
          <a:custGeom>
            <a:avLst/>
            <a:gdLst/>
            <a:ahLst/>
            <a:cxnLst/>
            <a:rect r="r" b="b" t="t" l="l"/>
            <a:pathLst>
              <a:path h="751161" w="751161">
                <a:moveTo>
                  <a:pt x="0" y="0"/>
                </a:moveTo>
                <a:lnTo>
                  <a:pt x="751161" y="0"/>
                </a:lnTo>
                <a:lnTo>
                  <a:pt x="751161" y="751161"/>
                </a:lnTo>
                <a:lnTo>
                  <a:pt x="0" y="7511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214205" y="4953057"/>
            <a:ext cx="5583155" cy="4687100"/>
            <a:chOff x="0" y="0"/>
            <a:chExt cx="7444207" cy="624946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444232" cy="6249543"/>
            </a:xfrm>
            <a:custGeom>
              <a:avLst/>
              <a:gdLst/>
              <a:ahLst/>
              <a:cxnLst/>
              <a:rect r="r" b="b" t="t" l="l"/>
              <a:pathLst>
                <a:path h="6249543" w="7444232">
                  <a:moveTo>
                    <a:pt x="0" y="1041654"/>
                  </a:moveTo>
                  <a:cubicBezTo>
                    <a:pt x="0" y="466344"/>
                    <a:pt x="466344" y="0"/>
                    <a:pt x="1041654" y="0"/>
                  </a:cubicBezTo>
                  <a:lnTo>
                    <a:pt x="6402578" y="0"/>
                  </a:lnTo>
                  <a:cubicBezTo>
                    <a:pt x="6977888" y="0"/>
                    <a:pt x="7444232" y="466344"/>
                    <a:pt x="7444232" y="1041654"/>
                  </a:cubicBezTo>
                  <a:lnTo>
                    <a:pt x="7444232" y="5207889"/>
                  </a:lnTo>
                  <a:cubicBezTo>
                    <a:pt x="7444232" y="5783199"/>
                    <a:pt x="6977888" y="6249543"/>
                    <a:pt x="6402578" y="6249543"/>
                  </a:cubicBezTo>
                  <a:lnTo>
                    <a:pt x="1041654" y="6249543"/>
                  </a:lnTo>
                  <a:cubicBezTo>
                    <a:pt x="466344" y="6249416"/>
                    <a:pt x="0" y="5783072"/>
                    <a:pt x="0" y="520788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6819509" y="5914939"/>
            <a:ext cx="4652791" cy="1292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Protection des Données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819509" y="7131320"/>
            <a:ext cx="4652791" cy="737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Aucune donnée nominative n'est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envoyée sur Internet, garantissant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conformité stricte au RGPD et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au secret médical.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2039476" y="4975936"/>
            <a:ext cx="5520242" cy="4736678"/>
            <a:chOff x="0" y="0"/>
            <a:chExt cx="7360323" cy="631557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360285" cy="6315583"/>
            </a:xfrm>
            <a:custGeom>
              <a:avLst/>
              <a:gdLst/>
              <a:ahLst/>
              <a:cxnLst/>
              <a:rect r="r" b="b" t="t" l="l"/>
              <a:pathLst>
                <a:path h="6315583" w="7360285">
                  <a:moveTo>
                    <a:pt x="0" y="1052576"/>
                  </a:moveTo>
                  <a:cubicBezTo>
                    <a:pt x="0" y="471297"/>
                    <a:pt x="471297" y="0"/>
                    <a:pt x="1052576" y="0"/>
                  </a:cubicBezTo>
                  <a:lnTo>
                    <a:pt x="6307709" y="0"/>
                  </a:lnTo>
                  <a:cubicBezTo>
                    <a:pt x="6889115" y="0"/>
                    <a:pt x="7360285" y="471297"/>
                    <a:pt x="7360285" y="1052576"/>
                  </a:cubicBezTo>
                  <a:lnTo>
                    <a:pt x="7360285" y="5263007"/>
                  </a:lnTo>
                  <a:cubicBezTo>
                    <a:pt x="7360285" y="5844413"/>
                    <a:pt x="6888988" y="6315583"/>
                    <a:pt x="6307709" y="6315583"/>
                  </a:cubicBezTo>
                  <a:lnTo>
                    <a:pt x="1052576" y="6315583"/>
                  </a:lnTo>
                  <a:cubicBezTo>
                    <a:pt x="471297" y="6315583"/>
                    <a:pt x="0" y="5844286"/>
                    <a:pt x="0" y="5263007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2638122" y="5950210"/>
            <a:ext cx="4600356" cy="1304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Clarté pour le Staff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621911" y="7131320"/>
            <a:ext cx="4600356" cy="745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résultat est une phrase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compréhensible par tous, en langage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métier, sans jargon statistique.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399040" y="4240035"/>
            <a:ext cx="1343120" cy="1369809"/>
            <a:chOff x="0" y="0"/>
            <a:chExt cx="1790827" cy="182641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790954" cy="1826514"/>
            </a:xfrm>
            <a:custGeom>
              <a:avLst/>
              <a:gdLst/>
              <a:ahLst/>
              <a:cxnLst/>
              <a:rect r="r" b="b" t="t" l="l"/>
              <a:pathLst>
                <a:path h="1826514" w="1790954">
                  <a:moveTo>
                    <a:pt x="0" y="913257"/>
                  </a:moveTo>
                  <a:cubicBezTo>
                    <a:pt x="0" y="408813"/>
                    <a:pt x="400939" y="0"/>
                    <a:pt x="895477" y="0"/>
                  </a:cubicBezTo>
                  <a:cubicBezTo>
                    <a:pt x="1390015" y="0"/>
                    <a:pt x="1790954" y="408813"/>
                    <a:pt x="1790954" y="913257"/>
                  </a:cubicBezTo>
                  <a:cubicBezTo>
                    <a:pt x="1790954" y="1417701"/>
                    <a:pt x="1390015" y="1826514"/>
                    <a:pt x="895477" y="1826514"/>
                  </a:cubicBezTo>
                  <a:cubicBezTo>
                    <a:pt x="400939" y="1826514"/>
                    <a:pt x="0" y="1417574"/>
                    <a:pt x="0" y="913257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28" id="28" descr="Firewall"/>
          <p:cNvSpPr/>
          <p:nvPr/>
        </p:nvSpPr>
        <p:spPr>
          <a:xfrm flipH="false" flipV="false" rot="0">
            <a:off x="8711708" y="4554607"/>
            <a:ext cx="751161" cy="751161"/>
          </a:xfrm>
          <a:custGeom>
            <a:avLst/>
            <a:gdLst/>
            <a:ahLst/>
            <a:cxnLst/>
            <a:rect r="r" b="b" t="t" l="l"/>
            <a:pathLst>
              <a:path h="751161" w="751161">
                <a:moveTo>
                  <a:pt x="0" y="0"/>
                </a:moveTo>
                <a:lnTo>
                  <a:pt x="751160" y="0"/>
                </a:lnTo>
                <a:lnTo>
                  <a:pt x="751160" y="751161"/>
                </a:lnTo>
                <a:lnTo>
                  <a:pt x="0" y="7511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14254820" y="4257189"/>
            <a:ext cx="1343120" cy="1369809"/>
            <a:chOff x="0" y="0"/>
            <a:chExt cx="1790827" cy="182641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90954" cy="1826514"/>
            </a:xfrm>
            <a:custGeom>
              <a:avLst/>
              <a:gdLst/>
              <a:ahLst/>
              <a:cxnLst/>
              <a:rect r="r" b="b" t="t" l="l"/>
              <a:pathLst>
                <a:path h="1826514" w="1790954">
                  <a:moveTo>
                    <a:pt x="0" y="913257"/>
                  </a:moveTo>
                  <a:cubicBezTo>
                    <a:pt x="0" y="408813"/>
                    <a:pt x="400939" y="0"/>
                    <a:pt x="895477" y="0"/>
                  </a:cubicBezTo>
                  <a:cubicBezTo>
                    <a:pt x="1390015" y="0"/>
                    <a:pt x="1790954" y="408813"/>
                    <a:pt x="1790954" y="913257"/>
                  </a:cubicBezTo>
                  <a:cubicBezTo>
                    <a:pt x="1790954" y="1417701"/>
                    <a:pt x="1390015" y="1826514"/>
                    <a:pt x="895477" y="1826514"/>
                  </a:cubicBezTo>
                  <a:cubicBezTo>
                    <a:pt x="400939" y="1826514"/>
                    <a:pt x="0" y="1417574"/>
                    <a:pt x="0" y="913257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31" id="31" descr="Social welfare"/>
          <p:cNvSpPr/>
          <p:nvPr/>
        </p:nvSpPr>
        <p:spPr>
          <a:xfrm flipH="false" flipV="false" rot="0">
            <a:off x="14551285" y="4554607"/>
            <a:ext cx="751161" cy="751161"/>
          </a:xfrm>
          <a:custGeom>
            <a:avLst/>
            <a:gdLst/>
            <a:ahLst/>
            <a:cxnLst/>
            <a:rect r="r" b="b" t="t" l="l"/>
            <a:pathLst>
              <a:path h="751161" w="751161">
                <a:moveTo>
                  <a:pt x="0" y="0"/>
                </a:moveTo>
                <a:lnTo>
                  <a:pt x="751161" y="0"/>
                </a:lnTo>
                <a:lnTo>
                  <a:pt x="751161" y="751161"/>
                </a:lnTo>
                <a:lnTo>
                  <a:pt x="0" y="7511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2440600"/>
            <a:ext cx="1519199" cy="431044"/>
            <a:chOff x="0" y="0"/>
            <a:chExt cx="2025599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25650" cy="574802"/>
            </a:xfrm>
            <a:custGeom>
              <a:avLst/>
              <a:gdLst/>
              <a:ahLst/>
              <a:cxnLst/>
              <a:rect r="r" b="b" t="t" l="l"/>
              <a:pathLst>
                <a:path h="574802" w="2025650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1753235" y="0"/>
                  </a:lnTo>
                  <a:cubicBezTo>
                    <a:pt x="1903730" y="0"/>
                    <a:pt x="2025650" y="121920"/>
                    <a:pt x="2025650" y="272415"/>
                  </a:cubicBezTo>
                  <a:lnTo>
                    <a:pt x="2025650" y="302387"/>
                  </a:lnTo>
                  <a:cubicBezTo>
                    <a:pt x="2025650" y="452882"/>
                    <a:pt x="1903730" y="574802"/>
                    <a:pt x="1753235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2507047"/>
            <a:ext cx="1200131" cy="335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INTERFACE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2842270"/>
            <a:ext cx="16315868" cy="19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Deux parcours, deux publics : ne jamais les mélanger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88641" y="5184010"/>
            <a:ext cx="8220485" cy="2670277"/>
            <a:chOff x="0" y="0"/>
            <a:chExt cx="10960646" cy="356036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60608" cy="3560445"/>
            </a:xfrm>
            <a:custGeom>
              <a:avLst/>
              <a:gdLst/>
              <a:ahLst/>
              <a:cxnLst/>
              <a:rect r="r" b="b" t="t" l="l"/>
              <a:pathLst>
                <a:path h="3560445" w="10960608">
                  <a:moveTo>
                    <a:pt x="0" y="544830"/>
                  </a:moveTo>
                  <a:cubicBezTo>
                    <a:pt x="0" y="243967"/>
                    <a:pt x="243967" y="0"/>
                    <a:pt x="544830" y="0"/>
                  </a:cubicBezTo>
                  <a:lnTo>
                    <a:pt x="10415778" y="0"/>
                  </a:lnTo>
                  <a:cubicBezTo>
                    <a:pt x="10716641" y="0"/>
                    <a:pt x="10960608" y="243967"/>
                    <a:pt x="10960608" y="544830"/>
                  </a:cubicBezTo>
                  <a:lnTo>
                    <a:pt x="10960608" y="3015615"/>
                  </a:lnTo>
                  <a:cubicBezTo>
                    <a:pt x="10960608" y="3316478"/>
                    <a:pt x="10716641" y="3560445"/>
                    <a:pt x="10415778" y="3560445"/>
                  </a:cubicBezTo>
                  <a:lnTo>
                    <a:pt x="544830" y="3560445"/>
                  </a:lnTo>
                  <a:cubicBezTo>
                    <a:pt x="243967" y="3560445"/>
                    <a:pt x="0" y="3316478"/>
                    <a:pt x="0" y="3015615"/>
                  </a:cubicBezTo>
                  <a:close/>
                </a:path>
              </a:pathLst>
            </a:custGeom>
            <a:solidFill>
              <a:srgbClr val="006747">
                <a:alpha val="90196"/>
              </a:srgbClr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072372" y="5401075"/>
            <a:ext cx="7653023" cy="509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CISIA — Parcours jury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72372" y="6070921"/>
            <a:ext cx="7653023" cy="168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Démo guidée sur données synthétiques</a:t>
            </a:r>
          </a:p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Met l'accent sur valeur, conformité et architecture</a:t>
            </a:r>
          </a:p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Navigation : /cisia/jury → Score, SHAP, Registre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06588" y="5401075"/>
            <a:ext cx="7811795" cy="509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Soignant — Poste de soins (illustration)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06588" y="6070921"/>
            <a:ext cx="7811795" cy="168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Vue plan d'étage intégrée au poste de soins</a:t>
            </a:r>
          </a:p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Contenu secondaire pour le jury</a:t>
            </a:r>
          </a:p>
          <a:p>
            <a:pPr algn="l" marL="380641" indent="-190321" lvl="1">
              <a:lnSpc>
                <a:spcPts val="3354"/>
              </a:lnSpc>
              <a:buFont typeface="Arial"/>
              <a:buChar char="•"/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À ne pas confondre avec le parcours principal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277607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Deux modules, un socle unique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5438" y="2750801"/>
            <a:ext cx="17230954" cy="577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Readmit = cœur de l'offre. Flow = ancrage terrain.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915068" y="4496724"/>
            <a:ext cx="7058777" cy="3664239"/>
            <a:chOff x="0" y="0"/>
            <a:chExt cx="9411703" cy="488565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411716" cy="4885690"/>
            </a:xfrm>
            <a:custGeom>
              <a:avLst/>
              <a:gdLst/>
              <a:ahLst/>
              <a:cxnLst/>
              <a:rect r="r" b="b" t="t" l="l"/>
              <a:pathLst>
                <a:path h="4885690" w="9411716">
                  <a:moveTo>
                    <a:pt x="0" y="814324"/>
                  </a:moveTo>
                  <a:cubicBezTo>
                    <a:pt x="0" y="364617"/>
                    <a:pt x="364617" y="0"/>
                    <a:pt x="814324" y="0"/>
                  </a:cubicBezTo>
                  <a:lnTo>
                    <a:pt x="8597392" y="0"/>
                  </a:lnTo>
                  <a:cubicBezTo>
                    <a:pt x="9047099" y="0"/>
                    <a:pt x="9411716" y="364617"/>
                    <a:pt x="9411716" y="814324"/>
                  </a:cubicBezTo>
                  <a:lnTo>
                    <a:pt x="9411716" y="4071366"/>
                  </a:lnTo>
                  <a:cubicBezTo>
                    <a:pt x="9411716" y="4521073"/>
                    <a:pt x="9047100" y="4885690"/>
                    <a:pt x="8597392" y="4885690"/>
                  </a:cubicBezTo>
                  <a:lnTo>
                    <a:pt x="814324" y="4885690"/>
                  </a:lnTo>
                  <a:cubicBezTo>
                    <a:pt x="364617" y="4885690"/>
                    <a:pt x="0" y="4521073"/>
                    <a:pt x="0" y="4071366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897136" y="3956923"/>
            <a:ext cx="1093499" cy="1084374"/>
            <a:chOff x="0" y="0"/>
            <a:chExt cx="1457998" cy="14458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57960" cy="1445768"/>
            </a:xfrm>
            <a:custGeom>
              <a:avLst/>
              <a:gdLst/>
              <a:ahLst/>
              <a:cxnLst/>
              <a:rect r="r" b="b" t="t" l="l"/>
              <a:pathLst>
                <a:path h="1445768" w="1457960">
                  <a:moveTo>
                    <a:pt x="0" y="722884"/>
                  </a:moveTo>
                  <a:cubicBezTo>
                    <a:pt x="0" y="323723"/>
                    <a:pt x="326390" y="0"/>
                    <a:pt x="728980" y="0"/>
                  </a:cubicBezTo>
                  <a:cubicBezTo>
                    <a:pt x="1131570" y="0"/>
                    <a:pt x="1457960" y="323723"/>
                    <a:pt x="1457960" y="722884"/>
                  </a:cubicBezTo>
                  <a:cubicBezTo>
                    <a:pt x="1457960" y="1122045"/>
                    <a:pt x="1131570" y="1445768"/>
                    <a:pt x="728980" y="1445768"/>
                  </a:cubicBezTo>
                  <a:cubicBezTo>
                    <a:pt x="326390" y="1445768"/>
                    <a:pt x="0" y="1122172"/>
                    <a:pt x="0" y="722884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2680173" y="5234397"/>
            <a:ext cx="5882316" cy="1024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CISIA Readmit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9021" y="6135310"/>
            <a:ext cx="5882316" cy="604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cœur de l'offre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Coordination, direction, gouvernance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Score de risque, explicabilité SHAP, registre biais</a:t>
            </a:r>
          </a:p>
        </p:txBody>
      </p:sp>
      <p:sp>
        <p:nvSpPr>
          <p:cNvPr name="Freeform 14" id="14" descr="1 circle"/>
          <p:cNvSpPr/>
          <p:nvPr/>
        </p:nvSpPr>
        <p:spPr>
          <a:xfrm flipH="false" flipV="false" rot="0">
            <a:off x="5158692" y="4203583"/>
            <a:ext cx="571519" cy="591045"/>
          </a:xfrm>
          <a:custGeom>
            <a:avLst/>
            <a:gdLst/>
            <a:ahLst/>
            <a:cxnLst/>
            <a:rect r="r" b="b" t="t" l="l"/>
            <a:pathLst>
              <a:path h="591045" w="571519">
                <a:moveTo>
                  <a:pt x="0" y="0"/>
                </a:moveTo>
                <a:lnTo>
                  <a:pt x="571519" y="0"/>
                </a:lnTo>
                <a:lnTo>
                  <a:pt x="571519" y="591045"/>
                </a:lnTo>
                <a:lnTo>
                  <a:pt x="0" y="591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-3416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0134895" y="4495505"/>
            <a:ext cx="7057825" cy="3665230"/>
            <a:chOff x="0" y="0"/>
            <a:chExt cx="9410433" cy="488697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410319" cy="4886960"/>
            </a:xfrm>
            <a:custGeom>
              <a:avLst/>
              <a:gdLst/>
              <a:ahLst/>
              <a:cxnLst/>
              <a:rect r="r" b="b" t="t" l="l"/>
              <a:pathLst>
                <a:path h="4886960" w="9410319">
                  <a:moveTo>
                    <a:pt x="0" y="814451"/>
                  </a:moveTo>
                  <a:cubicBezTo>
                    <a:pt x="0" y="364617"/>
                    <a:pt x="364617" y="0"/>
                    <a:pt x="814451" y="0"/>
                  </a:cubicBezTo>
                  <a:lnTo>
                    <a:pt x="8595868" y="0"/>
                  </a:lnTo>
                  <a:cubicBezTo>
                    <a:pt x="9045702" y="0"/>
                    <a:pt x="9410319" y="364617"/>
                    <a:pt x="9410319" y="814451"/>
                  </a:cubicBezTo>
                  <a:lnTo>
                    <a:pt x="9410319" y="4072509"/>
                  </a:lnTo>
                  <a:cubicBezTo>
                    <a:pt x="9410319" y="4522343"/>
                    <a:pt x="9045702" y="4886960"/>
                    <a:pt x="8595868" y="4886960"/>
                  </a:cubicBezTo>
                  <a:lnTo>
                    <a:pt x="814451" y="4886960"/>
                  </a:lnTo>
                  <a:cubicBezTo>
                    <a:pt x="364617" y="4886960"/>
                    <a:pt x="0" y="4522343"/>
                    <a:pt x="0" y="407250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3135708" y="3896868"/>
            <a:ext cx="1092422" cy="1135313"/>
            <a:chOff x="0" y="0"/>
            <a:chExt cx="1456563" cy="151375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56436" cy="1513840"/>
            </a:xfrm>
            <a:custGeom>
              <a:avLst/>
              <a:gdLst/>
              <a:ahLst/>
              <a:cxnLst/>
              <a:rect r="r" b="b" t="t" l="l"/>
              <a:pathLst>
                <a:path h="1513840" w="1456436">
                  <a:moveTo>
                    <a:pt x="0" y="756920"/>
                  </a:moveTo>
                  <a:cubicBezTo>
                    <a:pt x="0" y="338836"/>
                    <a:pt x="326009" y="0"/>
                    <a:pt x="728218" y="0"/>
                  </a:cubicBezTo>
                  <a:cubicBezTo>
                    <a:pt x="1130427" y="0"/>
                    <a:pt x="1456436" y="338836"/>
                    <a:pt x="1456436" y="756920"/>
                  </a:cubicBezTo>
                  <a:cubicBezTo>
                    <a:pt x="1456436" y="1175004"/>
                    <a:pt x="1130427" y="1513840"/>
                    <a:pt x="728218" y="1513840"/>
                  </a:cubicBezTo>
                  <a:cubicBezTo>
                    <a:pt x="326009" y="1513840"/>
                    <a:pt x="0" y="1174877"/>
                    <a:pt x="0" y="756920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0740209" y="5227644"/>
            <a:ext cx="5882469" cy="784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CISIA Flow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740209" y="6135176"/>
            <a:ext cx="5882469" cy="626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Ancrage terrain (optionnel)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Soignants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Plan d'étage, lits, alertes temps réel</a:t>
            </a:r>
          </a:p>
        </p:txBody>
      </p:sp>
      <p:sp>
        <p:nvSpPr>
          <p:cNvPr name="Freeform 21" id="21" descr="2 circles"/>
          <p:cNvSpPr/>
          <p:nvPr/>
        </p:nvSpPr>
        <p:spPr>
          <a:xfrm flipH="false" flipV="false" rot="0">
            <a:off x="13382606" y="4164730"/>
            <a:ext cx="599589" cy="599589"/>
          </a:xfrm>
          <a:custGeom>
            <a:avLst/>
            <a:gdLst/>
            <a:ahLst/>
            <a:cxnLst/>
            <a:rect r="r" b="b" t="t" l="l"/>
            <a:pathLst>
              <a:path h="599589" w="599589">
                <a:moveTo>
                  <a:pt x="0" y="0"/>
                </a:moveTo>
                <a:lnTo>
                  <a:pt x="599589" y="0"/>
                </a:lnTo>
                <a:lnTo>
                  <a:pt x="599589" y="599589"/>
                </a:lnTo>
                <a:lnTo>
                  <a:pt x="0" y="5995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424502"/>
            <a:ext cx="2644588" cy="366255"/>
            <a:chOff x="0" y="0"/>
            <a:chExt cx="3526117" cy="4883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526155" cy="488315"/>
            </a:xfrm>
            <a:custGeom>
              <a:avLst/>
              <a:gdLst/>
              <a:ahLst/>
              <a:cxnLst/>
              <a:rect r="r" b="b" t="t" l="l"/>
              <a:pathLst>
                <a:path h="488315" w="3526155">
                  <a:moveTo>
                    <a:pt x="0" y="231521"/>
                  </a:moveTo>
                  <a:cubicBezTo>
                    <a:pt x="0" y="103632"/>
                    <a:pt x="103632" y="0"/>
                    <a:pt x="231521" y="0"/>
                  </a:cubicBezTo>
                  <a:lnTo>
                    <a:pt x="3294634" y="0"/>
                  </a:lnTo>
                  <a:cubicBezTo>
                    <a:pt x="3422523" y="0"/>
                    <a:pt x="3526155" y="103632"/>
                    <a:pt x="3526155" y="231521"/>
                  </a:cubicBezTo>
                  <a:lnTo>
                    <a:pt x="3526155" y="256794"/>
                  </a:lnTo>
                  <a:cubicBezTo>
                    <a:pt x="3526155" y="384683"/>
                    <a:pt x="3422523" y="488315"/>
                    <a:pt x="3294634" y="488315"/>
                  </a:cubicBezTo>
                  <a:lnTo>
                    <a:pt x="231521" y="488315"/>
                  </a:lnTo>
                  <a:cubicBezTo>
                    <a:pt x="103632" y="488315"/>
                    <a:pt x="0" y="384683"/>
                    <a:pt x="0" y="256794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37218" y="1477547"/>
            <a:ext cx="2500360" cy="212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SÉCURITÉ &amp; CONFORMITÉ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729807"/>
            <a:ext cx="16315868" cy="896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Sécurité &amp; Conformité : Vos Données, Votre Contrôle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3406664"/>
            <a:ext cx="16315868" cy="837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Notre solution est conçue autour des principes de sécurité et de conformité les plus stricts,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vous offrant une tranquillité d'esprit totale quant à la gestion des données de santé sensibles.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67540" y="5060775"/>
            <a:ext cx="3866359" cy="4172350"/>
            <a:chOff x="0" y="0"/>
            <a:chExt cx="5155146" cy="556313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155057" cy="5563108"/>
            </a:xfrm>
            <a:custGeom>
              <a:avLst/>
              <a:gdLst/>
              <a:ahLst/>
              <a:cxnLst/>
              <a:rect r="r" b="b" t="t" l="l"/>
              <a:pathLst>
                <a:path h="5563108" w="5155057">
                  <a:moveTo>
                    <a:pt x="0" y="859155"/>
                  </a:moveTo>
                  <a:cubicBezTo>
                    <a:pt x="0" y="384683"/>
                    <a:pt x="384683" y="0"/>
                    <a:pt x="859155" y="0"/>
                  </a:cubicBezTo>
                  <a:lnTo>
                    <a:pt x="4295902" y="0"/>
                  </a:lnTo>
                  <a:cubicBezTo>
                    <a:pt x="4770374" y="0"/>
                    <a:pt x="5155057" y="384683"/>
                    <a:pt x="5155057" y="859155"/>
                  </a:cubicBezTo>
                  <a:lnTo>
                    <a:pt x="5155057" y="4703953"/>
                  </a:lnTo>
                  <a:cubicBezTo>
                    <a:pt x="5155057" y="5178425"/>
                    <a:pt x="4770374" y="5563108"/>
                    <a:pt x="4295902" y="5563108"/>
                  </a:cubicBezTo>
                  <a:lnTo>
                    <a:pt x="859155" y="5563108"/>
                  </a:lnTo>
                  <a:cubicBezTo>
                    <a:pt x="384683" y="5563108"/>
                    <a:pt x="0" y="5178425"/>
                    <a:pt x="0" y="470395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433638" y="4501220"/>
            <a:ext cx="934183" cy="1067638"/>
            <a:chOff x="0" y="0"/>
            <a:chExt cx="1245578" cy="14235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45616" cy="1423416"/>
            </a:xfrm>
            <a:custGeom>
              <a:avLst/>
              <a:gdLst/>
              <a:ahLst/>
              <a:cxnLst/>
              <a:rect r="r" b="b" t="t" l="l"/>
              <a:pathLst>
                <a:path h="1423416" w="1245616">
                  <a:moveTo>
                    <a:pt x="0" y="711708"/>
                  </a:moveTo>
                  <a:cubicBezTo>
                    <a:pt x="0" y="318643"/>
                    <a:pt x="278892" y="0"/>
                    <a:pt x="622808" y="0"/>
                  </a:cubicBezTo>
                  <a:cubicBezTo>
                    <a:pt x="966724" y="0"/>
                    <a:pt x="1245616" y="318643"/>
                    <a:pt x="1245616" y="711708"/>
                  </a:cubicBezTo>
                  <a:cubicBezTo>
                    <a:pt x="1245616" y="1104773"/>
                    <a:pt x="966724" y="1423416"/>
                    <a:pt x="622808" y="1423416"/>
                  </a:cubicBezTo>
                  <a:cubicBezTo>
                    <a:pt x="278892" y="1423416"/>
                    <a:pt x="0" y="1104900"/>
                    <a:pt x="0" y="71170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15" id="15" descr="Blockchain"/>
          <p:cNvSpPr/>
          <p:nvPr/>
        </p:nvSpPr>
        <p:spPr>
          <a:xfrm flipH="false" flipV="false" rot="0">
            <a:off x="2748201" y="4866789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07849" y="5770997"/>
            <a:ext cx="3221965" cy="1159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Contrôle Local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1093" y="6728079"/>
            <a:ext cx="3221965" cy="65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traitement de toutes les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données de santé s'effectue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sous votre stricte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supervision, garantissant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souveraineté totale.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255052" y="4993100"/>
            <a:ext cx="3866359" cy="4172350"/>
            <a:chOff x="0" y="0"/>
            <a:chExt cx="5155146" cy="556313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155057" cy="5563108"/>
            </a:xfrm>
            <a:custGeom>
              <a:avLst/>
              <a:gdLst/>
              <a:ahLst/>
              <a:cxnLst/>
              <a:rect r="r" b="b" t="t" l="l"/>
              <a:pathLst>
                <a:path h="5563108" w="5155057">
                  <a:moveTo>
                    <a:pt x="0" y="859155"/>
                  </a:moveTo>
                  <a:cubicBezTo>
                    <a:pt x="0" y="384683"/>
                    <a:pt x="384683" y="0"/>
                    <a:pt x="859155" y="0"/>
                  </a:cubicBezTo>
                  <a:lnTo>
                    <a:pt x="4295902" y="0"/>
                  </a:lnTo>
                  <a:cubicBezTo>
                    <a:pt x="4770374" y="0"/>
                    <a:pt x="5155057" y="384683"/>
                    <a:pt x="5155057" y="859155"/>
                  </a:cubicBezTo>
                  <a:lnTo>
                    <a:pt x="5155057" y="4703953"/>
                  </a:lnTo>
                  <a:cubicBezTo>
                    <a:pt x="5155057" y="5178425"/>
                    <a:pt x="4770374" y="5563108"/>
                    <a:pt x="4295902" y="5563108"/>
                  </a:cubicBezTo>
                  <a:lnTo>
                    <a:pt x="859155" y="5563108"/>
                  </a:lnTo>
                  <a:cubicBezTo>
                    <a:pt x="384683" y="5563108"/>
                    <a:pt x="0" y="5178425"/>
                    <a:pt x="0" y="470395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612469" y="4501220"/>
            <a:ext cx="934183" cy="1067638"/>
            <a:chOff x="0" y="0"/>
            <a:chExt cx="1245578" cy="142351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45616" cy="1423416"/>
            </a:xfrm>
            <a:custGeom>
              <a:avLst/>
              <a:gdLst/>
              <a:ahLst/>
              <a:cxnLst/>
              <a:rect r="r" b="b" t="t" l="l"/>
              <a:pathLst>
                <a:path h="1423416" w="1245616">
                  <a:moveTo>
                    <a:pt x="0" y="711708"/>
                  </a:moveTo>
                  <a:cubicBezTo>
                    <a:pt x="0" y="318643"/>
                    <a:pt x="278892" y="0"/>
                    <a:pt x="622808" y="0"/>
                  </a:cubicBezTo>
                  <a:cubicBezTo>
                    <a:pt x="966724" y="0"/>
                    <a:pt x="1245616" y="318643"/>
                    <a:pt x="1245616" y="711708"/>
                  </a:cubicBezTo>
                  <a:cubicBezTo>
                    <a:pt x="1245616" y="1104773"/>
                    <a:pt x="966724" y="1423416"/>
                    <a:pt x="622808" y="1423416"/>
                  </a:cubicBezTo>
                  <a:cubicBezTo>
                    <a:pt x="278892" y="1423416"/>
                    <a:pt x="0" y="1104900"/>
                    <a:pt x="0" y="71170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576292" y="5763368"/>
            <a:ext cx="3221965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Exclusion des Biens Sociaux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461906" y="6859629"/>
            <a:ext cx="3221965" cy="65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Les proxys socio-individuels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sensibles sont délibérément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exclus du calcul du score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pour une éthique irréprochable.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3442661" y="4993100"/>
            <a:ext cx="3866359" cy="4172350"/>
            <a:chOff x="0" y="0"/>
            <a:chExt cx="5155146" cy="556313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155057" cy="5563108"/>
            </a:xfrm>
            <a:custGeom>
              <a:avLst/>
              <a:gdLst/>
              <a:ahLst/>
              <a:cxnLst/>
              <a:rect r="r" b="b" t="t" l="l"/>
              <a:pathLst>
                <a:path h="5563108" w="5155057">
                  <a:moveTo>
                    <a:pt x="0" y="859155"/>
                  </a:moveTo>
                  <a:cubicBezTo>
                    <a:pt x="0" y="384683"/>
                    <a:pt x="384683" y="0"/>
                    <a:pt x="859155" y="0"/>
                  </a:cubicBezTo>
                  <a:lnTo>
                    <a:pt x="4295902" y="0"/>
                  </a:lnTo>
                  <a:cubicBezTo>
                    <a:pt x="4770374" y="0"/>
                    <a:pt x="5155057" y="384683"/>
                    <a:pt x="5155057" y="859155"/>
                  </a:cubicBezTo>
                  <a:lnTo>
                    <a:pt x="5155057" y="4703953"/>
                  </a:lnTo>
                  <a:cubicBezTo>
                    <a:pt x="5155057" y="5178425"/>
                    <a:pt x="4770374" y="5563108"/>
                    <a:pt x="4295902" y="5563108"/>
                  </a:cubicBezTo>
                  <a:lnTo>
                    <a:pt x="859155" y="5563108"/>
                  </a:lnTo>
                  <a:cubicBezTo>
                    <a:pt x="384683" y="5563108"/>
                    <a:pt x="0" y="5178425"/>
                    <a:pt x="0" y="470395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908749" y="4433545"/>
            <a:ext cx="934183" cy="1067638"/>
            <a:chOff x="0" y="0"/>
            <a:chExt cx="1245578" cy="142351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45616" cy="1423416"/>
            </a:xfrm>
            <a:custGeom>
              <a:avLst/>
              <a:gdLst/>
              <a:ahLst/>
              <a:cxnLst/>
              <a:rect r="r" b="b" t="t" l="l"/>
              <a:pathLst>
                <a:path h="1423416" w="1245616">
                  <a:moveTo>
                    <a:pt x="0" y="711708"/>
                  </a:moveTo>
                  <a:cubicBezTo>
                    <a:pt x="0" y="318643"/>
                    <a:pt x="278892" y="0"/>
                    <a:pt x="622808" y="0"/>
                  </a:cubicBezTo>
                  <a:cubicBezTo>
                    <a:pt x="966724" y="0"/>
                    <a:pt x="1245616" y="318643"/>
                    <a:pt x="1245616" y="711708"/>
                  </a:cubicBezTo>
                  <a:cubicBezTo>
                    <a:pt x="1245616" y="1104773"/>
                    <a:pt x="966724" y="1423416"/>
                    <a:pt x="622808" y="1423416"/>
                  </a:cubicBezTo>
                  <a:cubicBezTo>
                    <a:pt x="278892" y="1423416"/>
                    <a:pt x="0" y="1104900"/>
                    <a:pt x="0" y="71170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3782961" y="5764320"/>
            <a:ext cx="3221965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Registre Traçable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766759" y="6859629"/>
            <a:ext cx="3221965" cy="65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Chaque variable utilisée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dispose d'un usage clair et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d'une justification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documentée pour une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transparence maximale.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6500" y="5061728"/>
            <a:ext cx="3866359" cy="4172350"/>
            <a:chOff x="0" y="0"/>
            <a:chExt cx="5155146" cy="556313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155057" cy="5563108"/>
            </a:xfrm>
            <a:custGeom>
              <a:avLst/>
              <a:gdLst/>
              <a:ahLst/>
              <a:cxnLst/>
              <a:rect r="r" b="b" t="t" l="l"/>
              <a:pathLst>
                <a:path h="5563108" w="5155057">
                  <a:moveTo>
                    <a:pt x="0" y="859155"/>
                  </a:moveTo>
                  <a:cubicBezTo>
                    <a:pt x="0" y="384683"/>
                    <a:pt x="384683" y="0"/>
                    <a:pt x="859155" y="0"/>
                  </a:cubicBezTo>
                  <a:lnTo>
                    <a:pt x="4295902" y="0"/>
                  </a:lnTo>
                  <a:cubicBezTo>
                    <a:pt x="4770374" y="0"/>
                    <a:pt x="5155057" y="384683"/>
                    <a:pt x="5155057" y="859155"/>
                  </a:cubicBezTo>
                  <a:lnTo>
                    <a:pt x="5155057" y="4703953"/>
                  </a:lnTo>
                  <a:cubicBezTo>
                    <a:pt x="5155057" y="5178425"/>
                    <a:pt x="4770374" y="5563108"/>
                    <a:pt x="4295902" y="5563108"/>
                  </a:cubicBezTo>
                  <a:lnTo>
                    <a:pt x="859155" y="5563108"/>
                  </a:lnTo>
                  <a:cubicBezTo>
                    <a:pt x="384683" y="5563108"/>
                    <a:pt x="0" y="5178425"/>
                    <a:pt x="0" y="470395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383884" y="4501220"/>
            <a:ext cx="934183" cy="1067638"/>
            <a:chOff x="0" y="0"/>
            <a:chExt cx="1245578" cy="142351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45616" cy="1423416"/>
            </a:xfrm>
            <a:custGeom>
              <a:avLst/>
              <a:gdLst/>
              <a:ahLst/>
              <a:cxnLst/>
              <a:rect r="r" b="b" t="t" l="l"/>
              <a:pathLst>
                <a:path h="1423416" w="1245616">
                  <a:moveTo>
                    <a:pt x="0" y="711708"/>
                  </a:moveTo>
                  <a:cubicBezTo>
                    <a:pt x="0" y="318643"/>
                    <a:pt x="278892" y="0"/>
                    <a:pt x="622808" y="0"/>
                  </a:cubicBezTo>
                  <a:cubicBezTo>
                    <a:pt x="966724" y="0"/>
                    <a:pt x="1245616" y="318643"/>
                    <a:pt x="1245616" y="711708"/>
                  </a:cubicBezTo>
                  <a:cubicBezTo>
                    <a:pt x="1245616" y="1104773"/>
                    <a:pt x="966724" y="1423416"/>
                    <a:pt x="622808" y="1423416"/>
                  </a:cubicBezTo>
                  <a:cubicBezTo>
                    <a:pt x="278892" y="1423416"/>
                    <a:pt x="0" y="1104900"/>
                    <a:pt x="0" y="711708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Freeform 34" id="34" descr="People - Avatar"/>
          <p:cNvSpPr/>
          <p:nvPr/>
        </p:nvSpPr>
        <p:spPr>
          <a:xfrm flipH="false" flipV="false" rot="0">
            <a:off x="6680340" y="4868694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5369624" y="5779579"/>
            <a:ext cx="3221965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Identité Anonymisée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369624" y="6859629"/>
            <a:ext cx="3221965" cy="65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L'identité des patients est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isolée dans un coffre sécurisé,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totalement dissociée du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moteur de score prédictif.</a:t>
            </a:r>
          </a:p>
        </p:txBody>
      </p:sp>
      <p:sp>
        <p:nvSpPr>
          <p:cNvPr name="Freeform 37" id="37" descr="Holding a heart"/>
          <p:cNvSpPr/>
          <p:nvPr/>
        </p:nvSpPr>
        <p:spPr>
          <a:xfrm flipH="false" flipV="false" rot="0">
            <a:off x="10889866" y="4866789"/>
            <a:ext cx="340309" cy="340309"/>
          </a:xfrm>
          <a:custGeom>
            <a:avLst/>
            <a:gdLst/>
            <a:ahLst/>
            <a:cxnLst/>
            <a:rect r="r" b="b" t="t" l="l"/>
            <a:pathLst>
              <a:path h="340309" w="340309">
                <a:moveTo>
                  <a:pt x="0" y="0"/>
                </a:moveTo>
                <a:lnTo>
                  <a:pt x="340309" y="0"/>
                </a:lnTo>
                <a:lnTo>
                  <a:pt x="340309" y="340309"/>
                </a:lnTo>
                <a:lnTo>
                  <a:pt x="0" y="3403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8" id="38" descr="Book - Open"/>
          <p:cNvSpPr/>
          <p:nvPr/>
        </p:nvSpPr>
        <p:spPr>
          <a:xfrm flipH="false" flipV="false" rot="0">
            <a:off x="15205205" y="4779093"/>
            <a:ext cx="341262" cy="341262"/>
          </a:xfrm>
          <a:custGeom>
            <a:avLst/>
            <a:gdLst/>
            <a:ahLst/>
            <a:cxnLst/>
            <a:rect r="r" b="b" t="t" l="l"/>
            <a:pathLst>
              <a:path h="341262" w="341262">
                <a:moveTo>
                  <a:pt x="0" y="0"/>
                </a:moveTo>
                <a:lnTo>
                  <a:pt x="341262" y="0"/>
                </a:lnTo>
                <a:lnTo>
                  <a:pt x="341262" y="341261"/>
                </a:lnTo>
                <a:lnTo>
                  <a:pt x="0" y="34126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013422"/>
            <a:ext cx="1928336" cy="366255"/>
            <a:chOff x="0" y="0"/>
            <a:chExt cx="2571115" cy="4883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71115" cy="488315"/>
            </a:xfrm>
            <a:custGeom>
              <a:avLst/>
              <a:gdLst/>
              <a:ahLst/>
              <a:cxnLst/>
              <a:rect r="r" b="b" t="t" l="l"/>
              <a:pathLst>
                <a:path h="488315" w="2571115">
                  <a:moveTo>
                    <a:pt x="0" y="231521"/>
                  </a:moveTo>
                  <a:cubicBezTo>
                    <a:pt x="0" y="103632"/>
                    <a:pt x="103632" y="0"/>
                    <a:pt x="231521" y="0"/>
                  </a:cubicBezTo>
                  <a:lnTo>
                    <a:pt x="2339594" y="0"/>
                  </a:lnTo>
                  <a:cubicBezTo>
                    <a:pt x="2467483" y="0"/>
                    <a:pt x="2571115" y="103632"/>
                    <a:pt x="2571115" y="231521"/>
                  </a:cubicBezTo>
                  <a:lnTo>
                    <a:pt x="2571115" y="256794"/>
                  </a:lnTo>
                  <a:cubicBezTo>
                    <a:pt x="2571115" y="384683"/>
                    <a:pt x="2467483" y="488315"/>
                    <a:pt x="2339594" y="488315"/>
                  </a:cubicBezTo>
                  <a:lnTo>
                    <a:pt x="231521" y="488315"/>
                  </a:lnTo>
                  <a:cubicBezTo>
                    <a:pt x="103632" y="488315"/>
                    <a:pt x="0" y="384683"/>
                    <a:pt x="0" y="256794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37218" y="1066695"/>
            <a:ext cx="1675800" cy="289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DIFFÉRENCIATION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318717"/>
            <a:ext cx="16315868" cy="896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 qui différencie CISIA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2398852"/>
            <a:ext cx="16315868" cy="837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Notre approche unique intègre la puissance de l'IA avec une attention rigoureuse à la souveraineté, la transparence et la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facilité d'utilisation, pour une solution inégalée sur le marché.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08083" y="3909260"/>
            <a:ext cx="5520242" cy="2920746"/>
            <a:chOff x="0" y="0"/>
            <a:chExt cx="7360323" cy="38943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839717" y="3479340"/>
            <a:ext cx="855059" cy="864594"/>
            <a:chOff x="0" y="0"/>
            <a:chExt cx="1140079" cy="115279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06719" y="4484113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Local First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90508" y="5034172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L'IA est exécutée directement sur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votre poste ou serveur local,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garantissant une souveraineté totale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de vos données et une intégration sécurisée.</a:t>
            </a:r>
          </a:p>
        </p:txBody>
      </p:sp>
      <p:sp>
        <p:nvSpPr>
          <p:cNvPr name="Freeform 17" id="17" descr="AI technology"/>
          <p:cNvSpPr/>
          <p:nvPr/>
        </p:nvSpPr>
        <p:spPr>
          <a:xfrm flipH="false" flipV="false" rot="0">
            <a:off x="3044666" y="3688109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4"/>
                </a:lnTo>
                <a:lnTo>
                  <a:pt x="0" y="4470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180839" y="3955009"/>
            <a:ext cx="5583155" cy="2890237"/>
            <a:chOff x="0" y="0"/>
            <a:chExt cx="7444207" cy="385365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444105" cy="3853561"/>
            </a:xfrm>
            <a:custGeom>
              <a:avLst/>
              <a:gdLst/>
              <a:ahLst/>
              <a:cxnLst/>
              <a:rect r="r" b="b" t="t" l="l"/>
              <a:pathLst>
                <a:path h="3853561" w="7444105">
                  <a:moveTo>
                    <a:pt x="0" y="642239"/>
                  </a:moveTo>
                  <a:cubicBezTo>
                    <a:pt x="0" y="287528"/>
                    <a:pt x="287528" y="0"/>
                    <a:pt x="642239" y="0"/>
                  </a:cubicBezTo>
                  <a:lnTo>
                    <a:pt x="6801866" y="0"/>
                  </a:lnTo>
                  <a:cubicBezTo>
                    <a:pt x="7156577" y="0"/>
                    <a:pt x="7444105" y="287528"/>
                    <a:pt x="7444105" y="642239"/>
                  </a:cubicBezTo>
                  <a:lnTo>
                    <a:pt x="7444105" y="3211322"/>
                  </a:lnTo>
                  <a:cubicBezTo>
                    <a:pt x="7444105" y="3566033"/>
                    <a:pt x="7156577" y="3853561"/>
                    <a:pt x="6801866" y="3853561"/>
                  </a:cubicBezTo>
                  <a:lnTo>
                    <a:pt x="642239" y="3853561"/>
                  </a:lnTo>
                  <a:cubicBezTo>
                    <a:pt x="287528" y="3853688"/>
                    <a:pt x="0" y="3566033"/>
                    <a:pt x="0" y="3211322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8539162" y="3528908"/>
            <a:ext cx="864594" cy="855059"/>
            <a:chOff x="0" y="0"/>
            <a:chExt cx="1152792" cy="114007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5277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2779">
                  <a:moveTo>
                    <a:pt x="0" y="570103"/>
                  </a:moveTo>
                  <a:cubicBezTo>
                    <a:pt x="0" y="255270"/>
                    <a:pt x="258064" y="0"/>
                    <a:pt x="576453" y="0"/>
                  </a:cubicBezTo>
                  <a:cubicBezTo>
                    <a:pt x="894842" y="0"/>
                    <a:pt x="1152779" y="255270"/>
                    <a:pt x="1152779" y="570103"/>
                  </a:cubicBezTo>
                  <a:cubicBezTo>
                    <a:pt x="1152779" y="884936"/>
                    <a:pt x="894715" y="1140079"/>
                    <a:pt x="576453" y="1140079"/>
                  </a:cubicBezTo>
                  <a:cubicBezTo>
                    <a:pt x="258191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6786153" y="4522241"/>
            <a:ext cx="4652791" cy="822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Explicable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786153" y="5042745"/>
            <a:ext cx="4652791" cy="483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Chaque score est accompagné d'une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explication intelligible grâce aux valeurs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SHAP et à une traduction en langage métier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pour une meilleure compréhension clinique.</a:t>
            </a:r>
          </a:p>
        </p:txBody>
      </p:sp>
      <p:sp>
        <p:nvSpPr>
          <p:cNvPr name="Freeform 24" id="24" descr="books"/>
          <p:cNvSpPr/>
          <p:nvPr/>
        </p:nvSpPr>
        <p:spPr>
          <a:xfrm flipH="false" flipV="false" rot="0">
            <a:off x="8746017" y="3731000"/>
            <a:ext cx="451837" cy="451837"/>
          </a:xfrm>
          <a:custGeom>
            <a:avLst/>
            <a:gdLst/>
            <a:ahLst/>
            <a:cxnLst/>
            <a:rect r="r" b="b" t="t" l="l"/>
            <a:pathLst>
              <a:path h="451837" w="451837">
                <a:moveTo>
                  <a:pt x="0" y="0"/>
                </a:moveTo>
                <a:lnTo>
                  <a:pt x="451837" y="0"/>
                </a:lnTo>
                <a:lnTo>
                  <a:pt x="451837" y="451837"/>
                </a:lnTo>
                <a:lnTo>
                  <a:pt x="0" y="45183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006120" y="3969315"/>
            <a:ext cx="5520242" cy="2920746"/>
            <a:chOff x="0" y="0"/>
            <a:chExt cx="7360323" cy="389432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337754" y="3539395"/>
            <a:ext cx="855059" cy="864594"/>
            <a:chOff x="0" y="0"/>
            <a:chExt cx="1140079" cy="11527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2518012" y="4522241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Gouvernable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18012" y="5042745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registre RGPD complet et un audit des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biais intégré assurent une transparence et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conformité sans faille, de bout en bout.</a:t>
            </a:r>
          </a:p>
        </p:txBody>
      </p:sp>
      <p:sp>
        <p:nvSpPr>
          <p:cNvPr name="Freeform 31" id="31" descr="Book"/>
          <p:cNvSpPr/>
          <p:nvPr/>
        </p:nvSpPr>
        <p:spPr>
          <a:xfrm flipH="false" flipV="false" rot="0">
            <a:off x="14542703" y="3748154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632955" y="7675531"/>
            <a:ext cx="16736120" cy="2067592"/>
            <a:chOff x="0" y="0"/>
            <a:chExt cx="22314827" cy="275678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314790" cy="2756789"/>
            </a:xfrm>
            <a:custGeom>
              <a:avLst/>
              <a:gdLst/>
              <a:ahLst/>
              <a:cxnLst/>
              <a:rect r="r" b="b" t="t" l="l"/>
              <a:pathLst>
                <a:path h="2756789" w="22314790">
                  <a:moveTo>
                    <a:pt x="0" y="459486"/>
                  </a:moveTo>
                  <a:cubicBezTo>
                    <a:pt x="0" y="205740"/>
                    <a:pt x="205740" y="0"/>
                    <a:pt x="459486" y="0"/>
                  </a:cubicBezTo>
                  <a:lnTo>
                    <a:pt x="21855303" y="0"/>
                  </a:lnTo>
                  <a:cubicBezTo>
                    <a:pt x="22109049" y="0"/>
                    <a:pt x="22314790" y="205740"/>
                    <a:pt x="22314790" y="459486"/>
                  </a:cubicBezTo>
                  <a:lnTo>
                    <a:pt x="22314790" y="2297303"/>
                  </a:lnTo>
                  <a:cubicBezTo>
                    <a:pt x="22314790" y="2551049"/>
                    <a:pt x="22109049" y="2756789"/>
                    <a:pt x="21855303" y="2756789"/>
                  </a:cubicBezTo>
                  <a:lnTo>
                    <a:pt x="459486" y="2756789"/>
                  </a:lnTo>
                  <a:cubicBezTo>
                    <a:pt x="205740" y="2756789"/>
                    <a:pt x="0" y="2551049"/>
                    <a:pt x="0" y="229730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332308" y="7330450"/>
            <a:ext cx="865546" cy="855059"/>
            <a:chOff x="0" y="0"/>
            <a:chExt cx="1154062" cy="114007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5404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4049">
                  <a:moveTo>
                    <a:pt x="0" y="570103"/>
                  </a:moveTo>
                  <a:cubicBezTo>
                    <a:pt x="0" y="255270"/>
                    <a:pt x="258318" y="0"/>
                    <a:pt x="577088" y="0"/>
                  </a:cubicBezTo>
                  <a:cubicBezTo>
                    <a:pt x="895858" y="0"/>
                    <a:pt x="1154049" y="255270"/>
                    <a:pt x="1154049" y="570103"/>
                  </a:cubicBezTo>
                  <a:cubicBezTo>
                    <a:pt x="1154049" y="884936"/>
                    <a:pt x="895731" y="1140079"/>
                    <a:pt x="577088" y="1140079"/>
                  </a:cubicBezTo>
                  <a:cubicBezTo>
                    <a:pt x="258445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137218" y="8062598"/>
            <a:ext cx="13946924" cy="607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Prêt à Démontrer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37218" y="8718461"/>
            <a:ext cx="13946924" cy="37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parcours client fluide et rapide en seulement 5 clics, pour une prise en main immédiate et une démonstration concrète de la valeur.</a:t>
            </a:r>
          </a:p>
        </p:txBody>
      </p:sp>
      <p:sp>
        <p:nvSpPr>
          <p:cNvPr name="Freeform 38" id="38" descr="tool"/>
          <p:cNvSpPr/>
          <p:nvPr/>
        </p:nvSpPr>
        <p:spPr>
          <a:xfrm flipH="false" flipV="false" rot="0">
            <a:off x="8551555" y="7523007"/>
            <a:ext cx="452790" cy="452790"/>
          </a:xfrm>
          <a:custGeom>
            <a:avLst/>
            <a:gdLst/>
            <a:ahLst/>
            <a:cxnLst/>
            <a:rect r="r" b="b" t="t" l="l"/>
            <a:pathLst>
              <a:path h="452790" w="452790">
                <a:moveTo>
                  <a:pt x="0" y="0"/>
                </a:moveTo>
                <a:lnTo>
                  <a:pt x="452789" y="0"/>
                </a:lnTo>
                <a:lnTo>
                  <a:pt x="452789" y="452790"/>
                </a:lnTo>
                <a:lnTo>
                  <a:pt x="0" y="45279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889512"/>
            <a:ext cx="2862939" cy="431044"/>
            <a:chOff x="0" y="0"/>
            <a:chExt cx="3817252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7239" cy="574802"/>
            </a:xfrm>
            <a:custGeom>
              <a:avLst/>
              <a:gdLst/>
              <a:ahLst/>
              <a:cxnLst/>
              <a:rect r="r" b="b" t="t" l="l"/>
              <a:pathLst>
                <a:path h="574802" w="3817239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3544824" y="0"/>
                  </a:lnTo>
                  <a:cubicBezTo>
                    <a:pt x="3695319" y="0"/>
                    <a:pt x="3817239" y="121920"/>
                    <a:pt x="3817239" y="272415"/>
                  </a:cubicBezTo>
                  <a:lnTo>
                    <a:pt x="3817239" y="302387"/>
                  </a:lnTo>
                  <a:cubicBezTo>
                    <a:pt x="3817239" y="452882"/>
                    <a:pt x="3695319" y="574802"/>
                    <a:pt x="3544824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955" y="1955121"/>
            <a:ext cx="2560415" cy="243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QUALITÉ DES DONNÉES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2291172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Qualité des données (risque maîtrisé)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3622424"/>
            <a:ext cx="17230954" cy="577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Avant même l'application du modèle, nous assainissons vos données pour garantir la fiabilité et la pertinence de chaque score.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09212" y="5380111"/>
            <a:ext cx="5520242" cy="2920746"/>
            <a:chOff x="0" y="0"/>
            <a:chExt cx="7360323" cy="38943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040847" y="4950200"/>
            <a:ext cx="855059" cy="864594"/>
            <a:chOff x="0" y="0"/>
            <a:chExt cx="1140079" cy="115279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07849" y="5954973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Assainissement Préalable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7849" y="6622275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Nous identifions et corrigeons les anomalies: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durées incohérentes, constantes hors plage,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signaux capteurs faibles.</a:t>
            </a:r>
          </a:p>
        </p:txBody>
      </p:sp>
      <p:sp>
        <p:nvSpPr>
          <p:cNvPr name="Freeform 17" id="17" descr="ruler"/>
          <p:cNvSpPr/>
          <p:nvPr/>
        </p:nvSpPr>
        <p:spPr>
          <a:xfrm flipH="false" flipV="false" rot="0">
            <a:off x="3245796" y="5158483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381969" y="5425869"/>
            <a:ext cx="5583155" cy="2890237"/>
            <a:chOff x="0" y="0"/>
            <a:chExt cx="7444207" cy="385365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444105" cy="3853561"/>
            </a:xfrm>
            <a:custGeom>
              <a:avLst/>
              <a:gdLst/>
              <a:ahLst/>
              <a:cxnLst/>
              <a:rect r="r" b="b" t="t" l="l"/>
              <a:pathLst>
                <a:path h="3853561" w="7444105">
                  <a:moveTo>
                    <a:pt x="0" y="642239"/>
                  </a:moveTo>
                  <a:cubicBezTo>
                    <a:pt x="0" y="287528"/>
                    <a:pt x="287528" y="0"/>
                    <a:pt x="642239" y="0"/>
                  </a:cubicBezTo>
                  <a:lnTo>
                    <a:pt x="6801866" y="0"/>
                  </a:lnTo>
                  <a:cubicBezTo>
                    <a:pt x="7156577" y="0"/>
                    <a:pt x="7444105" y="287528"/>
                    <a:pt x="7444105" y="642239"/>
                  </a:cubicBezTo>
                  <a:lnTo>
                    <a:pt x="7444105" y="3211322"/>
                  </a:lnTo>
                  <a:cubicBezTo>
                    <a:pt x="7444105" y="3566033"/>
                    <a:pt x="7156577" y="3853561"/>
                    <a:pt x="6801866" y="3853561"/>
                  </a:cubicBezTo>
                  <a:lnTo>
                    <a:pt x="642239" y="3853561"/>
                  </a:lnTo>
                  <a:cubicBezTo>
                    <a:pt x="287528" y="3853688"/>
                    <a:pt x="0" y="3566033"/>
                    <a:pt x="0" y="3211322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8740302" y="4999768"/>
            <a:ext cx="864594" cy="855059"/>
            <a:chOff x="0" y="0"/>
            <a:chExt cx="1152792" cy="114007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5277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2779">
                  <a:moveTo>
                    <a:pt x="0" y="570103"/>
                  </a:moveTo>
                  <a:cubicBezTo>
                    <a:pt x="0" y="255270"/>
                    <a:pt x="258064" y="0"/>
                    <a:pt x="576453" y="0"/>
                  </a:cubicBezTo>
                  <a:cubicBezTo>
                    <a:pt x="894842" y="0"/>
                    <a:pt x="1152779" y="255270"/>
                    <a:pt x="1152779" y="570103"/>
                  </a:cubicBezTo>
                  <a:cubicBezTo>
                    <a:pt x="1152779" y="884936"/>
                    <a:pt x="894715" y="1140079"/>
                    <a:pt x="576453" y="1140079"/>
                  </a:cubicBezTo>
                  <a:cubicBezTo>
                    <a:pt x="258191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6987283" y="5993101"/>
            <a:ext cx="4652791" cy="822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Exclusion Stratégique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70128" y="6671843"/>
            <a:ext cx="4652791" cy="483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Ce qui n’est pas fiable n’entre pas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silencieusement dans le score, évitant toute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contamination des prédictions.</a:t>
            </a:r>
          </a:p>
        </p:txBody>
      </p:sp>
      <p:sp>
        <p:nvSpPr>
          <p:cNvPr name="Freeform 24" id="24" descr="Report"/>
          <p:cNvSpPr/>
          <p:nvPr/>
        </p:nvSpPr>
        <p:spPr>
          <a:xfrm flipH="false" flipV="false" rot="0">
            <a:off x="8947156" y="5201860"/>
            <a:ext cx="451837" cy="451837"/>
          </a:xfrm>
          <a:custGeom>
            <a:avLst/>
            <a:gdLst/>
            <a:ahLst/>
            <a:cxnLst/>
            <a:rect r="r" b="b" t="t" l="l"/>
            <a:pathLst>
              <a:path h="451837" w="451837">
                <a:moveTo>
                  <a:pt x="0" y="0"/>
                </a:moveTo>
                <a:lnTo>
                  <a:pt x="451838" y="0"/>
                </a:lnTo>
                <a:lnTo>
                  <a:pt x="451838" y="451837"/>
                </a:lnTo>
                <a:lnTo>
                  <a:pt x="0" y="45183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207250" y="5440166"/>
            <a:ext cx="5520242" cy="2920746"/>
            <a:chOff x="0" y="0"/>
            <a:chExt cx="7360323" cy="389432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538884" y="5010255"/>
            <a:ext cx="855059" cy="864594"/>
            <a:chOff x="0" y="0"/>
            <a:chExt cx="1140079" cy="11527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2805886" y="6015028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Moins de Fausses Alertes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05886" y="6718554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meilleure qualité des données se traduit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par une réduction significative des alertes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erronées, augmentant l’adoption métier.</a:t>
            </a:r>
          </a:p>
        </p:txBody>
      </p:sp>
      <p:sp>
        <p:nvSpPr>
          <p:cNvPr name="Freeform 31" id="31" descr="Pyramid diagram"/>
          <p:cNvSpPr/>
          <p:nvPr/>
        </p:nvSpPr>
        <p:spPr>
          <a:xfrm flipH="false" flipV="false" rot="0">
            <a:off x="14743833" y="5219014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922858"/>
            <a:ext cx="1770164" cy="388001"/>
            <a:chOff x="0" y="0"/>
            <a:chExt cx="2360219" cy="5173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0168" cy="517271"/>
            </a:xfrm>
            <a:custGeom>
              <a:avLst/>
              <a:gdLst/>
              <a:ahLst/>
              <a:cxnLst/>
              <a:rect r="r" b="b" t="t" l="l"/>
              <a:pathLst>
                <a:path h="517271" w="2360168">
                  <a:moveTo>
                    <a:pt x="0" y="245110"/>
                  </a:moveTo>
                  <a:cubicBezTo>
                    <a:pt x="0" y="109728"/>
                    <a:pt x="109728" y="0"/>
                    <a:pt x="245110" y="0"/>
                  </a:cubicBezTo>
                  <a:lnTo>
                    <a:pt x="2115058" y="0"/>
                  </a:lnTo>
                  <a:cubicBezTo>
                    <a:pt x="2250440" y="0"/>
                    <a:pt x="2360168" y="109728"/>
                    <a:pt x="2360168" y="245110"/>
                  </a:cubicBezTo>
                  <a:lnTo>
                    <a:pt x="2360168" y="272161"/>
                  </a:lnTo>
                  <a:cubicBezTo>
                    <a:pt x="2360168" y="407543"/>
                    <a:pt x="2250440" y="517271"/>
                    <a:pt x="2115058" y="517271"/>
                  </a:cubicBezTo>
                  <a:lnTo>
                    <a:pt x="245110" y="517271"/>
                  </a:lnTo>
                  <a:cubicBezTo>
                    <a:pt x="109728" y="517271"/>
                    <a:pt x="0" y="407543"/>
                    <a:pt x="0" y="272161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45800" y="979951"/>
            <a:ext cx="1433684" cy="266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1351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MODÉLISATION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259881"/>
            <a:ext cx="16315868" cy="940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LightGBM retenu — PR-AUC sur test, seuil F2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2991" y="2804027"/>
            <a:ext cx="7061730" cy="5084369"/>
            <a:chOff x="0" y="0"/>
            <a:chExt cx="9415640" cy="6779158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9415653" cy="6779133"/>
            </a:xfrm>
            <a:custGeom>
              <a:avLst/>
              <a:gdLst/>
              <a:ahLst/>
              <a:cxnLst/>
              <a:rect r="r" b="b" t="t" l="l"/>
              <a:pathLst>
                <a:path h="6779133" w="9415653">
                  <a:moveTo>
                    <a:pt x="0" y="0"/>
                  </a:moveTo>
                  <a:lnTo>
                    <a:pt x="9415653" y="0"/>
                  </a:lnTo>
                  <a:lnTo>
                    <a:pt x="9415653" y="6779133"/>
                  </a:lnTo>
                  <a:lnTo>
                    <a:pt x="0" y="67791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5" r="0" b="-15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471889" y="2765755"/>
            <a:ext cx="7846495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Résultats LightGBM (test)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71889" y="3280153"/>
            <a:ext cx="7846495" cy="1892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Classes déséquilibrées → PR-AUC comme critère principal. </a:t>
            </a:r>
          </a:p>
          <a:p>
            <a:pPr algn="l">
              <a:lnSpc>
                <a:spcPts val="3354"/>
              </a:lnSpc>
            </a:pP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Deux scores : score_sortie (tabulaire) + score_tele (LLM local).</a:t>
            </a:r>
          </a:p>
          <a:p>
            <a:pPr algn="l">
              <a:lnSpc>
                <a:spcPts val="3354"/>
              </a:lnSpc>
            </a:pP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Stack : Python, pandas, sklearn, LightGBM, Optuna,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FastAPI, Docker, SHAP.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78694" y="8391239"/>
            <a:ext cx="3935168" cy="995248"/>
            <a:chOff x="0" y="0"/>
            <a:chExt cx="5246891" cy="132699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6878" cy="1326896"/>
            </a:xfrm>
            <a:custGeom>
              <a:avLst/>
              <a:gdLst/>
              <a:ahLst/>
              <a:cxnLst/>
              <a:rect r="r" b="b" t="t" l="l"/>
              <a:pathLst>
                <a:path h="1326896" w="5246878">
                  <a:moveTo>
                    <a:pt x="0" y="315468"/>
                  </a:moveTo>
                  <a:cubicBezTo>
                    <a:pt x="0" y="141224"/>
                    <a:pt x="141224" y="0"/>
                    <a:pt x="315468" y="0"/>
                  </a:cubicBezTo>
                  <a:lnTo>
                    <a:pt x="4931410" y="0"/>
                  </a:lnTo>
                  <a:cubicBezTo>
                    <a:pt x="5105654" y="0"/>
                    <a:pt x="5246878" y="141224"/>
                    <a:pt x="5246878" y="315468"/>
                  </a:cubicBezTo>
                  <a:lnTo>
                    <a:pt x="5246878" y="1011428"/>
                  </a:lnTo>
                  <a:cubicBezTo>
                    <a:pt x="5246878" y="1185672"/>
                    <a:pt x="5105654" y="1326896"/>
                    <a:pt x="4931410" y="1326896"/>
                  </a:cubicBezTo>
                  <a:lnTo>
                    <a:pt x="315468" y="1326896"/>
                  </a:lnTo>
                  <a:cubicBezTo>
                    <a:pt x="141224" y="1327023"/>
                    <a:pt x="0" y="1185672"/>
                    <a:pt x="0" y="101142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76864" y="8689419"/>
            <a:ext cx="3338808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ROC-AUC 0,84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115068" y="8391239"/>
            <a:ext cx="3935168" cy="995248"/>
            <a:chOff x="0" y="0"/>
            <a:chExt cx="5246891" cy="132699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246878" cy="1326896"/>
            </a:xfrm>
            <a:custGeom>
              <a:avLst/>
              <a:gdLst/>
              <a:ahLst/>
              <a:cxnLst/>
              <a:rect r="r" b="b" t="t" l="l"/>
              <a:pathLst>
                <a:path h="1326896" w="5246878">
                  <a:moveTo>
                    <a:pt x="0" y="315468"/>
                  </a:moveTo>
                  <a:cubicBezTo>
                    <a:pt x="0" y="141224"/>
                    <a:pt x="141224" y="0"/>
                    <a:pt x="315468" y="0"/>
                  </a:cubicBezTo>
                  <a:lnTo>
                    <a:pt x="4931410" y="0"/>
                  </a:lnTo>
                  <a:cubicBezTo>
                    <a:pt x="5105654" y="0"/>
                    <a:pt x="5246878" y="141224"/>
                    <a:pt x="5246878" y="315468"/>
                  </a:cubicBezTo>
                  <a:lnTo>
                    <a:pt x="5246878" y="1011428"/>
                  </a:lnTo>
                  <a:cubicBezTo>
                    <a:pt x="5246878" y="1185672"/>
                    <a:pt x="5105654" y="1326896"/>
                    <a:pt x="4931410" y="1326896"/>
                  </a:cubicBezTo>
                  <a:lnTo>
                    <a:pt x="315468" y="1326896"/>
                  </a:lnTo>
                  <a:cubicBezTo>
                    <a:pt x="141224" y="1327023"/>
                    <a:pt x="0" y="1185672"/>
                    <a:pt x="0" y="101142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5413248" y="8689419"/>
            <a:ext cx="3338808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PR-AUC 0,61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251452" y="8391239"/>
            <a:ext cx="3935168" cy="995248"/>
            <a:chOff x="0" y="0"/>
            <a:chExt cx="5246891" cy="13269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46878" cy="1326896"/>
            </a:xfrm>
            <a:custGeom>
              <a:avLst/>
              <a:gdLst/>
              <a:ahLst/>
              <a:cxnLst/>
              <a:rect r="r" b="b" t="t" l="l"/>
              <a:pathLst>
                <a:path h="1326896" w="5246878">
                  <a:moveTo>
                    <a:pt x="0" y="315468"/>
                  </a:moveTo>
                  <a:cubicBezTo>
                    <a:pt x="0" y="141224"/>
                    <a:pt x="141224" y="0"/>
                    <a:pt x="315468" y="0"/>
                  </a:cubicBezTo>
                  <a:lnTo>
                    <a:pt x="4931410" y="0"/>
                  </a:lnTo>
                  <a:cubicBezTo>
                    <a:pt x="5105654" y="0"/>
                    <a:pt x="5246878" y="141224"/>
                    <a:pt x="5246878" y="315468"/>
                  </a:cubicBezTo>
                  <a:lnTo>
                    <a:pt x="5246878" y="1011428"/>
                  </a:lnTo>
                  <a:cubicBezTo>
                    <a:pt x="5246878" y="1185672"/>
                    <a:pt x="5105654" y="1326896"/>
                    <a:pt x="4931410" y="1326896"/>
                  </a:cubicBezTo>
                  <a:lnTo>
                    <a:pt x="315468" y="1326896"/>
                  </a:lnTo>
                  <a:cubicBezTo>
                    <a:pt x="141224" y="1327023"/>
                    <a:pt x="0" y="1185672"/>
                    <a:pt x="0" y="101142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9549632" y="8689419"/>
            <a:ext cx="3338808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Rappel 0,81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3387835" y="8391239"/>
            <a:ext cx="3935311" cy="995248"/>
            <a:chOff x="0" y="0"/>
            <a:chExt cx="5247081" cy="132699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7005" cy="1326896"/>
            </a:xfrm>
            <a:custGeom>
              <a:avLst/>
              <a:gdLst/>
              <a:ahLst/>
              <a:cxnLst/>
              <a:rect r="r" b="b" t="t" l="l"/>
              <a:pathLst>
                <a:path h="1326896" w="5247005">
                  <a:moveTo>
                    <a:pt x="0" y="315468"/>
                  </a:moveTo>
                  <a:cubicBezTo>
                    <a:pt x="0" y="141224"/>
                    <a:pt x="141224" y="0"/>
                    <a:pt x="315468" y="0"/>
                  </a:cubicBezTo>
                  <a:lnTo>
                    <a:pt x="4931537" y="0"/>
                  </a:lnTo>
                  <a:cubicBezTo>
                    <a:pt x="5105781" y="0"/>
                    <a:pt x="5247005" y="141224"/>
                    <a:pt x="5247005" y="315468"/>
                  </a:cubicBezTo>
                  <a:lnTo>
                    <a:pt x="5247005" y="1011428"/>
                  </a:lnTo>
                  <a:cubicBezTo>
                    <a:pt x="5247005" y="1185672"/>
                    <a:pt x="5105781" y="1326896"/>
                    <a:pt x="4931537" y="1326896"/>
                  </a:cubicBezTo>
                  <a:lnTo>
                    <a:pt x="315468" y="1326896"/>
                  </a:lnTo>
                  <a:cubicBezTo>
                    <a:pt x="141224" y="1327023"/>
                    <a:pt x="0" y="1185672"/>
                    <a:pt x="0" y="1011428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13686015" y="8689419"/>
            <a:ext cx="3338951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F2 0,71 · Seuil 0,48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208532"/>
            <a:ext cx="1273740" cy="431044"/>
            <a:chOff x="0" y="0"/>
            <a:chExt cx="1698320" cy="5747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98371" cy="574802"/>
            </a:xfrm>
            <a:custGeom>
              <a:avLst/>
              <a:gdLst/>
              <a:ahLst/>
              <a:cxnLst/>
              <a:rect r="r" b="b" t="t" l="l"/>
              <a:pathLst>
                <a:path h="574802" w="1698371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1425956" y="0"/>
                  </a:lnTo>
                  <a:cubicBezTo>
                    <a:pt x="1576451" y="0"/>
                    <a:pt x="1698371" y="121920"/>
                    <a:pt x="1698371" y="272415"/>
                  </a:cubicBezTo>
                  <a:lnTo>
                    <a:pt x="1698371" y="302387"/>
                  </a:lnTo>
                  <a:cubicBezTo>
                    <a:pt x="1698371" y="452882"/>
                    <a:pt x="1576451" y="574802"/>
                    <a:pt x="1425956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3231" y="1284056"/>
            <a:ext cx="1848355" cy="270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8"/>
              </a:lnSpc>
            </a:pPr>
            <a:r>
              <a:rPr lang="en-US" sz="17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ÉTHIQUE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2408520" y="1208532"/>
            <a:ext cx="2096938" cy="431044"/>
            <a:chOff x="0" y="0"/>
            <a:chExt cx="2795918" cy="57472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795905" cy="574802"/>
            </a:xfrm>
            <a:custGeom>
              <a:avLst/>
              <a:gdLst/>
              <a:ahLst/>
              <a:cxnLst/>
              <a:rect r="r" b="b" t="t" l="l"/>
              <a:pathLst>
                <a:path h="574802" w="2795905">
                  <a:moveTo>
                    <a:pt x="0" y="272415"/>
                  </a:moveTo>
                  <a:cubicBezTo>
                    <a:pt x="0" y="121920"/>
                    <a:pt x="121920" y="0"/>
                    <a:pt x="272415" y="0"/>
                  </a:cubicBezTo>
                  <a:lnTo>
                    <a:pt x="2523490" y="0"/>
                  </a:lnTo>
                  <a:cubicBezTo>
                    <a:pt x="2673985" y="0"/>
                    <a:pt x="2795905" y="121920"/>
                    <a:pt x="2795905" y="272415"/>
                  </a:cubicBezTo>
                  <a:lnTo>
                    <a:pt x="2795905" y="302387"/>
                  </a:lnTo>
                  <a:cubicBezTo>
                    <a:pt x="2795905" y="452882"/>
                    <a:pt x="2673985" y="574802"/>
                    <a:pt x="2523490" y="574802"/>
                  </a:cubicBezTo>
                  <a:lnTo>
                    <a:pt x="272415" y="574802"/>
                  </a:lnTo>
                  <a:cubicBezTo>
                    <a:pt x="121920" y="574675"/>
                    <a:pt x="0" y="452755"/>
                    <a:pt x="0" y="30238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578760" y="1284056"/>
            <a:ext cx="2671553" cy="270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8"/>
              </a:lnSpc>
            </a:pPr>
            <a:r>
              <a:rPr lang="en-US" sz="17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TRANSPARENCE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991" y="1610201"/>
            <a:ext cx="16315868" cy="1029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Équité : on mesure, on ne cache pas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991" y="2941453"/>
            <a:ext cx="16315868" cy="103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L'équité est au cœur de notre démarche. Nous ne nous contentons pas de prédire, nous vous donnons les outils pour mesurer et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corriger les inégalités potentielles, renforçant ainsi la confiance de vos équipes et de vos instances.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19522" y="4696635"/>
            <a:ext cx="5520242" cy="4225738"/>
            <a:chOff x="0" y="0"/>
            <a:chExt cx="7360323" cy="563431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360285" cy="5634228"/>
            </a:xfrm>
            <a:custGeom>
              <a:avLst/>
              <a:gdLst/>
              <a:ahLst/>
              <a:cxnLst/>
              <a:rect r="r" b="b" t="t" l="l"/>
              <a:pathLst>
                <a:path h="5634228" w="7360285">
                  <a:moveTo>
                    <a:pt x="0" y="939038"/>
                  </a:moveTo>
                  <a:cubicBezTo>
                    <a:pt x="0" y="420497"/>
                    <a:pt x="420497" y="0"/>
                    <a:pt x="939038" y="0"/>
                  </a:cubicBezTo>
                  <a:lnTo>
                    <a:pt x="6421247" y="0"/>
                  </a:lnTo>
                  <a:cubicBezTo>
                    <a:pt x="6939915" y="0"/>
                    <a:pt x="7360285" y="420497"/>
                    <a:pt x="7360285" y="939038"/>
                  </a:cubicBezTo>
                  <a:lnTo>
                    <a:pt x="7360285" y="4695190"/>
                  </a:lnTo>
                  <a:cubicBezTo>
                    <a:pt x="7360285" y="5213858"/>
                    <a:pt x="6939788" y="5634228"/>
                    <a:pt x="6421247" y="5634228"/>
                  </a:cubicBezTo>
                  <a:lnTo>
                    <a:pt x="939038" y="5634228"/>
                  </a:lnTo>
                  <a:cubicBezTo>
                    <a:pt x="420497" y="5634355"/>
                    <a:pt x="0" y="5213858"/>
                    <a:pt x="0" y="4695190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851156" y="4266724"/>
            <a:ext cx="855059" cy="864594"/>
            <a:chOff x="0" y="0"/>
            <a:chExt cx="1140079" cy="115279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118159" y="5271497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Audit Automatique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18159" y="6203794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audit constant et automatisé des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performances par sexe, âge et territoire,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pour une vision objective des éventuels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déséquilibres.</a:t>
            </a:r>
          </a:p>
        </p:txBody>
      </p:sp>
      <p:sp>
        <p:nvSpPr>
          <p:cNvPr name="Freeform 20" id="20" descr="flow chart"/>
          <p:cNvSpPr/>
          <p:nvPr/>
        </p:nvSpPr>
        <p:spPr>
          <a:xfrm flipH="false" flipV="false" rot="0">
            <a:off x="3056106" y="4475007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6192279" y="4742393"/>
            <a:ext cx="5583155" cy="4179027"/>
            <a:chOff x="0" y="0"/>
            <a:chExt cx="7444207" cy="55720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44232" cy="5572125"/>
            </a:xfrm>
            <a:custGeom>
              <a:avLst/>
              <a:gdLst/>
              <a:ahLst/>
              <a:cxnLst/>
              <a:rect r="r" b="b" t="t" l="l"/>
              <a:pathLst>
                <a:path h="5572125" w="7444232">
                  <a:moveTo>
                    <a:pt x="0" y="928751"/>
                  </a:moveTo>
                  <a:cubicBezTo>
                    <a:pt x="0" y="415798"/>
                    <a:pt x="415798" y="0"/>
                    <a:pt x="928751" y="0"/>
                  </a:cubicBezTo>
                  <a:lnTo>
                    <a:pt x="6515481" y="0"/>
                  </a:lnTo>
                  <a:cubicBezTo>
                    <a:pt x="7028435" y="0"/>
                    <a:pt x="7444232" y="415798"/>
                    <a:pt x="7444232" y="928751"/>
                  </a:cubicBezTo>
                  <a:lnTo>
                    <a:pt x="7444232" y="4643374"/>
                  </a:lnTo>
                  <a:cubicBezTo>
                    <a:pt x="7444232" y="5156327"/>
                    <a:pt x="7028435" y="5572125"/>
                    <a:pt x="6515481" y="5572125"/>
                  </a:cubicBezTo>
                  <a:lnTo>
                    <a:pt x="928751" y="5572125"/>
                  </a:lnTo>
                  <a:cubicBezTo>
                    <a:pt x="415798" y="5571998"/>
                    <a:pt x="0" y="5156200"/>
                    <a:pt x="0" y="4643374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550602" y="4316292"/>
            <a:ext cx="864594" cy="855059"/>
            <a:chOff x="0" y="0"/>
            <a:chExt cx="1152792" cy="114007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5277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2779">
                  <a:moveTo>
                    <a:pt x="0" y="570103"/>
                  </a:moveTo>
                  <a:cubicBezTo>
                    <a:pt x="0" y="255270"/>
                    <a:pt x="258064" y="0"/>
                    <a:pt x="576453" y="0"/>
                  </a:cubicBezTo>
                  <a:cubicBezTo>
                    <a:pt x="894842" y="0"/>
                    <a:pt x="1152779" y="255270"/>
                    <a:pt x="1152779" y="570103"/>
                  </a:cubicBezTo>
                  <a:cubicBezTo>
                    <a:pt x="1152779" y="884936"/>
                    <a:pt x="894715" y="1140079"/>
                    <a:pt x="576453" y="1140079"/>
                  </a:cubicBezTo>
                  <a:cubicBezTo>
                    <a:pt x="258191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6797592" y="5309626"/>
            <a:ext cx="4652791" cy="822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Visibilité des Écarts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797592" y="6232398"/>
            <a:ext cx="4652791" cy="483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Les écarts de performance sont mis en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lumière, rendant ces informations cruciales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visibles et actionnables pour vos comités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qualité et d'éthique.</a:t>
            </a:r>
          </a:p>
        </p:txBody>
      </p:sp>
      <p:sp>
        <p:nvSpPr>
          <p:cNvPr name="Freeform 27" id="27" descr="AI"/>
          <p:cNvSpPr/>
          <p:nvPr/>
        </p:nvSpPr>
        <p:spPr>
          <a:xfrm flipH="false" flipV="false" rot="0">
            <a:off x="8757456" y="4518384"/>
            <a:ext cx="451837" cy="451837"/>
          </a:xfrm>
          <a:custGeom>
            <a:avLst/>
            <a:gdLst/>
            <a:ahLst/>
            <a:cxnLst/>
            <a:rect r="r" b="b" t="t" l="l"/>
            <a:pathLst>
              <a:path h="451837" w="451837">
                <a:moveTo>
                  <a:pt x="0" y="0"/>
                </a:moveTo>
                <a:lnTo>
                  <a:pt x="451838" y="0"/>
                </a:lnTo>
                <a:lnTo>
                  <a:pt x="451838" y="451837"/>
                </a:lnTo>
                <a:lnTo>
                  <a:pt x="0" y="45183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2017559" y="4756690"/>
            <a:ext cx="5520242" cy="4164730"/>
            <a:chOff x="0" y="0"/>
            <a:chExt cx="7360323" cy="555297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360412" cy="5553075"/>
            </a:xfrm>
            <a:custGeom>
              <a:avLst/>
              <a:gdLst/>
              <a:ahLst/>
              <a:cxnLst/>
              <a:rect r="r" b="b" t="t" l="l"/>
              <a:pathLst>
                <a:path h="5553075" w="7360412">
                  <a:moveTo>
                    <a:pt x="0" y="925576"/>
                  </a:moveTo>
                  <a:cubicBezTo>
                    <a:pt x="0" y="414401"/>
                    <a:pt x="414401" y="0"/>
                    <a:pt x="925576" y="0"/>
                  </a:cubicBezTo>
                  <a:lnTo>
                    <a:pt x="6434836" y="0"/>
                  </a:lnTo>
                  <a:cubicBezTo>
                    <a:pt x="6946011" y="0"/>
                    <a:pt x="7360412" y="414401"/>
                    <a:pt x="7360412" y="925576"/>
                  </a:cubicBezTo>
                  <a:lnTo>
                    <a:pt x="7360412" y="4627499"/>
                  </a:lnTo>
                  <a:cubicBezTo>
                    <a:pt x="7360412" y="5138674"/>
                    <a:pt x="6946011" y="5553075"/>
                    <a:pt x="6434836" y="5553075"/>
                  </a:cubicBezTo>
                  <a:lnTo>
                    <a:pt x="925576" y="5553075"/>
                  </a:lnTo>
                  <a:cubicBezTo>
                    <a:pt x="414401" y="5552948"/>
                    <a:pt x="0" y="5138547"/>
                    <a:pt x="0" y="4627499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49193" y="4326779"/>
            <a:ext cx="855059" cy="864594"/>
            <a:chOff x="0" y="0"/>
            <a:chExt cx="1140079" cy="115279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616196" y="5331552"/>
            <a:ext cx="4600356" cy="830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2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Crédibilité Renforcée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616196" y="6263850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Cette transparence totale n'est pas seulement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obligation, c'est un atout majeur pour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construire et maintenir la crédibilité auprès des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médecins, du personnel soignant et de la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direction.</a:t>
            </a:r>
          </a:p>
        </p:txBody>
      </p:sp>
      <p:sp>
        <p:nvSpPr>
          <p:cNvPr name="Freeform 34" id="34" descr="inspiration"/>
          <p:cNvSpPr/>
          <p:nvPr/>
        </p:nvSpPr>
        <p:spPr>
          <a:xfrm flipH="false" flipV="false" rot="0">
            <a:off x="14554143" y="4535538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962330"/>
            <a:ext cx="1690326" cy="388001"/>
            <a:chOff x="0" y="0"/>
            <a:chExt cx="2253767" cy="5173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53742" cy="517271"/>
            </a:xfrm>
            <a:custGeom>
              <a:avLst/>
              <a:gdLst/>
              <a:ahLst/>
              <a:cxnLst/>
              <a:rect r="r" b="b" t="t" l="l"/>
              <a:pathLst>
                <a:path h="517271" w="2253742">
                  <a:moveTo>
                    <a:pt x="0" y="245110"/>
                  </a:moveTo>
                  <a:cubicBezTo>
                    <a:pt x="0" y="109728"/>
                    <a:pt x="109728" y="0"/>
                    <a:pt x="245110" y="0"/>
                  </a:cubicBezTo>
                  <a:lnTo>
                    <a:pt x="2008632" y="0"/>
                  </a:lnTo>
                  <a:cubicBezTo>
                    <a:pt x="2144014" y="0"/>
                    <a:pt x="2253742" y="109728"/>
                    <a:pt x="2253742" y="245110"/>
                  </a:cubicBezTo>
                  <a:lnTo>
                    <a:pt x="2253742" y="272161"/>
                  </a:lnTo>
                  <a:cubicBezTo>
                    <a:pt x="2253742" y="407543"/>
                    <a:pt x="2144014" y="517271"/>
                    <a:pt x="2008632" y="517271"/>
                  </a:cubicBezTo>
                  <a:lnTo>
                    <a:pt x="245110" y="517271"/>
                  </a:lnTo>
                  <a:cubicBezTo>
                    <a:pt x="109728" y="517271"/>
                    <a:pt x="0" y="407543"/>
                    <a:pt x="0" y="272161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46096" y="1029367"/>
            <a:ext cx="2299202" cy="244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5"/>
              </a:lnSpc>
            </a:pPr>
            <a:r>
              <a:rPr lang="en-US" sz="15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DÉPLOIEMENT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299353"/>
            <a:ext cx="16315868" cy="940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Intégration &amp; Déploiement Évolutifs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2461108"/>
            <a:ext cx="16315868" cy="900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Notre solution est conçue pour une intégration fluide et un déploiement adaptable, garantissant une mise en œuvre rapide et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expansion maîtrisée au sein de votre établissement.</a:t>
            </a:r>
          </a:p>
        </p:txBody>
      </p:sp>
      <p:sp>
        <p:nvSpPr>
          <p:cNvPr name="Freeform 11" id="11" descr="preencoded.png"/>
          <p:cNvSpPr/>
          <p:nvPr/>
        </p:nvSpPr>
        <p:spPr>
          <a:xfrm flipH="false" flipV="false" rot="0">
            <a:off x="992991" y="3619795"/>
            <a:ext cx="638356" cy="638375"/>
          </a:xfrm>
          <a:custGeom>
            <a:avLst/>
            <a:gdLst/>
            <a:ahLst/>
            <a:cxnLst/>
            <a:rect r="r" b="b" t="t" l="l"/>
            <a:pathLst>
              <a:path h="638375" w="638356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766" t="0" r="-11766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92991" y="4545340"/>
            <a:ext cx="52471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Démo Locale Immédiate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991" y="4958163"/>
            <a:ext cx="52471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Lancez rapidement la solution via une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application web locale, sans installation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complexe, pour une prise en main rapide.</a:t>
            </a:r>
          </a:p>
        </p:txBody>
      </p:sp>
      <p:sp>
        <p:nvSpPr>
          <p:cNvPr name="Freeform 14" id="14" descr="preencoded.png"/>
          <p:cNvSpPr/>
          <p:nvPr/>
        </p:nvSpPr>
        <p:spPr>
          <a:xfrm flipH="false" flipV="false" rot="0">
            <a:off x="6527330" y="3619795"/>
            <a:ext cx="638356" cy="638375"/>
          </a:xfrm>
          <a:custGeom>
            <a:avLst/>
            <a:gdLst/>
            <a:ahLst/>
            <a:cxnLst/>
            <a:rect r="r" b="b" t="t" l="l"/>
            <a:pathLst>
              <a:path h="638375" w="638356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" t="0" r="-1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527330" y="4545340"/>
            <a:ext cx="52471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API d'Intégration Flexible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27330" y="4958163"/>
            <a:ext cx="52471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API robuste permet une connexion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facile à votre SIH et supporte l'intégration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de flux de données futurs.</a:t>
            </a:r>
          </a:p>
        </p:txBody>
      </p:sp>
      <p:sp>
        <p:nvSpPr>
          <p:cNvPr name="Freeform 17" id="17" descr="preencoded.png"/>
          <p:cNvSpPr/>
          <p:nvPr/>
        </p:nvSpPr>
        <p:spPr>
          <a:xfrm flipH="false" flipV="false" rot="0">
            <a:off x="12061669" y="3619795"/>
            <a:ext cx="638356" cy="638375"/>
          </a:xfrm>
          <a:custGeom>
            <a:avLst/>
            <a:gdLst/>
            <a:ahLst/>
            <a:cxnLst/>
            <a:rect r="r" b="b" t="t" l="l"/>
            <a:pathLst>
              <a:path h="638375" w="638356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3674" r="0" b="-3674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061669" y="4545340"/>
            <a:ext cx="52471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Versions Modèles Traçables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061669" y="4958163"/>
            <a:ext cx="52471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registre intégré assure la traçabilité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complète des versions de modèles,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garantissant transparence et auditabilité.</a:t>
            </a:r>
          </a:p>
        </p:txBody>
      </p:sp>
      <p:sp>
        <p:nvSpPr>
          <p:cNvPr name="Freeform 20" id="20" descr="preencoded.png"/>
          <p:cNvSpPr/>
          <p:nvPr/>
        </p:nvSpPr>
        <p:spPr>
          <a:xfrm flipH="false" flipV="false" rot="0">
            <a:off x="992991" y="6706076"/>
            <a:ext cx="638356" cy="638375"/>
          </a:xfrm>
          <a:custGeom>
            <a:avLst/>
            <a:gdLst/>
            <a:ahLst/>
            <a:cxnLst/>
            <a:rect r="r" b="b" t="t" l="l"/>
            <a:pathLst>
              <a:path h="638375" w="638356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5147" t="0" r="-5149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92991" y="7631620"/>
            <a:ext cx="52471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Réapprentissage Périodique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92991" y="8044444"/>
            <a:ext cx="52471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Adaptez le modèle aux évolutions de vos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données et pratiques cliniques grâce à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une option de réapprentissage régulière.</a:t>
            </a:r>
          </a:p>
        </p:txBody>
      </p:sp>
      <p:sp>
        <p:nvSpPr>
          <p:cNvPr name="Freeform 23" id="23" descr="preencoded.png"/>
          <p:cNvSpPr/>
          <p:nvPr/>
        </p:nvSpPr>
        <p:spPr>
          <a:xfrm flipH="false" flipV="false" rot="0">
            <a:off x="6527330" y="6706076"/>
            <a:ext cx="638356" cy="638375"/>
          </a:xfrm>
          <a:custGeom>
            <a:avLst/>
            <a:gdLst/>
            <a:ahLst/>
            <a:cxnLst/>
            <a:rect r="r" b="b" t="t" l="l"/>
            <a:pathLst>
              <a:path h="638375" w="638356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4413" t="0" r="-4413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6527330" y="7631620"/>
            <a:ext cx="52471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Déploiement Progressif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27330" y="8044444"/>
            <a:ext cx="52471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Commencez par un service pilote et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étendez la solution progressivement à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l'ensemble de votre établissement.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822027"/>
            <a:ext cx="2215201" cy="388001"/>
            <a:chOff x="0" y="0"/>
            <a:chExt cx="2953601" cy="5173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53512" cy="517271"/>
            </a:xfrm>
            <a:custGeom>
              <a:avLst/>
              <a:gdLst/>
              <a:ahLst/>
              <a:cxnLst/>
              <a:rect r="r" b="b" t="t" l="l"/>
              <a:pathLst>
                <a:path h="517271" w="2953512">
                  <a:moveTo>
                    <a:pt x="0" y="245110"/>
                  </a:moveTo>
                  <a:cubicBezTo>
                    <a:pt x="0" y="109728"/>
                    <a:pt x="109728" y="0"/>
                    <a:pt x="245110" y="0"/>
                  </a:cubicBezTo>
                  <a:lnTo>
                    <a:pt x="2708402" y="0"/>
                  </a:lnTo>
                  <a:cubicBezTo>
                    <a:pt x="2843784" y="0"/>
                    <a:pt x="2953512" y="109728"/>
                    <a:pt x="2953512" y="245110"/>
                  </a:cubicBezTo>
                  <a:lnTo>
                    <a:pt x="2953512" y="272161"/>
                  </a:lnTo>
                  <a:cubicBezTo>
                    <a:pt x="2953512" y="407543"/>
                    <a:pt x="2843784" y="517271"/>
                    <a:pt x="2708402" y="517271"/>
                  </a:cubicBezTo>
                  <a:lnTo>
                    <a:pt x="245110" y="517271"/>
                  </a:lnTo>
                  <a:cubicBezTo>
                    <a:pt x="109728" y="517271"/>
                    <a:pt x="0" y="407543"/>
                    <a:pt x="0" y="272161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46096" y="889054"/>
            <a:ext cx="2824067" cy="244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5"/>
              </a:lnSpc>
            </a:pPr>
            <a:r>
              <a:rPr lang="en-US" sz="15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SCÉNARIO D'USAGE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159050"/>
            <a:ext cx="16315868" cy="940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Scénario d'usage : Le coordinateur au quotidien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2320804"/>
            <a:ext cx="16315868" cy="900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Découvrez comment CISIA transforme le quotidien du coordinateur, en rendant chaque prise de décision plus rapide,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plus précise et plus humaine.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2991" y="6476257"/>
            <a:ext cx="16315868" cy="28594"/>
            <a:chOff x="0" y="0"/>
            <a:chExt cx="21754490" cy="3812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54464" cy="38100"/>
            </a:xfrm>
            <a:custGeom>
              <a:avLst/>
              <a:gdLst/>
              <a:ahLst/>
              <a:cxnLst/>
              <a:rect r="r" b="b" t="t" l="l"/>
              <a:pathLst>
                <a:path h="38100" w="21754464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21735414" y="0"/>
                  </a:lnTo>
                  <a:cubicBezTo>
                    <a:pt x="21745955" y="0"/>
                    <a:pt x="21754464" y="8509"/>
                    <a:pt x="21754464" y="19050"/>
                  </a:cubicBezTo>
                  <a:cubicBezTo>
                    <a:pt x="21754464" y="29591"/>
                    <a:pt x="21745955" y="38100"/>
                    <a:pt x="2173541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19806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155596" y="5710238"/>
            <a:ext cx="28594" cy="766020"/>
            <a:chOff x="0" y="0"/>
            <a:chExt cx="38125" cy="102135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100" cy="1021334"/>
            </a:xfrm>
            <a:custGeom>
              <a:avLst/>
              <a:gdLst/>
              <a:ahLst/>
              <a:cxnLst/>
              <a:rect r="r" b="b" t="t" l="l"/>
              <a:pathLst>
                <a:path h="102133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02284"/>
                  </a:lnTo>
                  <a:cubicBezTo>
                    <a:pt x="38100" y="1012825"/>
                    <a:pt x="29591" y="1021334"/>
                    <a:pt x="19050" y="1021334"/>
                  </a:cubicBezTo>
                  <a:cubicBezTo>
                    <a:pt x="8509" y="1021334"/>
                    <a:pt x="0" y="1012825"/>
                    <a:pt x="0" y="1002284"/>
                  </a:cubicBezTo>
                  <a:close/>
                </a:path>
              </a:pathLst>
            </a:custGeom>
            <a:solidFill>
              <a:srgbClr val="19806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4074195" y="6380559"/>
            <a:ext cx="191386" cy="191395"/>
            <a:chOff x="0" y="0"/>
            <a:chExt cx="255181" cy="25519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5143" cy="255143"/>
            </a:xfrm>
            <a:custGeom>
              <a:avLst/>
              <a:gdLst/>
              <a:ahLst/>
              <a:cxnLst/>
              <a:rect r="r" b="b" t="t" l="l"/>
              <a:pathLst>
                <a:path h="255143" w="255143">
                  <a:moveTo>
                    <a:pt x="0" y="127635"/>
                  </a:moveTo>
                  <a:cubicBezTo>
                    <a:pt x="0" y="57150"/>
                    <a:pt x="57150" y="0"/>
                    <a:pt x="127635" y="0"/>
                  </a:cubicBezTo>
                  <a:cubicBezTo>
                    <a:pt x="198120" y="0"/>
                    <a:pt x="255143" y="57150"/>
                    <a:pt x="255143" y="127635"/>
                  </a:cubicBezTo>
                  <a:cubicBezTo>
                    <a:pt x="255143" y="198120"/>
                    <a:pt x="198120" y="255143"/>
                    <a:pt x="127635" y="255143"/>
                  </a:cubicBezTo>
                  <a:cubicBezTo>
                    <a:pt x="57150" y="255143"/>
                    <a:pt x="0" y="198120"/>
                    <a:pt x="0" y="127635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88219" y="3474730"/>
            <a:ext cx="6363491" cy="2240270"/>
            <a:chOff x="0" y="0"/>
            <a:chExt cx="8484654" cy="298702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84615" cy="2987040"/>
            </a:xfrm>
            <a:custGeom>
              <a:avLst/>
              <a:gdLst/>
              <a:ahLst/>
              <a:cxnLst/>
              <a:rect r="r" b="b" t="t" l="l"/>
              <a:pathLst>
                <a:path h="2987040" w="8484615">
                  <a:moveTo>
                    <a:pt x="0" y="307721"/>
                  </a:moveTo>
                  <a:cubicBezTo>
                    <a:pt x="0" y="137795"/>
                    <a:pt x="137795" y="0"/>
                    <a:pt x="307721" y="0"/>
                  </a:cubicBezTo>
                  <a:lnTo>
                    <a:pt x="8176895" y="0"/>
                  </a:lnTo>
                  <a:cubicBezTo>
                    <a:pt x="8346821" y="0"/>
                    <a:pt x="8484615" y="137795"/>
                    <a:pt x="8484615" y="307721"/>
                  </a:cubicBezTo>
                  <a:lnTo>
                    <a:pt x="8484615" y="2679319"/>
                  </a:lnTo>
                  <a:cubicBezTo>
                    <a:pt x="8484615" y="2849245"/>
                    <a:pt x="8346821" y="2987040"/>
                    <a:pt x="8176895" y="2987040"/>
                  </a:cubicBezTo>
                  <a:lnTo>
                    <a:pt x="307721" y="2987040"/>
                  </a:lnTo>
                  <a:cubicBezTo>
                    <a:pt x="137795" y="2987040"/>
                    <a:pt x="0" y="2849245"/>
                    <a:pt x="0" y="2679319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257805" y="3744316"/>
            <a:ext cx="5824328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8h30 - Filtration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57805" y="4157139"/>
            <a:ext cx="5824328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coordinateur identifie les sorties à risque,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en se basant sur des données claires et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prédictives pour une intervention proactive.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476230" y="6476257"/>
            <a:ext cx="28594" cy="766020"/>
            <a:chOff x="0" y="0"/>
            <a:chExt cx="38125" cy="102135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" cy="1021334"/>
            </a:xfrm>
            <a:custGeom>
              <a:avLst/>
              <a:gdLst/>
              <a:ahLst/>
              <a:cxnLst/>
              <a:rect r="r" b="b" t="t" l="l"/>
              <a:pathLst>
                <a:path h="102133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02284"/>
                  </a:lnTo>
                  <a:cubicBezTo>
                    <a:pt x="38100" y="1012825"/>
                    <a:pt x="29591" y="1021334"/>
                    <a:pt x="19050" y="1021334"/>
                  </a:cubicBezTo>
                  <a:cubicBezTo>
                    <a:pt x="8509" y="1021334"/>
                    <a:pt x="0" y="1012825"/>
                    <a:pt x="0" y="1002284"/>
                  </a:cubicBezTo>
                  <a:close/>
                </a:path>
              </a:pathLst>
            </a:custGeom>
            <a:solidFill>
              <a:srgbClr val="198060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394839" y="6380559"/>
            <a:ext cx="191386" cy="191395"/>
            <a:chOff x="0" y="0"/>
            <a:chExt cx="255181" cy="25519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55143" cy="255143"/>
            </a:xfrm>
            <a:custGeom>
              <a:avLst/>
              <a:gdLst/>
              <a:ahLst/>
              <a:cxnLst/>
              <a:rect r="r" b="b" t="t" l="l"/>
              <a:pathLst>
                <a:path h="255143" w="255143">
                  <a:moveTo>
                    <a:pt x="0" y="127635"/>
                  </a:moveTo>
                  <a:cubicBezTo>
                    <a:pt x="0" y="57150"/>
                    <a:pt x="57150" y="0"/>
                    <a:pt x="127635" y="0"/>
                  </a:cubicBezTo>
                  <a:cubicBezTo>
                    <a:pt x="198120" y="0"/>
                    <a:pt x="255143" y="57150"/>
                    <a:pt x="255143" y="127635"/>
                  </a:cubicBezTo>
                  <a:cubicBezTo>
                    <a:pt x="255143" y="198120"/>
                    <a:pt x="198120" y="255143"/>
                    <a:pt x="127635" y="255143"/>
                  </a:cubicBezTo>
                  <a:cubicBezTo>
                    <a:pt x="57150" y="255143"/>
                    <a:pt x="0" y="198120"/>
                    <a:pt x="0" y="127635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4308710" y="7237514"/>
            <a:ext cx="6363643" cy="2240270"/>
            <a:chOff x="0" y="0"/>
            <a:chExt cx="8484857" cy="298702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484870" cy="2987040"/>
            </a:xfrm>
            <a:custGeom>
              <a:avLst/>
              <a:gdLst/>
              <a:ahLst/>
              <a:cxnLst/>
              <a:rect r="r" b="b" t="t" l="l"/>
              <a:pathLst>
                <a:path h="2987040" w="8484870">
                  <a:moveTo>
                    <a:pt x="0" y="307721"/>
                  </a:moveTo>
                  <a:cubicBezTo>
                    <a:pt x="0" y="137795"/>
                    <a:pt x="137795" y="0"/>
                    <a:pt x="307721" y="0"/>
                  </a:cubicBezTo>
                  <a:lnTo>
                    <a:pt x="8177149" y="0"/>
                  </a:lnTo>
                  <a:cubicBezTo>
                    <a:pt x="8347075" y="0"/>
                    <a:pt x="8484870" y="137795"/>
                    <a:pt x="8484870" y="307721"/>
                  </a:cubicBezTo>
                  <a:lnTo>
                    <a:pt x="8484870" y="2679319"/>
                  </a:lnTo>
                  <a:cubicBezTo>
                    <a:pt x="8484870" y="2849245"/>
                    <a:pt x="8347075" y="2987040"/>
                    <a:pt x="8177149" y="2987040"/>
                  </a:cubicBezTo>
                  <a:lnTo>
                    <a:pt x="307721" y="2987040"/>
                  </a:lnTo>
                  <a:cubicBezTo>
                    <a:pt x="137795" y="2987040"/>
                    <a:pt x="0" y="2849245"/>
                    <a:pt x="0" y="2679319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4578286" y="7507100"/>
            <a:ext cx="58244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Analyse Approfondie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578286" y="7919923"/>
            <a:ext cx="58244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Ouverture du dossier de Mme / M. X : score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de 85%, facteurs de risque clairement identifiés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et brief d'intervention généré automatiquement.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796864" y="5710238"/>
            <a:ext cx="28594" cy="766020"/>
            <a:chOff x="0" y="0"/>
            <a:chExt cx="38125" cy="102135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100" cy="1021334"/>
            </a:xfrm>
            <a:custGeom>
              <a:avLst/>
              <a:gdLst/>
              <a:ahLst/>
              <a:cxnLst/>
              <a:rect r="r" b="b" t="t" l="l"/>
              <a:pathLst>
                <a:path h="102133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02284"/>
                  </a:lnTo>
                  <a:cubicBezTo>
                    <a:pt x="38100" y="1012825"/>
                    <a:pt x="29591" y="1021334"/>
                    <a:pt x="19050" y="1021334"/>
                  </a:cubicBezTo>
                  <a:cubicBezTo>
                    <a:pt x="8509" y="1021334"/>
                    <a:pt x="0" y="1012825"/>
                    <a:pt x="0" y="1002284"/>
                  </a:cubicBezTo>
                  <a:close/>
                </a:path>
              </a:pathLst>
            </a:custGeom>
            <a:solidFill>
              <a:srgbClr val="198060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0715473" y="6380559"/>
            <a:ext cx="191386" cy="191395"/>
            <a:chOff x="0" y="0"/>
            <a:chExt cx="255181" cy="25519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5143" cy="255143"/>
            </a:xfrm>
            <a:custGeom>
              <a:avLst/>
              <a:gdLst/>
              <a:ahLst/>
              <a:cxnLst/>
              <a:rect r="r" b="b" t="t" l="l"/>
              <a:pathLst>
                <a:path h="255143" w="255143">
                  <a:moveTo>
                    <a:pt x="0" y="127635"/>
                  </a:moveTo>
                  <a:cubicBezTo>
                    <a:pt x="0" y="57150"/>
                    <a:pt x="57150" y="0"/>
                    <a:pt x="127635" y="0"/>
                  </a:cubicBezTo>
                  <a:cubicBezTo>
                    <a:pt x="198120" y="0"/>
                    <a:pt x="255143" y="57150"/>
                    <a:pt x="255143" y="127635"/>
                  </a:cubicBezTo>
                  <a:cubicBezTo>
                    <a:pt x="255143" y="198120"/>
                    <a:pt x="198120" y="255143"/>
                    <a:pt x="127635" y="255143"/>
                  </a:cubicBezTo>
                  <a:cubicBezTo>
                    <a:pt x="57150" y="255143"/>
                    <a:pt x="0" y="198120"/>
                    <a:pt x="0" y="127635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629344" y="3474730"/>
            <a:ext cx="6363643" cy="2240270"/>
            <a:chOff x="0" y="0"/>
            <a:chExt cx="8484857" cy="2987027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484870" cy="2987040"/>
            </a:xfrm>
            <a:custGeom>
              <a:avLst/>
              <a:gdLst/>
              <a:ahLst/>
              <a:cxnLst/>
              <a:rect r="r" b="b" t="t" l="l"/>
              <a:pathLst>
                <a:path h="2987040" w="8484870">
                  <a:moveTo>
                    <a:pt x="0" y="307721"/>
                  </a:moveTo>
                  <a:cubicBezTo>
                    <a:pt x="0" y="137795"/>
                    <a:pt x="137795" y="0"/>
                    <a:pt x="307721" y="0"/>
                  </a:cubicBezTo>
                  <a:lnTo>
                    <a:pt x="8177149" y="0"/>
                  </a:lnTo>
                  <a:cubicBezTo>
                    <a:pt x="8347075" y="0"/>
                    <a:pt x="8484870" y="137795"/>
                    <a:pt x="8484870" y="307721"/>
                  </a:cubicBezTo>
                  <a:lnTo>
                    <a:pt x="8484870" y="2679319"/>
                  </a:lnTo>
                  <a:cubicBezTo>
                    <a:pt x="8484870" y="2849245"/>
                    <a:pt x="8347075" y="2987040"/>
                    <a:pt x="8177149" y="2987040"/>
                  </a:cubicBezTo>
                  <a:lnTo>
                    <a:pt x="307721" y="2987040"/>
                  </a:lnTo>
                  <a:cubicBezTo>
                    <a:pt x="137795" y="2987040"/>
                    <a:pt x="0" y="2849245"/>
                    <a:pt x="0" y="2679319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7898921" y="3744316"/>
            <a:ext cx="58244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Action Ciblée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98921" y="4157139"/>
            <a:ext cx="58244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appel de suivi est programmé à J+2 et une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visite de l'infirmière à domicile est initiée,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garantissant un accompagnement personnalisé.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4117498" y="6476257"/>
            <a:ext cx="28594" cy="766020"/>
            <a:chOff x="0" y="0"/>
            <a:chExt cx="38125" cy="102135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8100" cy="1021334"/>
            </a:xfrm>
            <a:custGeom>
              <a:avLst/>
              <a:gdLst/>
              <a:ahLst/>
              <a:cxnLst/>
              <a:rect r="r" b="b" t="t" l="l"/>
              <a:pathLst>
                <a:path h="102133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02284"/>
                  </a:lnTo>
                  <a:cubicBezTo>
                    <a:pt x="38100" y="1012825"/>
                    <a:pt x="29591" y="1021334"/>
                    <a:pt x="19050" y="1021334"/>
                  </a:cubicBezTo>
                  <a:cubicBezTo>
                    <a:pt x="8509" y="1021334"/>
                    <a:pt x="0" y="1012825"/>
                    <a:pt x="0" y="1002284"/>
                  </a:cubicBezTo>
                  <a:close/>
                </a:path>
              </a:pathLst>
            </a:custGeom>
            <a:solidFill>
              <a:srgbClr val="19806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4036107" y="6380559"/>
            <a:ext cx="191386" cy="191395"/>
            <a:chOff x="0" y="0"/>
            <a:chExt cx="255181" cy="25519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5143" cy="255143"/>
            </a:xfrm>
            <a:custGeom>
              <a:avLst/>
              <a:gdLst/>
              <a:ahLst/>
              <a:cxnLst/>
              <a:rect r="r" b="b" t="t" l="l"/>
              <a:pathLst>
                <a:path h="255143" w="255143">
                  <a:moveTo>
                    <a:pt x="0" y="127635"/>
                  </a:moveTo>
                  <a:cubicBezTo>
                    <a:pt x="0" y="57150"/>
                    <a:pt x="57150" y="0"/>
                    <a:pt x="127635" y="0"/>
                  </a:cubicBezTo>
                  <a:cubicBezTo>
                    <a:pt x="198120" y="0"/>
                    <a:pt x="255143" y="57150"/>
                    <a:pt x="255143" y="127635"/>
                  </a:cubicBezTo>
                  <a:cubicBezTo>
                    <a:pt x="255143" y="198120"/>
                    <a:pt x="198120" y="255143"/>
                    <a:pt x="127635" y="255143"/>
                  </a:cubicBezTo>
                  <a:cubicBezTo>
                    <a:pt x="57150" y="255143"/>
                    <a:pt x="0" y="198120"/>
                    <a:pt x="0" y="127635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0949978" y="7237514"/>
            <a:ext cx="6363643" cy="2240270"/>
            <a:chOff x="0" y="0"/>
            <a:chExt cx="8484857" cy="2987027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484870" cy="2987040"/>
            </a:xfrm>
            <a:custGeom>
              <a:avLst/>
              <a:gdLst/>
              <a:ahLst/>
              <a:cxnLst/>
              <a:rect r="r" b="b" t="t" l="l"/>
              <a:pathLst>
                <a:path h="2987040" w="8484870">
                  <a:moveTo>
                    <a:pt x="0" y="307721"/>
                  </a:moveTo>
                  <a:cubicBezTo>
                    <a:pt x="0" y="137795"/>
                    <a:pt x="137795" y="0"/>
                    <a:pt x="307721" y="0"/>
                  </a:cubicBezTo>
                  <a:lnTo>
                    <a:pt x="8177149" y="0"/>
                  </a:lnTo>
                  <a:cubicBezTo>
                    <a:pt x="8347075" y="0"/>
                    <a:pt x="8484870" y="137795"/>
                    <a:pt x="8484870" y="307721"/>
                  </a:cubicBezTo>
                  <a:lnTo>
                    <a:pt x="8484870" y="2679319"/>
                  </a:lnTo>
                  <a:cubicBezTo>
                    <a:pt x="8484870" y="2849245"/>
                    <a:pt x="8347075" y="2987040"/>
                    <a:pt x="8177149" y="2987040"/>
                  </a:cubicBezTo>
                  <a:lnTo>
                    <a:pt x="307721" y="2987040"/>
                  </a:lnTo>
                  <a:cubicBezTo>
                    <a:pt x="137795" y="2987040"/>
                    <a:pt x="0" y="2849245"/>
                    <a:pt x="0" y="2679319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11219555" y="7507100"/>
            <a:ext cx="5824480" cy="398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Patient Suivi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19555" y="7919923"/>
            <a:ext cx="5824480" cy="128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patient ne « disparaît » plus dans la masse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des sorties. Chaque cas à risque est pris </a:t>
            </a:r>
          </a:p>
          <a:p>
            <a:pPr algn="ctr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en charge avec une feuille de route claire.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013422"/>
            <a:ext cx="2330920" cy="366255"/>
            <a:chOff x="0" y="0"/>
            <a:chExt cx="3107893" cy="4883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07817" cy="488315"/>
            </a:xfrm>
            <a:custGeom>
              <a:avLst/>
              <a:gdLst/>
              <a:ahLst/>
              <a:cxnLst/>
              <a:rect r="r" b="b" t="t" l="l"/>
              <a:pathLst>
                <a:path h="488315" w="3107817">
                  <a:moveTo>
                    <a:pt x="0" y="231521"/>
                  </a:moveTo>
                  <a:cubicBezTo>
                    <a:pt x="0" y="103632"/>
                    <a:pt x="103632" y="0"/>
                    <a:pt x="231521" y="0"/>
                  </a:cubicBezTo>
                  <a:lnTo>
                    <a:pt x="2876296" y="0"/>
                  </a:lnTo>
                  <a:cubicBezTo>
                    <a:pt x="3004185" y="0"/>
                    <a:pt x="3107817" y="103632"/>
                    <a:pt x="3107817" y="231521"/>
                  </a:cubicBezTo>
                  <a:lnTo>
                    <a:pt x="3107817" y="256794"/>
                  </a:lnTo>
                  <a:cubicBezTo>
                    <a:pt x="3107817" y="384683"/>
                    <a:pt x="3004185" y="488315"/>
                    <a:pt x="2876296" y="488315"/>
                  </a:cubicBezTo>
                  <a:lnTo>
                    <a:pt x="231521" y="488315"/>
                  </a:lnTo>
                  <a:cubicBezTo>
                    <a:pt x="103632" y="488315"/>
                    <a:pt x="0" y="384683"/>
                    <a:pt x="0" y="256794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37609" y="1076135"/>
            <a:ext cx="2956770" cy="231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OFFRE COMMERCIALE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1318717"/>
            <a:ext cx="16315868" cy="896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Pack CISIA Readmit Pilote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2398852"/>
            <a:ext cx="16315868" cy="837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Notre pack pilote est conçu pour une mise en œuvre rapide et efficace, vous permettant de découvrir la puissance de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CISIA avec un accompagnement dédié.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873176" y="3832993"/>
            <a:ext cx="5520242" cy="2920746"/>
            <a:chOff x="0" y="0"/>
            <a:chExt cx="7360323" cy="38943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04810" y="3403082"/>
            <a:ext cx="855059" cy="864594"/>
            <a:chOff x="0" y="0"/>
            <a:chExt cx="1140079" cy="115279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25013" y="4379204"/>
            <a:ext cx="4831994" cy="7635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Module Score &amp; Explicabilité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5013" y="4957905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Accédez au score de risque de réadmission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et à son explication détaillée via les valeurs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SHAP, pour une compréhension clinique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approfondie.</a:t>
            </a:r>
          </a:p>
        </p:txBody>
      </p:sp>
      <p:sp>
        <p:nvSpPr>
          <p:cNvPr name="Freeform 17" id="17" descr="AI technology"/>
          <p:cNvSpPr/>
          <p:nvPr/>
        </p:nvSpPr>
        <p:spPr>
          <a:xfrm flipH="false" flipV="false" rot="0">
            <a:off x="3409760" y="3611842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4" y="0"/>
                </a:lnTo>
                <a:lnTo>
                  <a:pt x="447074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545932" y="3878751"/>
            <a:ext cx="5583155" cy="2890237"/>
            <a:chOff x="0" y="0"/>
            <a:chExt cx="7444207" cy="385365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444105" cy="3853561"/>
            </a:xfrm>
            <a:custGeom>
              <a:avLst/>
              <a:gdLst/>
              <a:ahLst/>
              <a:cxnLst/>
              <a:rect r="r" b="b" t="t" l="l"/>
              <a:pathLst>
                <a:path h="3853561" w="7444105">
                  <a:moveTo>
                    <a:pt x="0" y="642239"/>
                  </a:moveTo>
                  <a:cubicBezTo>
                    <a:pt x="0" y="287528"/>
                    <a:pt x="287528" y="0"/>
                    <a:pt x="642239" y="0"/>
                  </a:cubicBezTo>
                  <a:lnTo>
                    <a:pt x="6801866" y="0"/>
                  </a:lnTo>
                  <a:cubicBezTo>
                    <a:pt x="7156577" y="0"/>
                    <a:pt x="7444105" y="287528"/>
                    <a:pt x="7444105" y="642239"/>
                  </a:cubicBezTo>
                  <a:lnTo>
                    <a:pt x="7444105" y="3211322"/>
                  </a:lnTo>
                  <a:cubicBezTo>
                    <a:pt x="7444105" y="3566033"/>
                    <a:pt x="7156577" y="3853561"/>
                    <a:pt x="6801866" y="3853561"/>
                  </a:cubicBezTo>
                  <a:lnTo>
                    <a:pt x="642239" y="3853561"/>
                  </a:lnTo>
                  <a:cubicBezTo>
                    <a:pt x="287528" y="3853688"/>
                    <a:pt x="0" y="3566033"/>
                    <a:pt x="0" y="3211322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8904256" y="3452651"/>
            <a:ext cx="864594" cy="855059"/>
            <a:chOff x="0" y="0"/>
            <a:chExt cx="1152792" cy="114007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5277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2779">
                  <a:moveTo>
                    <a:pt x="0" y="570103"/>
                  </a:moveTo>
                  <a:cubicBezTo>
                    <a:pt x="0" y="255270"/>
                    <a:pt x="258064" y="0"/>
                    <a:pt x="576453" y="0"/>
                  </a:cubicBezTo>
                  <a:cubicBezTo>
                    <a:pt x="894842" y="0"/>
                    <a:pt x="1152779" y="255270"/>
                    <a:pt x="1152779" y="570103"/>
                  </a:cubicBezTo>
                  <a:cubicBezTo>
                    <a:pt x="1152779" y="884936"/>
                    <a:pt x="894715" y="1140079"/>
                    <a:pt x="576453" y="1140079"/>
                  </a:cubicBezTo>
                  <a:cubicBezTo>
                    <a:pt x="258191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055920" y="4382062"/>
            <a:ext cx="4652791" cy="75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Registre &amp; Audit Biais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055920" y="4966487"/>
            <a:ext cx="4652791" cy="483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Bénéficiez d'une traçabilité complète et d'un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audit automatisé des biais pour garantir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l'équité et la conformité de vos modèles.</a:t>
            </a:r>
          </a:p>
        </p:txBody>
      </p:sp>
      <p:sp>
        <p:nvSpPr>
          <p:cNvPr name="Freeform 24" id="24" descr="books"/>
          <p:cNvSpPr/>
          <p:nvPr/>
        </p:nvSpPr>
        <p:spPr>
          <a:xfrm flipH="false" flipV="false" rot="0">
            <a:off x="9111110" y="3654742"/>
            <a:ext cx="451837" cy="451837"/>
          </a:xfrm>
          <a:custGeom>
            <a:avLst/>
            <a:gdLst/>
            <a:ahLst/>
            <a:cxnLst/>
            <a:rect r="r" b="b" t="t" l="l"/>
            <a:pathLst>
              <a:path h="451837" w="451837">
                <a:moveTo>
                  <a:pt x="0" y="0"/>
                </a:moveTo>
                <a:lnTo>
                  <a:pt x="451838" y="0"/>
                </a:lnTo>
                <a:lnTo>
                  <a:pt x="451838" y="451838"/>
                </a:lnTo>
                <a:lnTo>
                  <a:pt x="0" y="4518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371213" y="3893048"/>
            <a:ext cx="5520242" cy="2920746"/>
            <a:chOff x="0" y="0"/>
            <a:chExt cx="7360323" cy="389432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0412" cy="3894328"/>
            </a:xfrm>
            <a:custGeom>
              <a:avLst/>
              <a:gdLst/>
              <a:ahLst/>
              <a:cxnLst/>
              <a:rect r="r" b="b" t="t" l="l"/>
              <a:pathLst>
                <a:path h="3894328" w="7360412">
                  <a:moveTo>
                    <a:pt x="0" y="649097"/>
                  </a:moveTo>
                  <a:cubicBezTo>
                    <a:pt x="0" y="290576"/>
                    <a:pt x="290576" y="0"/>
                    <a:pt x="649097" y="0"/>
                  </a:cubicBezTo>
                  <a:lnTo>
                    <a:pt x="6711315" y="0"/>
                  </a:lnTo>
                  <a:cubicBezTo>
                    <a:pt x="7069836" y="0"/>
                    <a:pt x="7360412" y="290576"/>
                    <a:pt x="7360412" y="649097"/>
                  </a:cubicBezTo>
                  <a:lnTo>
                    <a:pt x="7360412" y="3245231"/>
                  </a:lnTo>
                  <a:cubicBezTo>
                    <a:pt x="7360412" y="3603752"/>
                    <a:pt x="7069836" y="3894328"/>
                    <a:pt x="6711315" y="3894328"/>
                  </a:cubicBezTo>
                  <a:lnTo>
                    <a:pt x="649097" y="3894328"/>
                  </a:lnTo>
                  <a:cubicBezTo>
                    <a:pt x="290576" y="3894328"/>
                    <a:pt x="0" y="3603752"/>
                    <a:pt x="0" y="3245231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702847" y="3463138"/>
            <a:ext cx="855059" cy="864594"/>
            <a:chOff x="0" y="0"/>
            <a:chExt cx="1140079" cy="11527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40079" cy="1152779"/>
            </a:xfrm>
            <a:custGeom>
              <a:avLst/>
              <a:gdLst/>
              <a:ahLst/>
              <a:cxnLst/>
              <a:rect r="r" b="b" t="t" l="l"/>
              <a:pathLst>
                <a:path h="1152779" w="1140079">
                  <a:moveTo>
                    <a:pt x="0" y="576453"/>
                  </a:moveTo>
                  <a:cubicBezTo>
                    <a:pt x="0" y="258064"/>
                    <a:pt x="255270" y="0"/>
                    <a:pt x="570103" y="0"/>
                  </a:cubicBezTo>
                  <a:cubicBezTo>
                    <a:pt x="884936" y="0"/>
                    <a:pt x="1140079" y="258064"/>
                    <a:pt x="1140079" y="576453"/>
                  </a:cubicBezTo>
                  <a:cubicBezTo>
                    <a:pt x="1140079" y="894842"/>
                    <a:pt x="884809" y="1152779"/>
                    <a:pt x="570103" y="1152779"/>
                  </a:cubicBezTo>
                  <a:cubicBezTo>
                    <a:pt x="255397" y="1152779"/>
                    <a:pt x="0" y="894715"/>
                    <a:pt x="0" y="57645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2749651" y="4382062"/>
            <a:ext cx="5044573" cy="7635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Accompagnement Démarrage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749651" y="4950285"/>
            <a:ext cx="4600356" cy="48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Un accompagnement personnalisé pour le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déploiement et la prise en main de la solution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au sein d'un service pilote de votre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établissement.</a:t>
            </a:r>
          </a:p>
        </p:txBody>
      </p:sp>
      <p:sp>
        <p:nvSpPr>
          <p:cNvPr name="Freeform 31" id="31" descr="Book"/>
          <p:cNvSpPr/>
          <p:nvPr/>
        </p:nvSpPr>
        <p:spPr>
          <a:xfrm flipH="false" flipV="false" rot="0">
            <a:off x="14907797" y="3671897"/>
            <a:ext cx="447075" cy="447075"/>
          </a:xfrm>
          <a:custGeom>
            <a:avLst/>
            <a:gdLst/>
            <a:ahLst/>
            <a:cxnLst/>
            <a:rect r="r" b="b" t="t" l="l"/>
            <a:pathLst>
              <a:path h="447075" w="447075">
                <a:moveTo>
                  <a:pt x="0" y="0"/>
                </a:moveTo>
                <a:lnTo>
                  <a:pt x="447075" y="0"/>
                </a:lnTo>
                <a:lnTo>
                  <a:pt x="447075" y="447075"/>
                </a:lnTo>
                <a:lnTo>
                  <a:pt x="0" y="4470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998049" y="7599264"/>
            <a:ext cx="7906207" cy="2067592"/>
            <a:chOff x="0" y="0"/>
            <a:chExt cx="10541610" cy="275678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541635" cy="2756789"/>
            </a:xfrm>
            <a:custGeom>
              <a:avLst/>
              <a:gdLst/>
              <a:ahLst/>
              <a:cxnLst/>
              <a:rect r="r" b="b" t="t" l="l"/>
              <a:pathLst>
                <a:path h="2756789" w="10541635">
                  <a:moveTo>
                    <a:pt x="0" y="459486"/>
                  </a:moveTo>
                  <a:cubicBezTo>
                    <a:pt x="0" y="205740"/>
                    <a:pt x="205740" y="0"/>
                    <a:pt x="459486" y="0"/>
                  </a:cubicBezTo>
                  <a:lnTo>
                    <a:pt x="10082149" y="0"/>
                  </a:lnTo>
                  <a:cubicBezTo>
                    <a:pt x="10335895" y="0"/>
                    <a:pt x="10541635" y="205740"/>
                    <a:pt x="10541635" y="459486"/>
                  </a:cubicBezTo>
                  <a:lnTo>
                    <a:pt x="10541635" y="2297303"/>
                  </a:lnTo>
                  <a:cubicBezTo>
                    <a:pt x="10541635" y="2551049"/>
                    <a:pt x="10335895" y="2756789"/>
                    <a:pt x="10082149" y="2756789"/>
                  </a:cubicBezTo>
                  <a:lnTo>
                    <a:pt x="459486" y="2756789"/>
                  </a:lnTo>
                  <a:cubicBezTo>
                    <a:pt x="205740" y="2756789"/>
                    <a:pt x="0" y="2551049"/>
                    <a:pt x="0" y="229730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4518384" y="7197947"/>
            <a:ext cx="865546" cy="855059"/>
            <a:chOff x="0" y="0"/>
            <a:chExt cx="1154062" cy="114007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5404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4049">
                  <a:moveTo>
                    <a:pt x="0" y="570103"/>
                  </a:moveTo>
                  <a:cubicBezTo>
                    <a:pt x="0" y="255270"/>
                    <a:pt x="258318" y="0"/>
                    <a:pt x="577088" y="0"/>
                  </a:cubicBezTo>
                  <a:cubicBezTo>
                    <a:pt x="895858" y="0"/>
                    <a:pt x="1154049" y="255270"/>
                    <a:pt x="1154049" y="570103"/>
                  </a:cubicBezTo>
                  <a:cubicBezTo>
                    <a:pt x="1154049" y="884936"/>
                    <a:pt x="895731" y="1140079"/>
                    <a:pt x="577088" y="1140079"/>
                  </a:cubicBezTo>
                  <a:cubicBezTo>
                    <a:pt x="258445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502312" y="8053016"/>
            <a:ext cx="13946924" cy="540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Déploiement Local Intégré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502312" y="8495395"/>
            <a:ext cx="13946924" cy="37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Installation et exécution de l'IA directement sur votre infrastructure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locale, assurant une souveraineté totale de vos données.</a:t>
            </a:r>
          </a:p>
        </p:txBody>
      </p:sp>
      <p:sp>
        <p:nvSpPr>
          <p:cNvPr name="Freeform 38" id="38" descr="tool"/>
          <p:cNvSpPr/>
          <p:nvPr/>
        </p:nvSpPr>
        <p:spPr>
          <a:xfrm flipH="false" flipV="false" rot="0">
            <a:off x="4725238" y="7382885"/>
            <a:ext cx="452790" cy="452790"/>
          </a:xfrm>
          <a:custGeom>
            <a:avLst/>
            <a:gdLst/>
            <a:ahLst/>
            <a:cxnLst/>
            <a:rect r="r" b="b" t="t" l="l"/>
            <a:pathLst>
              <a:path h="452790" w="452790">
                <a:moveTo>
                  <a:pt x="0" y="0"/>
                </a:moveTo>
                <a:lnTo>
                  <a:pt x="452790" y="0"/>
                </a:lnTo>
                <a:lnTo>
                  <a:pt x="452790" y="452790"/>
                </a:lnTo>
                <a:lnTo>
                  <a:pt x="0" y="45279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9" id="39"/>
          <p:cNvGrpSpPr/>
          <p:nvPr/>
        </p:nvGrpSpPr>
        <p:grpSpPr>
          <a:xfrm rot="0">
            <a:off x="9985238" y="7573528"/>
            <a:ext cx="7906207" cy="2067592"/>
            <a:chOff x="0" y="0"/>
            <a:chExt cx="10541610" cy="275678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541635" cy="2756789"/>
            </a:xfrm>
            <a:custGeom>
              <a:avLst/>
              <a:gdLst/>
              <a:ahLst/>
              <a:cxnLst/>
              <a:rect r="r" b="b" t="t" l="l"/>
              <a:pathLst>
                <a:path h="2756789" w="10541635">
                  <a:moveTo>
                    <a:pt x="0" y="459486"/>
                  </a:moveTo>
                  <a:cubicBezTo>
                    <a:pt x="0" y="205740"/>
                    <a:pt x="205740" y="0"/>
                    <a:pt x="459486" y="0"/>
                  </a:cubicBezTo>
                  <a:lnTo>
                    <a:pt x="10082149" y="0"/>
                  </a:lnTo>
                  <a:cubicBezTo>
                    <a:pt x="10335895" y="0"/>
                    <a:pt x="10541635" y="205740"/>
                    <a:pt x="10541635" y="459486"/>
                  </a:cubicBezTo>
                  <a:lnTo>
                    <a:pt x="10541635" y="2297303"/>
                  </a:lnTo>
                  <a:cubicBezTo>
                    <a:pt x="10541635" y="2551049"/>
                    <a:pt x="10335895" y="2756789"/>
                    <a:pt x="10082149" y="2756789"/>
                  </a:cubicBezTo>
                  <a:lnTo>
                    <a:pt x="459486" y="2756789"/>
                  </a:lnTo>
                  <a:cubicBezTo>
                    <a:pt x="205740" y="2756789"/>
                    <a:pt x="0" y="2551049"/>
                    <a:pt x="0" y="2297303"/>
                  </a:cubicBezTo>
                  <a:close/>
                </a:path>
              </a:pathLst>
            </a:custGeom>
            <a:solidFill>
              <a:srgbClr val="E7FAF3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3505574" y="7172211"/>
            <a:ext cx="865546" cy="855059"/>
            <a:chOff x="0" y="0"/>
            <a:chExt cx="1154062" cy="114007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54049" cy="1140079"/>
            </a:xfrm>
            <a:custGeom>
              <a:avLst/>
              <a:gdLst/>
              <a:ahLst/>
              <a:cxnLst/>
              <a:rect r="r" b="b" t="t" l="l"/>
              <a:pathLst>
                <a:path h="1140079" w="1154049">
                  <a:moveTo>
                    <a:pt x="0" y="570103"/>
                  </a:moveTo>
                  <a:cubicBezTo>
                    <a:pt x="0" y="255270"/>
                    <a:pt x="258318" y="0"/>
                    <a:pt x="577088" y="0"/>
                  </a:cubicBezTo>
                  <a:cubicBezTo>
                    <a:pt x="895858" y="0"/>
                    <a:pt x="1154049" y="255270"/>
                    <a:pt x="1154049" y="570103"/>
                  </a:cubicBezTo>
                  <a:cubicBezTo>
                    <a:pt x="1154049" y="884936"/>
                    <a:pt x="895731" y="1140079"/>
                    <a:pt x="577088" y="1140079"/>
                  </a:cubicBezTo>
                  <a:cubicBezTo>
                    <a:pt x="258445" y="1140079"/>
                    <a:pt x="0" y="884809"/>
                    <a:pt x="0" y="570103"/>
                  </a:cubicBezTo>
                  <a:close/>
                </a:path>
              </a:pathLst>
            </a:custGeom>
            <a:solidFill>
              <a:srgbClr val="006747"/>
            </a:solid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10489502" y="8027270"/>
            <a:ext cx="13946924" cy="540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Option CISIA Flow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489502" y="8485870"/>
            <a:ext cx="13946924" cy="37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Pour une démonstration terrain complète, intégrez le module Flow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(gestion des lits et étages) en option, pour vos équipes soignantes.</a:t>
            </a:r>
          </a:p>
        </p:txBody>
      </p:sp>
      <p:sp>
        <p:nvSpPr>
          <p:cNvPr name="Freeform 45" id="45" descr="tool"/>
          <p:cNvSpPr/>
          <p:nvPr/>
        </p:nvSpPr>
        <p:spPr>
          <a:xfrm flipH="false" flipV="false" rot="0">
            <a:off x="13712428" y="7357139"/>
            <a:ext cx="452790" cy="452790"/>
          </a:xfrm>
          <a:custGeom>
            <a:avLst/>
            <a:gdLst/>
            <a:ahLst/>
            <a:cxnLst/>
            <a:rect r="r" b="b" t="t" l="l"/>
            <a:pathLst>
              <a:path h="452790" w="452790">
                <a:moveTo>
                  <a:pt x="0" y="0"/>
                </a:moveTo>
                <a:lnTo>
                  <a:pt x="452790" y="0"/>
                </a:lnTo>
                <a:lnTo>
                  <a:pt x="452790" y="452789"/>
                </a:lnTo>
                <a:lnTo>
                  <a:pt x="0" y="4527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794023"/>
            <a:ext cx="2893476" cy="383981"/>
            <a:chOff x="0" y="0"/>
            <a:chExt cx="3857968" cy="5119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57879" cy="511937"/>
            </a:xfrm>
            <a:custGeom>
              <a:avLst/>
              <a:gdLst/>
              <a:ahLst/>
              <a:cxnLst/>
              <a:rect r="r" b="b" t="t" l="l"/>
              <a:pathLst>
                <a:path h="511937" w="3857879">
                  <a:moveTo>
                    <a:pt x="0" y="242570"/>
                  </a:moveTo>
                  <a:cubicBezTo>
                    <a:pt x="0" y="108585"/>
                    <a:pt x="108585" y="0"/>
                    <a:pt x="242570" y="0"/>
                  </a:cubicBezTo>
                  <a:lnTo>
                    <a:pt x="3615309" y="0"/>
                  </a:lnTo>
                  <a:cubicBezTo>
                    <a:pt x="3749294" y="0"/>
                    <a:pt x="3857879" y="108585"/>
                    <a:pt x="3857879" y="242570"/>
                  </a:cubicBezTo>
                  <a:lnTo>
                    <a:pt x="3857879" y="269367"/>
                  </a:lnTo>
                  <a:cubicBezTo>
                    <a:pt x="3857879" y="403352"/>
                    <a:pt x="3749294" y="511937"/>
                    <a:pt x="3615309" y="511937"/>
                  </a:cubicBezTo>
                  <a:lnTo>
                    <a:pt x="242570" y="511937"/>
                  </a:lnTo>
                  <a:cubicBezTo>
                    <a:pt x="108585" y="511937"/>
                    <a:pt x="0" y="403352"/>
                    <a:pt x="0" y="26936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44610" y="860308"/>
            <a:ext cx="3505324" cy="24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5"/>
              </a:lnSpc>
            </a:pPr>
            <a:r>
              <a:rPr lang="en-US" sz="15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OBJECTIONS FRÉQUENTES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012759" y="794023"/>
            <a:ext cx="1369657" cy="383981"/>
            <a:chOff x="0" y="0"/>
            <a:chExt cx="1826209" cy="51197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26133" cy="511937"/>
            </a:xfrm>
            <a:custGeom>
              <a:avLst/>
              <a:gdLst/>
              <a:ahLst/>
              <a:cxnLst/>
              <a:rect r="r" b="b" t="t" l="l"/>
              <a:pathLst>
                <a:path h="511937" w="1826133">
                  <a:moveTo>
                    <a:pt x="0" y="242570"/>
                  </a:moveTo>
                  <a:cubicBezTo>
                    <a:pt x="0" y="108585"/>
                    <a:pt x="108585" y="0"/>
                    <a:pt x="242570" y="0"/>
                  </a:cubicBezTo>
                  <a:lnTo>
                    <a:pt x="1583563" y="0"/>
                  </a:lnTo>
                  <a:cubicBezTo>
                    <a:pt x="1717548" y="0"/>
                    <a:pt x="1826133" y="108585"/>
                    <a:pt x="1826133" y="242570"/>
                  </a:cubicBezTo>
                  <a:lnTo>
                    <a:pt x="1826133" y="269367"/>
                  </a:lnTo>
                  <a:cubicBezTo>
                    <a:pt x="1826133" y="403352"/>
                    <a:pt x="1717548" y="511937"/>
                    <a:pt x="1583563" y="511937"/>
                  </a:cubicBezTo>
                  <a:lnTo>
                    <a:pt x="242570" y="511937"/>
                  </a:lnTo>
                  <a:cubicBezTo>
                    <a:pt x="108585" y="511937"/>
                    <a:pt x="0" y="403352"/>
                    <a:pt x="0" y="269367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164387" y="860308"/>
            <a:ext cx="1981505" cy="24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5"/>
              </a:lnSpc>
            </a:pPr>
            <a:r>
              <a:rPr lang="en-US" sz="15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RÉPONSES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991" y="1125093"/>
            <a:ext cx="16315868" cy="932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Objections fréquentes &amp; réponses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991" y="2271351"/>
            <a:ext cx="16315868" cy="88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Face aux interrogations courantes, CISIA Santé apporte des clarifications transparentes et rassurantes, </a:t>
            </a:r>
          </a:p>
          <a:p>
            <a:pPr algn="l">
              <a:lnSpc>
                <a:spcPts val="3354"/>
              </a:lnSpc>
            </a:pPr>
            <a:r>
              <a:rPr lang="en-US" sz="21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ancrées dans une démarche éthique et technologique solide.</a:t>
            </a:r>
          </a:p>
        </p:txBody>
      </p:sp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992988" y="3412765"/>
          <a:ext cx="16300485" cy="6005442"/>
        </p:xfrm>
        <a:graphic>
          <a:graphicData uri="http://schemas.openxmlformats.org/drawingml/2006/table">
            <a:tbl>
              <a:tblPr/>
              <a:tblGrid>
                <a:gridCol w="7335218"/>
                <a:gridCol w="8965267"/>
              </a:tblGrid>
              <a:tr h="6688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4B4A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Objection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4B4A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Réponse de CISIA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70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« Encore une IA opaque »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Chaque score est accompagné d'une explication claire des facteurs qui l'influencent, pour une compréhension totale par le clinicien.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2988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« Nos données ne sortent pas »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Notre solution est conçue pour un traitement local sur votre infrastructure, garantissant la souveraineté de vos données et l'absence de transfert cloud.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2988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« On a peur des biais »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Un audit intégré et automatisé mesure et affiche les éventuels écarts de performance par groupe (âge, sexe, etc.), permettant une correction proactive.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2516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« Ça remplace le médecin ? »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4B4A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Absolument pas. CISIA est un outil d'aide à la décision qui permet aux équipes soignantes de mieux prioriser les patients nécessitant un suivi rapproché, en libérant du temps pour des interventions plus humaines.</a:t>
                      </a:r>
                      <a:endParaRPr lang="en-US" sz="1100"/>
                    </a:p>
                  </a:txBody>
                  <a:tcPr marL="168344" marR="168344" marT="168344" marB="168344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15" id="15"/>
          <p:cNvGrpSpPr/>
          <p:nvPr/>
        </p:nvGrpSpPr>
        <p:grpSpPr>
          <a:xfrm rot="0">
            <a:off x="992991" y="4072861"/>
            <a:ext cx="16315868" cy="15792"/>
            <a:chOff x="0" y="0"/>
            <a:chExt cx="21754490" cy="2105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54464" cy="21082"/>
            </a:xfrm>
            <a:custGeom>
              <a:avLst/>
              <a:gdLst/>
              <a:ahLst/>
              <a:cxnLst/>
              <a:rect r="r" b="b" t="t" l="l"/>
              <a:pathLst>
                <a:path h="21082" w="21754464">
                  <a:moveTo>
                    <a:pt x="0" y="0"/>
                  </a:moveTo>
                  <a:lnTo>
                    <a:pt x="21754464" y="0"/>
                  </a:lnTo>
                  <a:lnTo>
                    <a:pt x="21754464" y="21082"/>
                  </a:lnTo>
                  <a:lnTo>
                    <a:pt x="0" y="21082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92991" y="5135709"/>
            <a:ext cx="16315868" cy="15792"/>
            <a:chOff x="0" y="0"/>
            <a:chExt cx="21754490" cy="210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54464" cy="21082"/>
            </a:xfrm>
            <a:custGeom>
              <a:avLst/>
              <a:gdLst/>
              <a:ahLst/>
              <a:cxnLst/>
              <a:rect r="r" b="b" t="t" l="l"/>
              <a:pathLst>
                <a:path h="21082" w="21754464">
                  <a:moveTo>
                    <a:pt x="0" y="0"/>
                  </a:moveTo>
                  <a:lnTo>
                    <a:pt x="21754464" y="0"/>
                  </a:lnTo>
                  <a:lnTo>
                    <a:pt x="21754464" y="21082"/>
                  </a:lnTo>
                  <a:lnTo>
                    <a:pt x="0" y="21082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92991" y="6580727"/>
            <a:ext cx="16315868" cy="15792"/>
            <a:chOff x="0" y="0"/>
            <a:chExt cx="21754490" cy="2105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754464" cy="21082"/>
            </a:xfrm>
            <a:custGeom>
              <a:avLst/>
              <a:gdLst/>
              <a:ahLst/>
              <a:cxnLst/>
              <a:rect r="r" b="b" t="t" l="l"/>
              <a:pathLst>
                <a:path h="21082" w="21754464">
                  <a:moveTo>
                    <a:pt x="0" y="0"/>
                  </a:moveTo>
                  <a:lnTo>
                    <a:pt x="21754464" y="0"/>
                  </a:lnTo>
                  <a:lnTo>
                    <a:pt x="21754464" y="21082"/>
                  </a:lnTo>
                  <a:lnTo>
                    <a:pt x="0" y="21082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92991" y="8025755"/>
            <a:ext cx="16315868" cy="15792"/>
            <a:chOff x="0" y="0"/>
            <a:chExt cx="21754490" cy="2105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54464" cy="21082"/>
            </a:xfrm>
            <a:custGeom>
              <a:avLst/>
              <a:gdLst/>
              <a:ahLst/>
              <a:cxnLst/>
              <a:rect r="r" b="b" t="t" l="l"/>
              <a:pathLst>
                <a:path h="21082" w="21754464">
                  <a:moveTo>
                    <a:pt x="0" y="0"/>
                  </a:moveTo>
                  <a:lnTo>
                    <a:pt x="21754464" y="0"/>
                  </a:lnTo>
                  <a:lnTo>
                    <a:pt x="21754464" y="21082"/>
                  </a:lnTo>
                  <a:lnTo>
                    <a:pt x="0" y="21082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081652" y="0"/>
            <a:ext cx="7206348" cy="10295039"/>
            <a:chOff x="0" y="0"/>
            <a:chExt cx="9608464" cy="13726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08439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608439">
                  <a:moveTo>
                    <a:pt x="0" y="0"/>
                  </a:moveTo>
                  <a:lnTo>
                    <a:pt x="9608439" y="0"/>
                  </a:lnTo>
                  <a:lnTo>
                    <a:pt x="9608439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33" t="0" r="-33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92991" y="1041568"/>
            <a:ext cx="1997002" cy="366255"/>
            <a:chOff x="0" y="0"/>
            <a:chExt cx="2662669" cy="4883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662682" cy="488315"/>
            </a:xfrm>
            <a:custGeom>
              <a:avLst/>
              <a:gdLst/>
              <a:ahLst/>
              <a:cxnLst/>
              <a:rect r="r" b="b" t="t" l="l"/>
              <a:pathLst>
                <a:path h="488315" w="2662682">
                  <a:moveTo>
                    <a:pt x="0" y="231521"/>
                  </a:moveTo>
                  <a:cubicBezTo>
                    <a:pt x="0" y="103632"/>
                    <a:pt x="103632" y="0"/>
                    <a:pt x="231521" y="0"/>
                  </a:cubicBezTo>
                  <a:lnTo>
                    <a:pt x="2431161" y="0"/>
                  </a:lnTo>
                  <a:cubicBezTo>
                    <a:pt x="2559050" y="0"/>
                    <a:pt x="2662682" y="103632"/>
                    <a:pt x="2662682" y="231521"/>
                  </a:cubicBezTo>
                  <a:lnTo>
                    <a:pt x="2662682" y="256794"/>
                  </a:lnTo>
                  <a:cubicBezTo>
                    <a:pt x="2662682" y="384683"/>
                    <a:pt x="2559050" y="488315"/>
                    <a:pt x="2431161" y="488315"/>
                  </a:cubicBezTo>
                  <a:lnTo>
                    <a:pt x="231521" y="488315"/>
                  </a:lnTo>
                  <a:cubicBezTo>
                    <a:pt x="103632" y="488315"/>
                    <a:pt x="0" y="384683"/>
                    <a:pt x="0" y="256794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37609" y="1104281"/>
            <a:ext cx="2622842" cy="231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PROCHAINE ÉTAPE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110484" y="1041568"/>
            <a:ext cx="1688097" cy="366255"/>
            <a:chOff x="0" y="0"/>
            <a:chExt cx="2250796" cy="4883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0821" cy="488315"/>
            </a:xfrm>
            <a:custGeom>
              <a:avLst/>
              <a:gdLst/>
              <a:ahLst/>
              <a:cxnLst/>
              <a:rect r="r" b="b" t="t" l="l"/>
              <a:pathLst>
                <a:path h="488315" w="2250821">
                  <a:moveTo>
                    <a:pt x="0" y="231521"/>
                  </a:moveTo>
                  <a:cubicBezTo>
                    <a:pt x="0" y="103632"/>
                    <a:pt x="103632" y="0"/>
                    <a:pt x="231521" y="0"/>
                  </a:cubicBezTo>
                  <a:lnTo>
                    <a:pt x="2019300" y="0"/>
                  </a:lnTo>
                  <a:cubicBezTo>
                    <a:pt x="2147189" y="0"/>
                    <a:pt x="2250821" y="103632"/>
                    <a:pt x="2250821" y="231521"/>
                  </a:cubicBezTo>
                  <a:lnTo>
                    <a:pt x="2250821" y="256794"/>
                  </a:lnTo>
                  <a:cubicBezTo>
                    <a:pt x="2250821" y="384683"/>
                    <a:pt x="2147189" y="488315"/>
                    <a:pt x="2019300" y="488315"/>
                  </a:cubicBezTo>
                  <a:lnTo>
                    <a:pt x="231521" y="488315"/>
                  </a:lnTo>
                  <a:cubicBezTo>
                    <a:pt x="103632" y="488315"/>
                    <a:pt x="0" y="384683"/>
                    <a:pt x="0" y="256794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3255102" y="1104281"/>
            <a:ext cx="2313946" cy="231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ATELIER PILOTE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2991" y="1346864"/>
            <a:ext cx="9452677" cy="1650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Atelier Pilote : La Prochaine Étape Concrète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991" y="3128210"/>
            <a:ext cx="9452677" cy="1532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Démarrez une phase d'expérimentation ciblée de 4 à 6 semaines dans un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service de médecine ou de chirurgie. Cette période nous permettra de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mesurer précisément l'impact sur le taux de sorties priorisées et de recueillir </a:t>
            </a:r>
          </a:p>
          <a:p>
            <a:pPr algn="l">
              <a:lnSpc>
                <a:spcPts val="2875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le ressenti direct de vos coordinateurs.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78694" y="4948238"/>
            <a:ext cx="3042856" cy="4319540"/>
            <a:chOff x="0" y="0"/>
            <a:chExt cx="4057142" cy="57593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057142" cy="5759323"/>
            </a:xfrm>
            <a:custGeom>
              <a:avLst/>
              <a:gdLst/>
              <a:ahLst/>
              <a:cxnLst/>
              <a:rect r="r" b="b" t="t" l="l"/>
              <a:pathLst>
                <a:path h="5759323" w="4057142">
                  <a:moveTo>
                    <a:pt x="0" y="292100"/>
                  </a:moveTo>
                  <a:cubicBezTo>
                    <a:pt x="0" y="130810"/>
                    <a:pt x="130810" y="0"/>
                    <a:pt x="292100" y="0"/>
                  </a:cubicBezTo>
                  <a:lnTo>
                    <a:pt x="3765042" y="0"/>
                  </a:lnTo>
                  <a:cubicBezTo>
                    <a:pt x="3926332" y="0"/>
                    <a:pt x="4057142" y="130810"/>
                    <a:pt x="4057142" y="292100"/>
                  </a:cubicBezTo>
                  <a:lnTo>
                    <a:pt x="4057142" y="5467223"/>
                  </a:lnTo>
                  <a:cubicBezTo>
                    <a:pt x="4057142" y="5628513"/>
                    <a:pt x="3926332" y="5759323"/>
                    <a:pt x="3765042" y="5759323"/>
                  </a:cubicBezTo>
                  <a:lnTo>
                    <a:pt x="292100" y="5759323"/>
                  </a:lnTo>
                  <a:cubicBezTo>
                    <a:pt x="130810" y="5759323"/>
                    <a:pt x="0" y="5628513"/>
                    <a:pt x="0" y="5467223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62720" y="5232273"/>
            <a:ext cx="2474805" cy="753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L'Outil CISIA Livré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2720" y="6023086"/>
            <a:ext cx="2474805" cy="2583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Accès immédiat à la solution CISIA, configurée et adaptée spécifiquement à votre environnement technique et vos besoins.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197896" y="4948238"/>
            <a:ext cx="3042856" cy="4319540"/>
            <a:chOff x="0" y="0"/>
            <a:chExt cx="4057142" cy="575938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57142" cy="5759323"/>
            </a:xfrm>
            <a:custGeom>
              <a:avLst/>
              <a:gdLst/>
              <a:ahLst/>
              <a:cxnLst/>
              <a:rect r="r" b="b" t="t" l="l"/>
              <a:pathLst>
                <a:path h="5759323" w="4057142">
                  <a:moveTo>
                    <a:pt x="0" y="292100"/>
                  </a:moveTo>
                  <a:cubicBezTo>
                    <a:pt x="0" y="130810"/>
                    <a:pt x="130810" y="0"/>
                    <a:pt x="292100" y="0"/>
                  </a:cubicBezTo>
                  <a:lnTo>
                    <a:pt x="3765042" y="0"/>
                  </a:lnTo>
                  <a:cubicBezTo>
                    <a:pt x="3926332" y="0"/>
                    <a:pt x="4057142" y="130810"/>
                    <a:pt x="4057142" y="292100"/>
                  </a:cubicBezTo>
                  <a:lnTo>
                    <a:pt x="4057142" y="5467223"/>
                  </a:lnTo>
                  <a:cubicBezTo>
                    <a:pt x="4057142" y="5628513"/>
                    <a:pt x="3926332" y="5759323"/>
                    <a:pt x="3765042" y="5759323"/>
                  </a:cubicBezTo>
                  <a:lnTo>
                    <a:pt x="292100" y="5759323"/>
                  </a:lnTo>
                  <a:cubicBezTo>
                    <a:pt x="130810" y="5759323"/>
                    <a:pt x="0" y="5628513"/>
                    <a:pt x="0" y="5467223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4481922" y="5232273"/>
            <a:ext cx="2474805" cy="753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 Parcours Métier Intégré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481922" y="6023086"/>
            <a:ext cx="2474805" cy="2583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Accompagnement expert pour une intégration fluide de CISIA dans vos processus cliniques et opérationnels quotidiens.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417098" y="4948238"/>
            <a:ext cx="3042856" cy="4319540"/>
            <a:chOff x="0" y="0"/>
            <a:chExt cx="4057142" cy="57593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057142" cy="5759323"/>
            </a:xfrm>
            <a:custGeom>
              <a:avLst/>
              <a:gdLst/>
              <a:ahLst/>
              <a:cxnLst/>
              <a:rect r="r" b="b" t="t" l="l"/>
              <a:pathLst>
                <a:path h="5759323" w="4057142">
                  <a:moveTo>
                    <a:pt x="0" y="292100"/>
                  </a:moveTo>
                  <a:cubicBezTo>
                    <a:pt x="0" y="130810"/>
                    <a:pt x="130810" y="0"/>
                    <a:pt x="292100" y="0"/>
                  </a:cubicBezTo>
                  <a:lnTo>
                    <a:pt x="3765042" y="0"/>
                  </a:lnTo>
                  <a:cubicBezTo>
                    <a:pt x="3926332" y="0"/>
                    <a:pt x="4057142" y="130810"/>
                    <a:pt x="4057142" y="292100"/>
                  </a:cubicBezTo>
                  <a:lnTo>
                    <a:pt x="4057142" y="5467223"/>
                  </a:lnTo>
                  <a:cubicBezTo>
                    <a:pt x="4057142" y="5628513"/>
                    <a:pt x="3926332" y="5759323"/>
                    <a:pt x="3765042" y="5759323"/>
                  </a:cubicBezTo>
                  <a:lnTo>
                    <a:pt x="292100" y="5759323"/>
                  </a:lnTo>
                  <a:cubicBezTo>
                    <a:pt x="130810" y="5759323"/>
                    <a:pt x="0" y="5628513"/>
                    <a:pt x="0" y="5467223"/>
                  </a:cubicBez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  <a:ln w="28597" cap="sq">
              <a:solidFill>
                <a:srgbClr val="006747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7701134" y="5232273"/>
            <a:ext cx="2474805" cy="1130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7"/>
              </a:lnSpc>
            </a:pPr>
            <a:r>
              <a:rPr lang="en-US" sz="2702" b="true">
                <a:solidFill>
                  <a:srgbClr val="4B4A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 Cadre Conformité Assuré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701134" y="6399914"/>
            <a:ext cx="2474805" cy="2583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01">
                <a:solidFill>
                  <a:srgbClr val="4B4A4A"/>
                </a:solidFill>
                <a:latin typeface="Calibri (MS)"/>
                <a:ea typeface="Calibri (MS)"/>
                <a:cs typeface="Calibri (MS)"/>
                <a:sym typeface="Calibri (MS)"/>
              </a:rPr>
              <a:t>Mise en œuvre garantie en conformité avec les réglementations en vigueur et les standards éthiques les plus stricts.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72157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92991" y="1238621"/>
            <a:ext cx="1632985" cy="388001"/>
            <a:chOff x="0" y="0"/>
            <a:chExt cx="2177313" cy="51733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7288" cy="517271"/>
            </a:xfrm>
            <a:custGeom>
              <a:avLst/>
              <a:gdLst/>
              <a:ahLst/>
              <a:cxnLst/>
              <a:rect r="r" b="b" t="t" l="l"/>
              <a:pathLst>
                <a:path h="517271" w="2177288">
                  <a:moveTo>
                    <a:pt x="0" y="245110"/>
                  </a:moveTo>
                  <a:cubicBezTo>
                    <a:pt x="0" y="109728"/>
                    <a:pt x="109728" y="0"/>
                    <a:pt x="245110" y="0"/>
                  </a:cubicBezTo>
                  <a:lnTo>
                    <a:pt x="1932178" y="0"/>
                  </a:lnTo>
                  <a:cubicBezTo>
                    <a:pt x="2067560" y="0"/>
                    <a:pt x="2177288" y="109728"/>
                    <a:pt x="2177288" y="245110"/>
                  </a:cubicBezTo>
                  <a:lnTo>
                    <a:pt x="2177288" y="272161"/>
                  </a:lnTo>
                  <a:cubicBezTo>
                    <a:pt x="2177288" y="407543"/>
                    <a:pt x="2067560" y="517271"/>
                    <a:pt x="1932178" y="517271"/>
                  </a:cubicBezTo>
                  <a:lnTo>
                    <a:pt x="245110" y="517271"/>
                  </a:lnTo>
                  <a:cubicBezTo>
                    <a:pt x="109728" y="517271"/>
                    <a:pt x="0" y="407543"/>
                    <a:pt x="0" y="272161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146096" y="1305658"/>
            <a:ext cx="2241852" cy="244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5"/>
              </a:lnSpc>
            </a:pPr>
            <a:r>
              <a:rPr lang="en-US" sz="15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CONCLUSION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991" y="1575645"/>
            <a:ext cx="16315868" cy="940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CISIA Readmit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3277" y="3482311"/>
            <a:ext cx="16315734" cy="1244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Moins de réadmissions évitées trop tard.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3277" y="5096161"/>
            <a:ext cx="16315734" cy="124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Plus de suivi là où le risque est réel.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3277" y="6710953"/>
            <a:ext cx="16315734" cy="124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5404" b="true">
                <a:solidFill>
                  <a:srgbClr val="00674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Sans compromettre le secret médical.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DAHWdhnuQ_A</dc:identifier>
  <dcterms:modified xsi:type="dcterms:W3CDTF">2011-08-01T06:04:30Z</dcterms:modified>
  <cp:revision>1</cp:revision>
  <dc:title>Projet_CISIA/LSB</dc:title>
</cp:coreProperties>
</file>
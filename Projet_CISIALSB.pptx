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 Italics" charset="1" panose="020F05020202040A0204"/>
      <p:regular r:id="rId22"/>
    </p:embeddedFont>
    <p:embeddedFont>
      <p:font typeface="Arial Bold" charset="1" panose="020B0704020202020204"/>
      <p:regular r:id="rId23"/>
    </p:embeddedFont>
    <p:embeddedFont>
      <p:font typeface="Arimo" charset="1" panose="020B0604020202020204"/>
      <p:regular r:id="rId24"/>
    </p:embeddedFont>
    <p:embeddedFont>
      <p:font typeface="Calibri (MS) Bold" charset="1" panose="020F0702030404030204"/>
      <p:regular r:id="rId25"/>
    </p:embeddedFont>
    <p:embeddedFont>
      <p:font typeface="Calibri (MS)" charset="1" panose="020F0502020204030204"/>
      <p:regular r:id="rId26"/>
    </p:embeddedFont>
    <p:embeddedFont>
      <p:font typeface="TT Rounds Condensed" charset="1" panose="02000506030000020003"/>
      <p:regular r:id="rId27"/>
    </p:embeddedFont>
    <p:embeddedFont>
      <p:font typeface="TT Rounds Condensed Bold" charset="1" panose="020008060300000200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svg" Type="http://schemas.openxmlformats.org/officeDocument/2006/relationships/image"/><Relationship Id="rId2" Target="../media/image1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48.png" Type="http://schemas.openxmlformats.org/officeDocument/2006/relationships/image"/><Relationship Id="rId8" Target="../media/image4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3568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295417" y="3282591"/>
            <a:ext cx="3729771" cy="3729866"/>
            <a:chOff x="0" y="0"/>
            <a:chExt cx="4973028" cy="4973155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4973066" cy="4973193"/>
            </a:xfrm>
            <a:custGeom>
              <a:avLst/>
              <a:gdLst/>
              <a:ahLst/>
              <a:cxnLst/>
              <a:rect r="r" b="b" t="t" l="l"/>
              <a:pathLst>
                <a:path h="4973193" w="4973066">
                  <a:moveTo>
                    <a:pt x="0" y="0"/>
                  </a:moveTo>
                  <a:lnTo>
                    <a:pt x="4973066" y="0"/>
                  </a:lnTo>
                  <a:lnTo>
                    <a:pt x="4973066" y="4973193"/>
                  </a:lnTo>
                  <a:lnTo>
                    <a:pt x="0" y="4973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81652" y="0"/>
            <a:ext cx="7206348" cy="10295039"/>
            <a:chOff x="0" y="0"/>
            <a:chExt cx="9608464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843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608439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2350160"/>
            <a:ext cx="9452677" cy="1039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i="true">
                <a:solidFill>
                  <a:srgbClr val="00674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CISIA Santé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277" y="3455546"/>
            <a:ext cx="9226458" cy="2707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3"/>
              </a:lnSpc>
            </a:pPr>
            <a:r>
              <a:rPr lang="en-US" sz="6004" b="true">
                <a:solidFill>
                  <a:srgbClr val="006747"/>
                </a:solidFill>
                <a:latin typeface="Arial Bold"/>
                <a:ea typeface="Arial Bold"/>
                <a:cs typeface="Arial Bold"/>
                <a:sym typeface="Arial Bold"/>
              </a:rPr>
              <a:t>Priorisez les sorties à risque avant la réadmission.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6493012"/>
            <a:ext cx="10367762" cy="54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Score de réadmission à 30 jours · explicable · 100 % local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8219" y="7356662"/>
            <a:ext cx="3567783" cy="440579"/>
            <a:chOff x="0" y="0"/>
            <a:chExt cx="4757045" cy="587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57034" cy="587375"/>
            </a:xfrm>
            <a:custGeom>
              <a:avLst/>
              <a:gdLst/>
              <a:ahLst/>
              <a:cxnLst/>
              <a:rect r="r" b="b" t="t" l="l"/>
              <a:pathLst>
                <a:path h="587375" w="4757034">
                  <a:moveTo>
                    <a:pt x="0" y="278384"/>
                  </a:moveTo>
                  <a:cubicBezTo>
                    <a:pt x="0" y="124714"/>
                    <a:pt x="108092" y="0"/>
                    <a:pt x="241280" y="0"/>
                  </a:cubicBezTo>
                  <a:lnTo>
                    <a:pt x="4515753" y="0"/>
                  </a:lnTo>
                  <a:cubicBezTo>
                    <a:pt x="4649051" y="0"/>
                    <a:pt x="4757034" y="124714"/>
                    <a:pt x="4757034" y="278384"/>
                  </a:cubicBezTo>
                  <a:lnTo>
                    <a:pt x="4757034" y="308991"/>
                  </a:lnTo>
                  <a:cubicBezTo>
                    <a:pt x="4757034" y="462788"/>
                    <a:pt x="4648942" y="587375"/>
                    <a:pt x="4515753" y="587375"/>
                  </a:cubicBezTo>
                  <a:lnTo>
                    <a:pt x="241280" y="587375"/>
                  </a:lnTo>
                  <a:cubicBezTo>
                    <a:pt x="108092" y="587375"/>
                    <a:pt x="0" y="462788"/>
                    <a:pt x="0" y="30899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2067" r="-15378" b="-132078"/>
              </a:stretch>
            </a:blipFill>
            <a:ln w="9532" cap="sq">
              <a:solidFill>
                <a:srgbClr val="00674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62955" y="7437225"/>
            <a:ext cx="3766271" cy="26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>
                <a:solidFill>
                  <a:srgbClr val="006747"/>
                </a:solidFill>
                <a:latin typeface="Arimo"/>
                <a:ea typeface="Arimo"/>
                <a:cs typeface="Arimo"/>
                <a:sym typeface="Arimo"/>
              </a:rPr>
              <a:t>Léo Segalini Briant · Certification CIF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236902" y="7356662"/>
            <a:ext cx="3446739" cy="440579"/>
            <a:chOff x="0" y="0"/>
            <a:chExt cx="4595652" cy="5874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95620" cy="587375"/>
            </a:xfrm>
            <a:custGeom>
              <a:avLst/>
              <a:gdLst/>
              <a:ahLst/>
              <a:cxnLst/>
              <a:rect r="r" b="b" t="t" l="l"/>
              <a:pathLst>
                <a:path h="587375" w="4595620">
                  <a:moveTo>
                    <a:pt x="0" y="278384"/>
                  </a:moveTo>
                  <a:cubicBezTo>
                    <a:pt x="0" y="124714"/>
                    <a:pt x="104888" y="0"/>
                    <a:pt x="234128" y="0"/>
                  </a:cubicBezTo>
                  <a:lnTo>
                    <a:pt x="4361492" y="0"/>
                  </a:lnTo>
                  <a:cubicBezTo>
                    <a:pt x="4490839" y="0"/>
                    <a:pt x="4595620" y="124714"/>
                    <a:pt x="4595620" y="278384"/>
                  </a:cubicBezTo>
                  <a:lnTo>
                    <a:pt x="4595620" y="308991"/>
                  </a:lnTo>
                  <a:cubicBezTo>
                    <a:pt x="4595620" y="462788"/>
                    <a:pt x="4490732" y="587375"/>
                    <a:pt x="4361492" y="587375"/>
                  </a:cubicBezTo>
                  <a:lnTo>
                    <a:pt x="234128" y="587375"/>
                  </a:lnTo>
                  <a:cubicBezTo>
                    <a:pt x="104888" y="587375"/>
                    <a:pt x="0" y="462788"/>
                    <a:pt x="0" y="30899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1263" r="-18903" b="-131274"/>
              </a:stretch>
            </a:blipFill>
            <a:ln w="9532" cap="sq">
              <a:solidFill>
                <a:srgbClr val="00674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411572" y="7437225"/>
            <a:ext cx="3738629" cy="25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9"/>
              </a:lnSpc>
            </a:pPr>
            <a:r>
              <a:rPr lang="en-US" sz="1501">
                <a:solidFill>
                  <a:srgbClr val="006747"/>
                </a:solidFill>
                <a:latin typeface="Arimo"/>
                <a:ea typeface="Arimo"/>
                <a:cs typeface="Arimo"/>
                <a:sym typeface="Arimo"/>
              </a:rPr>
              <a:t>Données synthétiques · Démo locale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101147"/>
            <a:ext cx="1476746" cy="431044"/>
            <a:chOff x="0" y="0"/>
            <a:chExt cx="1968995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9008" cy="574802"/>
            </a:xfrm>
            <a:custGeom>
              <a:avLst/>
              <a:gdLst/>
              <a:ahLst/>
              <a:cxnLst/>
              <a:rect r="r" b="b" t="t" l="l"/>
              <a:pathLst>
                <a:path h="574802" w="1969008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1696593" y="0"/>
                  </a:lnTo>
                  <a:cubicBezTo>
                    <a:pt x="1847088" y="0"/>
                    <a:pt x="1969008" y="121920"/>
                    <a:pt x="1969008" y="272415"/>
                  </a:cubicBezTo>
                  <a:lnTo>
                    <a:pt x="1969008" y="302387"/>
                  </a:lnTo>
                  <a:cubicBezTo>
                    <a:pt x="1969008" y="452882"/>
                    <a:pt x="1847088" y="574802"/>
                    <a:pt x="1696593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955" y="1166784"/>
            <a:ext cx="1139123" cy="28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35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277" y="1591075"/>
            <a:ext cx="16324316" cy="127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 défi clinique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991" y="2869263"/>
            <a:ext cx="5260438" cy="5260572"/>
            <a:chOff x="0" y="0"/>
            <a:chExt cx="7013918" cy="701409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013956" cy="7014083"/>
            </a:xfrm>
            <a:custGeom>
              <a:avLst/>
              <a:gdLst/>
              <a:ahLst/>
              <a:cxnLst/>
              <a:rect r="r" b="b" t="t" l="l"/>
              <a:pathLst>
                <a:path h="7014083" w="7013956">
                  <a:moveTo>
                    <a:pt x="0" y="0"/>
                  </a:moveTo>
                  <a:lnTo>
                    <a:pt x="7013956" y="0"/>
                  </a:lnTo>
                  <a:lnTo>
                    <a:pt x="7013956" y="7014083"/>
                  </a:lnTo>
                  <a:lnTo>
                    <a:pt x="0" y="7014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716938" y="2697813"/>
            <a:ext cx="10363000" cy="62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1"/>
              </a:lnSpc>
            </a:pPr>
            <a:r>
              <a:rPr lang="en-US" sz="3002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Qui doit être rappelé/accompagné en priorité après la sortie 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4134" y="4141403"/>
            <a:ext cx="9985804" cy="115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293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 que vous perdez chaque jour sans solution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082338" y="5538488"/>
            <a:ext cx="4908756" cy="748118"/>
            <a:chOff x="0" y="0"/>
            <a:chExt cx="10738828" cy="16366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8739" cy="1636642"/>
            </a:xfrm>
            <a:custGeom>
              <a:avLst/>
              <a:gdLst/>
              <a:ahLst/>
              <a:cxnLst/>
              <a:rect r="r" b="b" t="t" l="l"/>
              <a:pathLst>
                <a:path h="1636642" w="10738739">
                  <a:moveTo>
                    <a:pt x="0" y="193012"/>
                  </a:moveTo>
                  <a:cubicBezTo>
                    <a:pt x="0" y="86389"/>
                    <a:pt x="155067" y="0"/>
                    <a:pt x="346456" y="0"/>
                  </a:cubicBezTo>
                  <a:lnTo>
                    <a:pt x="10392283" y="0"/>
                  </a:lnTo>
                  <a:cubicBezTo>
                    <a:pt x="10583672" y="0"/>
                    <a:pt x="10738739" y="86389"/>
                    <a:pt x="10738739" y="193012"/>
                  </a:cubicBezTo>
                  <a:lnTo>
                    <a:pt x="10738739" y="1443630"/>
                  </a:lnTo>
                  <a:cubicBezTo>
                    <a:pt x="10738739" y="1550253"/>
                    <a:pt x="10583672" y="1636642"/>
                    <a:pt x="10392283" y="1636642"/>
                  </a:cubicBezTo>
                  <a:lnTo>
                    <a:pt x="346456" y="1636642"/>
                  </a:lnTo>
                  <a:cubicBezTo>
                    <a:pt x="155067" y="1636642"/>
                    <a:pt x="0" y="1550253"/>
                    <a:pt x="0" y="1443630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  <a:ln w="38128" cap="sq">
              <a:solidFill>
                <a:srgbClr val="00674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077884" y="5752977"/>
            <a:ext cx="2917664" cy="28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5"/>
              </a:lnSpc>
            </a:pPr>
            <a:r>
              <a:rPr lang="en-US" sz="1646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Aucune vision objective du risque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36563" y="5538488"/>
            <a:ext cx="4908848" cy="748118"/>
            <a:chOff x="0" y="0"/>
            <a:chExt cx="10739031" cy="16366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38993" cy="1636675"/>
            </a:xfrm>
            <a:custGeom>
              <a:avLst/>
              <a:gdLst/>
              <a:ahLst/>
              <a:cxnLst/>
              <a:rect r="r" b="b" t="t" l="l"/>
              <a:pathLst>
                <a:path h="1636675" w="10738993">
                  <a:moveTo>
                    <a:pt x="0" y="160214"/>
                  </a:moveTo>
                  <a:cubicBezTo>
                    <a:pt x="0" y="71743"/>
                    <a:pt x="154686" y="0"/>
                    <a:pt x="345440" y="0"/>
                  </a:cubicBezTo>
                  <a:lnTo>
                    <a:pt x="10393553" y="0"/>
                  </a:lnTo>
                  <a:cubicBezTo>
                    <a:pt x="10584307" y="0"/>
                    <a:pt x="10738993" y="71743"/>
                    <a:pt x="10738993" y="160214"/>
                  </a:cubicBezTo>
                  <a:lnTo>
                    <a:pt x="10738993" y="1476446"/>
                  </a:lnTo>
                  <a:cubicBezTo>
                    <a:pt x="10738993" y="1564918"/>
                    <a:pt x="10584307" y="1636675"/>
                    <a:pt x="10393553" y="1636675"/>
                  </a:cubicBezTo>
                  <a:lnTo>
                    <a:pt x="345440" y="1636675"/>
                  </a:lnTo>
                  <a:cubicBezTo>
                    <a:pt x="154686" y="1636675"/>
                    <a:pt x="0" y="1564918"/>
                    <a:pt x="0" y="1476446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  <a:ln w="38128" cap="sq">
              <a:solidFill>
                <a:srgbClr val="00674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3043490" y="5752977"/>
            <a:ext cx="3103431" cy="28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5"/>
              </a:lnSpc>
            </a:pPr>
            <a:r>
              <a:rPr lang="en-US" sz="1646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Charge inutile sur les faibles risques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078120" y="6527590"/>
            <a:ext cx="4908756" cy="748118"/>
            <a:chOff x="0" y="0"/>
            <a:chExt cx="10738828" cy="16366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38739" cy="1636675"/>
            </a:xfrm>
            <a:custGeom>
              <a:avLst/>
              <a:gdLst/>
              <a:ahLst/>
              <a:cxnLst/>
              <a:rect r="r" b="b" t="t" l="l"/>
              <a:pathLst>
                <a:path h="1636675" w="10738739">
                  <a:moveTo>
                    <a:pt x="0" y="160214"/>
                  </a:moveTo>
                  <a:cubicBezTo>
                    <a:pt x="0" y="71743"/>
                    <a:pt x="154686" y="0"/>
                    <a:pt x="345440" y="0"/>
                  </a:cubicBezTo>
                  <a:lnTo>
                    <a:pt x="10393299" y="0"/>
                  </a:lnTo>
                  <a:cubicBezTo>
                    <a:pt x="10584053" y="0"/>
                    <a:pt x="10738739" y="71743"/>
                    <a:pt x="10738739" y="160214"/>
                  </a:cubicBezTo>
                  <a:lnTo>
                    <a:pt x="10738739" y="1476446"/>
                  </a:lnTo>
                  <a:cubicBezTo>
                    <a:pt x="10738739" y="1564918"/>
                    <a:pt x="10584053" y="1636675"/>
                    <a:pt x="10393299" y="1636675"/>
                  </a:cubicBezTo>
                  <a:lnTo>
                    <a:pt x="345440" y="1636675"/>
                  </a:lnTo>
                  <a:cubicBezTo>
                    <a:pt x="154686" y="1636675"/>
                    <a:pt x="0" y="1564918"/>
                    <a:pt x="0" y="1476446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  <a:ln w="38128" cap="sq">
              <a:solidFill>
                <a:srgbClr val="00674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280026" y="6740853"/>
            <a:ext cx="4499070" cy="28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5"/>
              </a:lnSpc>
            </a:pPr>
            <a:r>
              <a:rPr lang="en-US" sz="1646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Peu de traçabilité pour justifier une alerte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36563" y="6527590"/>
            <a:ext cx="4908848" cy="748118"/>
            <a:chOff x="0" y="0"/>
            <a:chExt cx="10739031" cy="16366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38993" cy="1636675"/>
            </a:xfrm>
            <a:custGeom>
              <a:avLst/>
              <a:gdLst/>
              <a:ahLst/>
              <a:cxnLst/>
              <a:rect r="r" b="b" t="t" l="l"/>
              <a:pathLst>
                <a:path h="1636675" w="10738993">
                  <a:moveTo>
                    <a:pt x="0" y="160214"/>
                  </a:moveTo>
                  <a:cubicBezTo>
                    <a:pt x="0" y="71743"/>
                    <a:pt x="154686" y="0"/>
                    <a:pt x="345440" y="0"/>
                  </a:cubicBezTo>
                  <a:lnTo>
                    <a:pt x="10393553" y="0"/>
                  </a:lnTo>
                  <a:cubicBezTo>
                    <a:pt x="10584307" y="0"/>
                    <a:pt x="10738993" y="71743"/>
                    <a:pt x="10738993" y="160214"/>
                  </a:cubicBezTo>
                  <a:lnTo>
                    <a:pt x="10738993" y="1476446"/>
                  </a:lnTo>
                  <a:cubicBezTo>
                    <a:pt x="10738993" y="1564918"/>
                    <a:pt x="10584307" y="1636675"/>
                    <a:pt x="10393553" y="1636675"/>
                  </a:cubicBezTo>
                  <a:lnTo>
                    <a:pt x="345440" y="1636675"/>
                  </a:lnTo>
                  <a:cubicBezTo>
                    <a:pt x="154686" y="1636675"/>
                    <a:pt x="0" y="1564918"/>
                    <a:pt x="0" y="1476446"/>
                  </a:cubicBez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  <a:ln w="38128" cap="sq">
              <a:solidFill>
                <a:srgbClr val="00674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3203904" y="6740853"/>
            <a:ext cx="2774167" cy="28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5"/>
              </a:lnSpc>
            </a:pPr>
            <a:r>
              <a:rPr lang="en-US" sz="1646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Pression RGPD &amp; secret médical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345246"/>
            <a:ext cx="16315868" cy="102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Bénéfices pour votre établissement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5169" y="4197134"/>
            <a:ext cx="3866359" cy="2263928"/>
            <a:chOff x="0" y="0"/>
            <a:chExt cx="5155146" cy="30185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55184" cy="3018647"/>
            </a:xfrm>
            <a:custGeom>
              <a:avLst/>
              <a:gdLst/>
              <a:ahLst/>
              <a:cxnLst/>
              <a:rect r="r" b="b" t="t" l="l"/>
              <a:pathLst>
                <a:path h="3018647" w="5155184">
                  <a:moveTo>
                    <a:pt x="0" y="503145"/>
                  </a:moveTo>
                  <a:cubicBezTo>
                    <a:pt x="0" y="225262"/>
                    <a:pt x="344678" y="0"/>
                    <a:pt x="769874" y="0"/>
                  </a:cubicBezTo>
                  <a:lnTo>
                    <a:pt x="4385310" y="0"/>
                  </a:lnTo>
                  <a:cubicBezTo>
                    <a:pt x="4810506" y="0"/>
                    <a:pt x="5155184" y="225262"/>
                    <a:pt x="5155184" y="503145"/>
                  </a:cubicBezTo>
                  <a:lnTo>
                    <a:pt x="5155184" y="2515476"/>
                  </a:lnTo>
                  <a:cubicBezTo>
                    <a:pt x="5155184" y="2793360"/>
                    <a:pt x="4810506" y="3018647"/>
                    <a:pt x="4385310" y="3018647"/>
                  </a:cubicBezTo>
                  <a:lnTo>
                    <a:pt x="769874" y="3018647"/>
                  </a:lnTo>
                  <a:cubicBezTo>
                    <a:pt x="344678" y="3018538"/>
                    <a:pt x="0" y="2793359"/>
                    <a:pt x="0" y="2515476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441258" y="3732905"/>
            <a:ext cx="934183" cy="886520"/>
            <a:chOff x="0" y="0"/>
            <a:chExt cx="1245578" cy="11820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5616" cy="1181989"/>
            </a:xfrm>
            <a:custGeom>
              <a:avLst/>
              <a:gdLst/>
              <a:ahLst/>
              <a:cxnLst/>
              <a:rect r="r" b="b" t="t" l="l"/>
              <a:pathLst>
                <a:path h="1181989" w="1245616">
                  <a:moveTo>
                    <a:pt x="0" y="591058"/>
                  </a:moveTo>
                  <a:cubicBezTo>
                    <a:pt x="0" y="264668"/>
                    <a:pt x="278892" y="0"/>
                    <a:pt x="622808" y="0"/>
                  </a:cubicBezTo>
                  <a:cubicBezTo>
                    <a:pt x="966724" y="0"/>
                    <a:pt x="1245616" y="264668"/>
                    <a:pt x="1245616" y="591058"/>
                  </a:cubicBezTo>
                  <a:cubicBezTo>
                    <a:pt x="1245616" y="917448"/>
                    <a:pt x="966724" y="1181989"/>
                    <a:pt x="622808" y="1181989"/>
                  </a:cubicBezTo>
                  <a:cubicBezTo>
                    <a:pt x="278892" y="1181989"/>
                    <a:pt x="0" y="917448"/>
                    <a:pt x="0" y="59105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2755830" y="4007444"/>
            <a:ext cx="340309" cy="340309"/>
          </a:xfrm>
          <a:custGeom>
            <a:avLst/>
            <a:gdLst/>
            <a:ahLst/>
            <a:cxnLst/>
            <a:rect r="r" b="b" t="t" l="l"/>
            <a:pathLst>
              <a:path h="340309" w="340309">
                <a:moveTo>
                  <a:pt x="0" y="0"/>
                </a:moveTo>
                <a:lnTo>
                  <a:pt x="340309" y="0"/>
                </a:lnTo>
                <a:lnTo>
                  <a:pt x="340309" y="340309"/>
                </a:lnTo>
                <a:lnTo>
                  <a:pt x="0" y="3403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388" t="0" r="-138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15479" y="4912119"/>
            <a:ext cx="3221965" cy="97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Prioriser les bonnes sorties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62682" y="4140898"/>
            <a:ext cx="3866359" cy="2320164"/>
            <a:chOff x="0" y="0"/>
            <a:chExt cx="5155146" cy="30935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55184" cy="3093628"/>
            </a:xfrm>
            <a:custGeom>
              <a:avLst/>
              <a:gdLst/>
              <a:ahLst/>
              <a:cxnLst/>
              <a:rect r="r" b="b" t="t" l="l"/>
              <a:pathLst>
                <a:path h="3093628" w="5155184">
                  <a:moveTo>
                    <a:pt x="0" y="515643"/>
                  </a:moveTo>
                  <a:cubicBezTo>
                    <a:pt x="0" y="230857"/>
                    <a:pt x="344678" y="0"/>
                    <a:pt x="769874" y="0"/>
                  </a:cubicBezTo>
                  <a:lnTo>
                    <a:pt x="4385310" y="0"/>
                  </a:lnTo>
                  <a:cubicBezTo>
                    <a:pt x="4810506" y="0"/>
                    <a:pt x="5155184" y="230857"/>
                    <a:pt x="5155184" y="515643"/>
                  </a:cubicBezTo>
                  <a:lnTo>
                    <a:pt x="5155184" y="2577960"/>
                  </a:lnTo>
                  <a:cubicBezTo>
                    <a:pt x="5155184" y="2862746"/>
                    <a:pt x="4810506" y="3093628"/>
                    <a:pt x="4385310" y="3093628"/>
                  </a:cubicBezTo>
                  <a:lnTo>
                    <a:pt x="769874" y="3093628"/>
                  </a:lnTo>
                  <a:cubicBezTo>
                    <a:pt x="344678" y="3093518"/>
                    <a:pt x="0" y="2862746"/>
                    <a:pt x="0" y="2577960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620099" y="3732905"/>
            <a:ext cx="934183" cy="886520"/>
            <a:chOff x="0" y="0"/>
            <a:chExt cx="1245578" cy="11820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5616" cy="1181989"/>
            </a:xfrm>
            <a:custGeom>
              <a:avLst/>
              <a:gdLst/>
              <a:ahLst/>
              <a:cxnLst/>
              <a:rect r="r" b="b" t="t" l="l"/>
              <a:pathLst>
                <a:path h="1181989" w="1245616">
                  <a:moveTo>
                    <a:pt x="0" y="591058"/>
                  </a:moveTo>
                  <a:cubicBezTo>
                    <a:pt x="0" y="264668"/>
                    <a:pt x="278892" y="0"/>
                    <a:pt x="622808" y="0"/>
                  </a:cubicBezTo>
                  <a:cubicBezTo>
                    <a:pt x="966724" y="0"/>
                    <a:pt x="1245616" y="264668"/>
                    <a:pt x="1245616" y="591058"/>
                  </a:cubicBezTo>
                  <a:cubicBezTo>
                    <a:pt x="1245616" y="917448"/>
                    <a:pt x="966724" y="1181989"/>
                    <a:pt x="622808" y="1181989"/>
                  </a:cubicBezTo>
                  <a:cubicBezTo>
                    <a:pt x="278892" y="1181989"/>
                    <a:pt x="0" y="917448"/>
                    <a:pt x="0" y="59105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83922" y="4932140"/>
            <a:ext cx="3221965" cy="97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Prouver la conformité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450281" y="4140899"/>
            <a:ext cx="3866359" cy="2320164"/>
            <a:chOff x="0" y="0"/>
            <a:chExt cx="5155146" cy="30935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5184" cy="3093628"/>
            </a:xfrm>
            <a:custGeom>
              <a:avLst/>
              <a:gdLst/>
              <a:ahLst/>
              <a:cxnLst/>
              <a:rect r="r" b="b" t="t" l="l"/>
              <a:pathLst>
                <a:path h="3093628" w="5155184">
                  <a:moveTo>
                    <a:pt x="0" y="515643"/>
                  </a:moveTo>
                  <a:cubicBezTo>
                    <a:pt x="0" y="230857"/>
                    <a:pt x="344678" y="0"/>
                    <a:pt x="769874" y="0"/>
                  </a:cubicBezTo>
                  <a:lnTo>
                    <a:pt x="4385310" y="0"/>
                  </a:lnTo>
                  <a:cubicBezTo>
                    <a:pt x="4810506" y="0"/>
                    <a:pt x="5155184" y="230857"/>
                    <a:pt x="5155184" y="515643"/>
                  </a:cubicBezTo>
                  <a:lnTo>
                    <a:pt x="5155184" y="2577960"/>
                  </a:lnTo>
                  <a:cubicBezTo>
                    <a:pt x="5155184" y="2862746"/>
                    <a:pt x="4810506" y="3093628"/>
                    <a:pt x="4385310" y="3093628"/>
                  </a:cubicBezTo>
                  <a:lnTo>
                    <a:pt x="769874" y="3093628"/>
                  </a:lnTo>
                  <a:cubicBezTo>
                    <a:pt x="344678" y="3093518"/>
                    <a:pt x="0" y="2862746"/>
                    <a:pt x="0" y="2577960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916369" y="3676669"/>
            <a:ext cx="934183" cy="886520"/>
            <a:chOff x="0" y="0"/>
            <a:chExt cx="1245578" cy="11820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5616" cy="1181989"/>
            </a:xfrm>
            <a:custGeom>
              <a:avLst/>
              <a:gdLst/>
              <a:ahLst/>
              <a:cxnLst/>
              <a:rect r="r" b="b" t="t" l="l"/>
              <a:pathLst>
                <a:path h="1181989" w="1245616">
                  <a:moveTo>
                    <a:pt x="0" y="591058"/>
                  </a:moveTo>
                  <a:cubicBezTo>
                    <a:pt x="0" y="264668"/>
                    <a:pt x="278892" y="0"/>
                    <a:pt x="622808" y="0"/>
                  </a:cubicBezTo>
                  <a:cubicBezTo>
                    <a:pt x="966724" y="0"/>
                    <a:pt x="1245616" y="264668"/>
                    <a:pt x="1245616" y="591058"/>
                  </a:cubicBezTo>
                  <a:cubicBezTo>
                    <a:pt x="1245616" y="917448"/>
                    <a:pt x="966724" y="1181989"/>
                    <a:pt x="622808" y="1181989"/>
                  </a:cubicBezTo>
                  <a:cubicBezTo>
                    <a:pt x="278892" y="1181989"/>
                    <a:pt x="0" y="917448"/>
                    <a:pt x="0" y="59105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790590" y="4865408"/>
            <a:ext cx="3221965" cy="96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43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Intégrer sans exposer le DPI au cloud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074120" y="4198087"/>
            <a:ext cx="3866359" cy="2262976"/>
            <a:chOff x="0" y="0"/>
            <a:chExt cx="5155146" cy="30173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55184" cy="3017377"/>
            </a:xfrm>
            <a:custGeom>
              <a:avLst/>
              <a:gdLst/>
              <a:ahLst/>
              <a:cxnLst/>
              <a:rect r="r" b="b" t="t" l="l"/>
              <a:pathLst>
                <a:path h="3017377" w="5155184">
                  <a:moveTo>
                    <a:pt x="0" y="502933"/>
                  </a:moveTo>
                  <a:cubicBezTo>
                    <a:pt x="0" y="225167"/>
                    <a:pt x="344678" y="0"/>
                    <a:pt x="769874" y="0"/>
                  </a:cubicBezTo>
                  <a:lnTo>
                    <a:pt x="4385310" y="0"/>
                  </a:lnTo>
                  <a:cubicBezTo>
                    <a:pt x="4810506" y="0"/>
                    <a:pt x="5155184" y="225167"/>
                    <a:pt x="5155184" y="502933"/>
                  </a:cubicBezTo>
                  <a:lnTo>
                    <a:pt x="5155184" y="2514418"/>
                  </a:lnTo>
                  <a:cubicBezTo>
                    <a:pt x="5155184" y="2792184"/>
                    <a:pt x="4810506" y="3017377"/>
                    <a:pt x="4385310" y="3017377"/>
                  </a:cubicBezTo>
                  <a:lnTo>
                    <a:pt x="769874" y="3017377"/>
                  </a:lnTo>
                  <a:cubicBezTo>
                    <a:pt x="344678" y="3017268"/>
                    <a:pt x="0" y="2792184"/>
                    <a:pt x="0" y="2514418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391504" y="3732905"/>
            <a:ext cx="934183" cy="886520"/>
            <a:chOff x="0" y="0"/>
            <a:chExt cx="1245578" cy="11820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45616" cy="1181989"/>
            </a:xfrm>
            <a:custGeom>
              <a:avLst/>
              <a:gdLst/>
              <a:ahLst/>
              <a:cxnLst/>
              <a:rect r="r" b="b" t="t" l="l"/>
              <a:pathLst>
                <a:path h="1181989" w="1245616">
                  <a:moveTo>
                    <a:pt x="0" y="591058"/>
                  </a:moveTo>
                  <a:cubicBezTo>
                    <a:pt x="0" y="264668"/>
                    <a:pt x="278892" y="0"/>
                    <a:pt x="622808" y="0"/>
                  </a:cubicBezTo>
                  <a:cubicBezTo>
                    <a:pt x="966724" y="0"/>
                    <a:pt x="1245616" y="264668"/>
                    <a:pt x="1245616" y="591058"/>
                  </a:cubicBezTo>
                  <a:cubicBezTo>
                    <a:pt x="1245616" y="917448"/>
                    <a:pt x="966724" y="1181989"/>
                    <a:pt x="622808" y="1181989"/>
                  </a:cubicBezTo>
                  <a:cubicBezTo>
                    <a:pt x="278892" y="1181989"/>
                    <a:pt x="0" y="917448"/>
                    <a:pt x="0" y="59105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27" id="27" descr="Reading"/>
          <p:cNvSpPr/>
          <p:nvPr/>
        </p:nvSpPr>
        <p:spPr>
          <a:xfrm flipH="false" flipV="false" rot="0">
            <a:off x="6687969" y="4009349"/>
            <a:ext cx="340309" cy="340309"/>
          </a:xfrm>
          <a:custGeom>
            <a:avLst/>
            <a:gdLst/>
            <a:ahLst/>
            <a:cxnLst/>
            <a:rect r="r" b="b" t="t" l="l"/>
            <a:pathLst>
              <a:path h="340309" w="340309">
                <a:moveTo>
                  <a:pt x="0" y="0"/>
                </a:moveTo>
                <a:lnTo>
                  <a:pt x="340309" y="0"/>
                </a:lnTo>
                <a:lnTo>
                  <a:pt x="340309" y="340309"/>
                </a:lnTo>
                <a:lnTo>
                  <a:pt x="0" y="3403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5377253" y="4916891"/>
            <a:ext cx="3221965" cy="97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Comprendre chaque alerte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10897495" y="4007444"/>
            <a:ext cx="340309" cy="340309"/>
          </a:xfrm>
          <a:custGeom>
            <a:avLst/>
            <a:gdLst/>
            <a:ahLst/>
            <a:cxnLst/>
            <a:rect r="r" b="b" t="t" l="l"/>
            <a:pathLst>
              <a:path h="340309" w="340309">
                <a:moveTo>
                  <a:pt x="0" y="0"/>
                </a:moveTo>
                <a:lnTo>
                  <a:pt x="340310" y="0"/>
                </a:lnTo>
                <a:lnTo>
                  <a:pt x="340310" y="340309"/>
                </a:lnTo>
                <a:lnTo>
                  <a:pt x="0" y="3403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2500" r="0" b="-12499"/>
            </a:stretch>
          </a:blipFill>
        </p:spPr>
      </p:sp>
      <p:sp>
        <p:nvSpPr>
          <p:cNvPr name="Freeform 30" id="30" descr="preencoded.png"/>
          <p:cNvSpPr/>
          <p:nvPr/>
        </p:nvSpPr>
        <p:spPr>
          <a:xfrm flipH="false" flipV="false" rot="0">
            <a:off x="15212835" y="3934997"/>
            <a:ext cx="341262" cy="341262"/>
          </a:xfrm>
          <a:custGeom>
            <a:avLst/>
            <a:gdLst/>
            <a:ahLst/>
            <a:cxnLst/>
            <a:rect r="r" b="b" t="t" l="l"/>
            <a:pathLst>
              <a:path h="341262" w="341262">
                <a:moveTo>
                  <a:pt x="0" y="0"/>
                </a:moveTo>
                <a:lnTo>
                  <a:pt x="341261" y="0"/>
                </a:lnTo>
                <a:lnTo>
                  <a:pt x="341261" y="341261"/>
                </a:lnTo>
                <a:lnTo>
                  <a:pt x="0" y="3412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6944" t="0" r="-6944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31666"/>
            <a:ext cx="16315868" cy="94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Comment ça marche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08740" y="2232231"/>
            <a:ext cx="14684216" cy="6441405"/>
            <a:chOff x="0" y="0"/>
            <a:chExt cx="19578955" cy="858854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9578955" cy="8588502"/>
            </a:xfrm>
            <a:custGeom>
              <a:avLst/>
              <a:gdLst/>
              <a:ahLst/>
              <a:cxnLst/>
              <a:rect r="r" b="b" t="t" l="l"/>
              <a:pathLst>
                <a:path h="8588502" w="19578955">
                  <a:moveTo>
                    <a:pt x="0" y="0"/>
                  </a:moveTo>
                  <a:lnTo>
                    <a:pt x="19578955" y="0"/>
                  </a:lnTo>
                  <a:lnTo>
                    <a:pt x="19578955" y="8588502"/>
                  </a:lnTo>
                  <a:lnTo>
                    <a:pt x="0" y="8588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t="0" r="-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258897" y="6933371"/>
            <a:ext cx="2219306" cy="44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401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Calcul risque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58897" y="7443778"/>
            <a:ext cx="2219306" cy="65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8"/>
              </a:lnSpc>
            </a:pPr>
            <a:r>
              <a:rPr lang="en-US" sz="195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Score automatisé en pourcentage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09102" y="6535988"/>
            <a:ext cx="2219306" cy="84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401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Action équipe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09102" y="7443778"/>
            <a:ext cx="2219306" cy="65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8"/>
              </a:lnSpc>
            </a:pPr>
            <a:r>
              <a:rPr lang="en-US" sz="195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Intervention et recommandation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1504" y="2763545"/>
            <a:ext cx="2219306" cy="84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401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Données séjour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11504" y="3671335"/>
            <a:ext cx="2219306" cy="953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8"/>
              </a:lnSpc>
            </a:pPr>
            <a:r>
              <a:rPr lang="en-US" sz="195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Collecte des paramètres patients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33448" y="2763545"/>
            <a:ext cx="2219306" cy="44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401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Alerte suivi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3448" y="3273952"/>
            <a:ext cx="2219306" cy="65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8"/>
              </a:lnSpc>
            </a:pPr>
            <a:r>
              <a:rPr lang="en-US" sz="195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Notification si seuil dépassé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5438" y="8827427"/>
            <a:ext cx="17230954" cy="492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sz="195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 1 coup d'œil : % de risque, seuil d'alerte, recommandation « suivi renforcé ».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632280"/>
            <a:ext cx="2364134" cy="431044"/>
            <a:chOff x="0" y="0"/>
            <a:chExt cx="3152178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52140" cy="574802"/>
            </a:xfrm>
            <a:custGeom>
              <a:avLst/>
              <a:gdLst/>
              <a:ahLst/>
              <a:cxnLst/>
              <a:rect r="r" b="b" t="t" l="l"/>
              <a:pathLst>
                <a:path h="574802" w="3152140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2879725" y="0"/>
                  </a:lnTo>
                  <a:cubicBezTo>
                    <a:pt x="3030220" y="0"/>
                    <a:pt x="3152140" y="121920"/>
                    <a:pt x="3152140" y="272415"/>
                  </a:cubicBezTo>
                  <a:lnTo>
                    <a:pt x="3152140" y="302387"/>
                  </a:lnTo>
                  <a:cubicBezTo>
                    <a:pt x="3152140" y="452882"/>
                    <a:pt x="3030220" y="574802"/>
                    <a:pt x="2879725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955" y="1698698"/>
            <a:ext cx="2006584" cy="28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35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FONCTIONNALITÉS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033949"/>
            <a:ext cx="16315868" cy="102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Écran clé : score &amp; alerte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5438" y="3007728"/>
            <a:ext cx="17230954" cy="57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1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Dès la sortie, visualisez immédiatement le risque de réadmission et les actions prioritaires.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7779" y="8010573"/>
            <a:ext cx="1680543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101" spc="-12">
                <a:solidFill>
                  <a:srgbClr val="4B4A4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        </a:t>
            </a:r>
            <a:r>
              <a:rPr lang="en-US" b="true" sz="2101" spc="-12">
                <a:solidFill>
                  <a:srgbClr val="4B4A4A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Exemple démo :</a:t>
            </a:r>
            <a:r>
              <a:rPr lang="en-US" sz="2101" spc="-12">
                <a:solidFill>
                  <a:srgbClr val="4B4A4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Patient avec un risque de </a:t>
            </a:r>
            <a:r>
              <a:rPr lang="en-US" sz="2101" spc="-12">
                <a:solidFill>
                  <a:srgbClr val="006747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85%</a:t>
            </a:r>
            <a:r>
              <a:rPr lang="en-US" sz="2101" spc="-12">
                <a:solidFill>
                  <a:srgbClr val="4B4A4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 de réadmission, bien au-dessus du seuil d'alerte de </a:t>
            </a:r>
            <a:r>
              <a:rPr lang="en-US" sz="2101" spc="-12">
                <a:solidFill>
                  <a:srgbClr val="006747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48%</a:t>
            </a:r>
            <a:r>
              <a:rPr lang="en-US" sz="2101" spc="-12">
                <a:solidFill>
                  <a:srgbClr val="4B4A4A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.      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35724" y="4522508"/>
            <a:ext cx="5520242" cy="1520114"/>
            <a:chOff x="0" y="0"/>
            <a:chExt cx="7360323" cy="20268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60285" cy="2026779"/>
            </a:xfrm>
            <a:custGeom>
              <a:avLst/>
              <a:gdLst/>
              <a:ahLst/>
              <a:cxnLst/>
              <a:rect r="r" b="b" t="t" l="l"/>
              <a:pathLst>
                <a:path h="2026779" w="7360285">
                  <a:moveTo>
                    <a:pt x="0" y="337796"/>
                  </a:moveTo>
                  <a:cubicBezTo>
                    <a:pt x="0" y="151248"/>
                    <a:pt x="290576" y="0"/>
                    <a:pt x="648970" y="0"/>
                  </a:cubicBezTo>
                  <a:lnTo>
                    <a:pt x="6711315" y="0"/>
                  </a:lnTo>
                  <a:cubicBezTo>
                    <a:pt x="7069709" y="0"/>
                    <a:pt x="7360285" y="151248"/>
                    <a:pt x="7360285" y="337796"/>
                  </a:cubicBezTo>
                  <a:lnTo>
                    <a:pt x="7360285" y="1688982"/>
                  </a:lnTo>
                  <a:cubicBezTo>
                    <a:pt x="7360285" y="1875530"/>
                    <a:pt x="7069709" y="2026779"/>
                    <a:pt x="6711315" y="2026779"/>
                  </a:cubicBezTo>
                  <a:lnTo>
                    <a:pt x="648970" y="2026779"/>
                  </a:lnTo>
                  <a:cubicBezTo>
                    <a:pt x="290576" y="2026869"/>
                    <a:pt x="0" y="1875597"/>
                    <a:pt x="0" y="1688982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867816" y="4092283"/>
            <a:ext cx="855164" cy="864251"/>
            <a:chOff x="0" y="0"/>
            <a:chExt cx="1140219" cy="11523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0206" cy="1152398"/>
            </a:xfrm>
            <a:custGeom>
              <a:avLst/>
              <a:gdLst/>
              <a:ahLst/>
              <a:cxnLst/>
              <a:rect r="r" b="b" t="t" l="l"/>
              <a:pathLst>
                <a:path h="1152398" w="1140206">
                  <a:moveTo>
                    <a:pt x="0" y="576199"/>
                  </a:moveTo>
                  <a:cubicBezTo>
                    <a:pt x="0" y="257937"/>
                    <a:pt x="255270" y="0"/>
                    <a:pt x="570103" y="0"/>
                  </a:cubicBezTo>
                  <a:cubicBezTo>
                    <a:pt x="884936" y="0"/>
                    <a:pt x="1140206" y="257937"/>
                    <a:pt x="1140206" y="576199"/>
                  </a:cubicBezTo>
                  <a:cubicBezTo>
                    <a:pt x="1140206" y="894461"/>
                    <a:pt x="884936" y="1152398"/>
                    <a:pt x="570103" y="1152398"/>
                  </a:cubicBezTo>
                  <a:cubicBezTo>
                    <a:pt x="255270" y="1152398"/>
                    <a:pt x="0" y="894334"/>
                    <a:pt x="0" y="576199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134066" y="5039754"/>
            <a:ext cx="4600204" cy="43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10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Probabilité de réadmission à 30 jours</a:t>
            </a:r>
          </a:p>
        </p:txBody>
      </p:sp>
      <p:sp>
        <p:nvSpPr>
          <p:cNvPr name="Freeform 17" id="17" descr="1 circle"/>
          <p:cNvSpPr/>
          <p:nvPr/>
        </p:nvSpPr>
        <p:spPr>
          <a:xfrm flipH="false" flipV="false" rot="0">
            <a:off x="3072365" y="4288869"/>
            <a:ext cx="446951" cy="471068"/>
          </a:xfrm>
          <a:custGeom>
            <a:avLst/>
            <a:gdLst/>
            <a:ahLst/>
            <a:cxnLst/>
            <a:rect r="r" b="b" t="t" l="l"/>
            <a:pathLst>
              <a:path h="471068" w="446951">
                <a:moveTo>
                  <a:pt x="0" y="0"/>
                </a:moveTo>
                <a:lnTo>
                  <a:pt x="446951" y="0"/>
                </a:lnTo>
                <a:lnTo>
                  <a:pt x="446951" y="471069"/>
                </a:lnTo>
                <a:lnTo>
                  <a:pt x="0" y="471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5395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208481" y="4567952"/>
            <a:ext cx="5583155" cy="1474670"/>
            <a:chOff x="0" y="0"/>
            <a:chExt cx="7444207" cy="19662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44105" cy="1966181"/>
            </a:xfrm>
            <a:custGeom>
              <a:avLst/>
              <a:gdLst/>
              <a:ahLst/>
              <a:cxnLst/>
              <a:rect r="r" b="b" t="t" l="l"/>
              <a:pathLst>
                <a:path h="1966181" w="7444105">
                  <a:moveTo>
                    <a:pt x="0" y="327686"/>
                  </a:moveTo>
                  <a:cubicBezTo>
                    <a:pt x="0" y="146704"/>
                    <a:pt x="287528" y="0"/>
                    <a:pt x="642239" y="0"/>
                  </a:cubicBezTo>
                  <a:lnTo>
                    <a:pt x="6801866" y="0"/>
                  </a:lnTo>
                  <a:cubicBezTo>
                    <a:pt x="7156577" y="0"/>
                    <a:pt x="7444105" y="146704"/>
                    <a:pt x="7444105" y="327686"/>
                  </a:cubicBezTo>
                  <a:lnTo>
                    <a:pt x="7444105" y="1638495"/>
                  </a:lnTo>
                  <a:cubicBezTo>
                    <a:pt x="7444105" y="1819478"/>
                    <a:pt x="7156577" y="1966181"/>
                    <a:pt x="6801866" y="1966181"/>
                  </a:cubicBezTo>
                  <a:lnTo>
                    <a:pt x="642239" y="1966181"/>
                  </a:lnTo>
                  <a:cubicBezTo>
                    <a:pt x="287528" y="1966265"/>
                    <a:pt x="0" y="1819478"/>
                    <a:pt x="0" y="1638495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66814" y="4141851"/>
            <a:ext cx="864594" cy="855059"/>
            <a:chOff x="0" y="0"/>
            <a:chExt cx="1152792" cy="11400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52779" cy="1140079"/>
            </a:xfrm>
            <a:custGeom>
              <a:avLst/>
              <a:gdLst/>
              <a:ahLst/>
              <a:cxnLst/>
              <a:rect r="r" b="b" t="t" l="l"/>
              <a:pathLst>
                <a:path h="1140079" w="1152779">
                  <a:moveTo>
                    <a:pt x="0" y="570103"/>
                  </a:moveTo>
                  <a:cubicBezTo>
                    <a:pt x="0" y="255270"/>
                    <a:pt x="258064" y="0"/>
                    <a:pt x="576453" y="0"/>
                  </a:cubicBezTo>
                  <a:cubicBezTo>
                    <a:pt x="894842" y="0"/>
                    <a:pt x="1152779" y="255270"/>
                    <a:pt x="1152779" y="570103"/>
                  </a:cubicBezTo>
                  <a:cubicBezTo>
                    <a:pt x="1152779" y="884936"/>
                    <a:pt x="894715" y="1140079"/>
                    <a:pt x="576453" y="1140079"/>
                  </a:cubicBezTo>
                  <a:cubicBezTo>
                    <a:pt x="258191" y="1140079"/>
                    <a:pt x="0" y="884809"/>
                    <a:pt x="0" y="57010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813794" y="5078035"/>
            <a:ext cx="4652791" cy="43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10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Seuil d’alerte calibré</a:t>
            </a:r>
          </a:p>
        </p:txBody>
      </p:sp>
      <p:sp>
        <p:nvSpPr>
          <p:cNvPr name="Freeform 23" id="23" descr="2 circles"/>
          <p:cNvSpPr/>
          <p:nvPr/>
        </p:nvSpPr>
        <p:spPr>
          <a:xfrm flipH="false" flipV="false" rot="0">
            <a:off x="8773668" y="4343933"/>
            <a:ext cx="451837" cy="451837"/>
          </a:xfrm>
          <a:custGeom>
            <a:avLst/>
            <a:gdLst/>
            <a:ahLst/>
            <a:cxnLst/>
            <a:rect r="r" b="b" t="t" l="l"/>
            <a:pathLst>
              <a:path h="451837" w="451837">
                <a:moveTo>
                  <a:pt x="0" y="0"/>
                </a:moveTo>
                <a:lnTo>
                  <a:pt x="451837" y="0"/>
                </a:lnTo>
                <a:lnTo>
                  <a:pt x="451837" y="451838"/>
                </a:lnTo>
                <a:lnTo>
                  <a:pt x="0" y="4518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2033761" y="4582249"/>
            <a:ext cx="5520242" cy="1460373"/>
            <a:chOff x="0" y="0"/>
            <a:chExt cx="7360323" cy="19471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60412" cy="1947164"/>
            </a:xfrm>
            <a:custGeom>
              <a:avLst/>
              <a:gdLst/>
              <a:ahLst/>
              <a:cxnLst/>
              <a:rect r="r" b="b" t="t" l="l"/>
              <a:pathLst>
                <a:path h="1947164" w="7360412">
                  <a:moveTo>
                    <a:pt x="0" y="324549"/>
                  </a:moveTo>
                  <a:cubicBezTo>
                    <a:pt x="0" y="145288"/>
                    <a:pt x="290576" y="0"/>
                    <a:pt x="649097" y="0"/>
                  </a:cubicBezTo>
                  <a:lnTo>
                    <a:pt x="6711315" y="0"/>
                  </a:lnTo>
                  <a:cubicBezTo>
                    <a:pt x="7069836" y="0"/>
                    <a:pt x="7360412" y="145288"/>
                    <a:pt x="7360412" y="324549"/>
                  </a:cubicBezTo>
                  <a:lnTo>
                    <a:pt x="7360412" y="1622615"/>
                  </a:lnTo>
                  <a:cubicBezTo>
                    <a:pt x="7360412" y="1801876"/>
                    <a:pt x="7069836" y="1947164"/>
                    <a:pt x="6711315" y="1947164"/>
                  </a:cubicBezTo>
                  <a:lnTo>
                    <a:pt x="649097" y="1947164"/>
                  </a:lnTo>
                  <a:cubicBezTo>
                    <a:pt x="290576" y="1947164"/>
                    <a:pt x="0" y="1801876"/>
                    <a:pt x="0" y="1622615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365395" y="4152338"/>
            <a:ext cx="855059" cy="864594"/>
            <a:chOff x="0" y="0"/>
            <a:chExt cx="1140079" cy="11527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0079" cy="1152779"/>
            </a:xfrm>
            <a:custGeom>
              <a:avLst/>
              <a:gdLst/>
              <a:ahLst/>
              <a:cxnLst/>
              <a:rect r="r" b="b" t="t" l="l"/>
              <a:pathLst>
                <a:path h="1152779" w="1140079">
                  <a:moveTo>
                    <a:pt x="0" y="576453"/>
                  </a:moveTo>
                  <a:cubicBezTo>
                    <a:pt x="0" y="258064"/>
                    <a:pt x="255270" y="0"/>
                    <a:pt x="570103" y="0"/>
                  </a:cubicBezTo>
                  <a:cubicBezTo>
                    <a:pt x="884936" y="0"/>
                    <a:pt x="1140079" y="258064"/>
                    <a:pt x="1140079" y="576453"/>
                  </a:cubicBezTo>
                  <a:cubicBezTo>
                    <a:pt x="1140079" y="894842"/>
                    <a:pt x="884809" y="1152779"/>
                    <a:pt x="570103" y="1152779"/>
                  </a:cubicBezTo>
                  <a:cubicBezTo>
                    <a:pt x="255397" y="1152779"/>
                    <a:pt x="0" y="894715"/>
                    <a:pt x="0" y="57645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632398" y="5099952"/>
            <a:ext cx="4600356" cy="43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10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Badge "suivi renforcé"</a:t>
            </a:r>
          </a:p>
        </p:txBody>
      </p:sp>
      <p:sp>
        <p:nvSpPr>
          <p:cNvPr name="Freeform 29" id="29" descr="3-Circle"/>
          <p:cNvSpPr/>
          <p:nvPr/>
        </p:nvSpPr>
        <p:spPr>
          <a:xfrm flipH="false" flipV="false" rot="0">
            <a:off x="14570345" y="4361097"/>
            <a:ext cx="447075" cy="447075"/>
          </a:xfrm>
          <a:custGeom>
            <a:avLst/>
            <a:gdLst/>
            <a:ahLst/>
            <a:cxnLst/>
            <a:rect r="r" b="b" t="t" l="l"/>
            <a:pathLst>
              <a:path h="447075" w="447075">
                <a:moveTo>
                  <a:pt x="0" y="0"/>
                </a:moveTo>
                <a:lnTo>
                  <a:pt x="447075" y="0"/>
                </a:lnTo>
                <a:lnTo>
                  <a:pt x="447075" y="447075"/>
                </a:lnTo>
                <a:lnTo>
                  <a:pt x="0" y="4470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224477"/>
            <a:ext cx="2096938" cy="431044"/>
            <a:chOff x="0" y="0"/>
            <a:chExt cx="2795918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5905" cy="574802"/>
            </a:xfrm>
            <a:custGeom>
              <a:avLst/>
              <a:gdLst/>
              <a:ahLst/>
              <a:cxnLst/>
              <a:rect r="r" b="b" t="t" l="l"/>
              <a:pathLst>
                <a:path h="574802" w="2795905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2523490" y="0"/>
                  </a:lnTo>
                  <a:cubicBezTo>
                    <a:pt x="2673985" y="0"/>
                    <a:pt x="2795905" y="121920"/>
                    <a:pt x="2795905" y="272415"/>
                  </a:cubicBezTo>
                  <a:lnTo>
                    <a:pt x="2795905" y="302387"/>
                  </a:lnTo>
                  <a:cubicBezTo>
                    <a:pt x="2795905" y="452882"/>
                    <a:pt x="2673985" y="574802"/>
                    <a:pt x="2523490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955" y="1290704"/>
            <a:ext cx="1693916" cy="2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35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TRANSPARENCE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626137"/>
            <a:ext cx="16315868" cy="191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Pourquoi ce score ? La confiance par l'explication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3844052"/>
            <a:ext cx="16315868" cy="103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Nous ne vous donnons pas une « boîte noire ». Chaque alerte s'accompagne d'une explication claire des facteurs qui influencent le risque, vous permettant de communiquer en toute confiance avec l'équipe de suivi.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35902" y="5821461"/>
            <a:ext cx="3866359" cy="3464090"/>
            <a:chOff x="0" y="0"/>
            <a:chExt cx="5155146" cy="46187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5184" cy="4618863"/>
            </a:xfrm>
            <a:custGeom>
              <a:avLst/>
              <a:gdLst/>
              <a:ahLst/>
              <a:cxnLst/>
              <a:rect r="r" b="b" t="t" l="l"/>
              <a:pathLst>
                <a:path h="4618863" w="5155184">
                  <a:moveTo>
                    <a:pt x="0" y="769874"/>
                  </a:moveTo>
                  <a:cubicBezTo>
                    <a:pt x="0" y="344678"/>
                    <a:pt x="344678" y="0"/>
                    <a:pt x="769874" y="0"/>
                  </a:cubicBezTo>
                  <a:lnTo>
                    <a:pt x="4385310" y="0"/>
                  </a:lnTo>
                  <a:cubicBezTo>
                    <a:pt x="4810506" y="0"/>
                    <a:pt x="5155184" y="344678"/>
                    <a:pt x="5155184" y="769874"/>
                  </a:cubicBezTo>
                  <a:lnTo>
                    <a:pt x="5155184" y="3848989"/>
                  </a:lnTo>
                  <a:cubicBezTo>
                    <a:pt x="5155184" y="4274185"/>
                    <a:pt x="4810506" y="4618863"/>
                    <a:pt x="4385310" y="4618863"/>
                  </a:cubicBezTo>
                  <a:lnTo>
                    <a:pt x="769874" y="4618863"/>
                  </a:lnTo>
                  <a:cubicBezTo>
                    <a:pt x="344678" y="4618736"/>
                    <a:pt x="0" y="4274185"/>
                    <a:pt x="0" y="3848989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201999" y="5357231"/>
            <a:ext cx="934183" cy="886520"/>
            <a:chOff x="0" y="0"/>
            <a:chExt cx="1245578" cy="11820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5616" cy="1181989"/>
            </a:xfrm>
            <a:custGeom>
              <a:avLst/>
              <a:gdLst/>
              <a:ahLst/>
              <a:cxnLst/>
              <a:rect r="r" b="b" t="t" l="l"/>
              <a:pathLst>
                <a:path h="1181989" w="1245616">
                  <a:moveTo>
                    <a:pt x="0" y="591058"/>
                  </a:moveTo>
                  <a:cubicBezTo>
                    <a:pt x="0" y="264668"/>
                    <a:pt x="278892" y="0"/>
                    <a:pt x="622808" y="0"/>
                  </a:cubicBezTo>
                  <a:cubicBezTo>
                    <a:pt x="966724" y="0"/>
                    <a:pt x="1245616" y="264668"/>
                    <a:pt x="1245616" y="591058"/>
                  </a:cubicBezTo>
                  <a:cubicBezTo>
                    <a:pt x="1245616" y="917448"/>
                    <a:pt x="966724" y="1181989"/>
                    <a:pt x="622808" y="1181989"/>
                  </a:cubicBezTo>
                  <a:cubicBezTo>
                    <a:pt x="278892" y="1181989"/>
                    <a:pt x="0" y="917448"/>
                    <a:pt x="0" y="59105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15" id="15" descr="patient"/>
          <p:cNvSpPr/>
          <p:nvPr/>
        </p:nvSpPr>
        <p:spPr>
          <a:xfrm flipH="false" flipV="false" rot="0">
            <a:off x="2516562" y="5631771"/>
            <a:ext cx="340309" cy="340309"/>
          </a:xfrm>
          <a:custGeom>
            <a:avLst/>
            <a:gdLst/>
            <a:ahLst/>
            <a:cxnLst/>
            <a:rect r="r" b="b" t="t" l="l"/>
            <a:pathLst>
              <a:path h="340309" w="340309">
                <a:moveTo>
                  <a:pt x="0" y="0"/>
                </a:moveTo>
                <a:lnTo>
                  <a:pt x="340309" y="0"/>
                </a:lnTo>
                <a:lnTo>
                  <a:pt x="340309" y="340309"/>
                </a:lnTo>
                <a:lnTo>
                  <a:pt x="0" y="3403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76211" y="6536455"/>
            <a:ext cx="3221965" cy="97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Facteurs Patient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6211" y="7623191"/>
            <a:ext cx="3221965" cy="856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Âge, comorbidités,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historique médical.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023414" y="5765225"/>
            <a:ext cx="3866359" cy="3464090"/>
            <a:chOff x="0" y="0"/>
            <a:chExt cx="5155146" cy="46187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5184" cy="4618863"/>
            </a:xfrm>
            <a:custGeom>
              <a:avLst/>
              <a:gdLst/>
              <a:ahLst/>
              <a:cxnLst/>
              <a:rect r="r" b="b" t="t" l="l"/>
              <a:pathLst>
                <a:path h="4618863" w="5155184">
                  <a:moveTo>
                    <a:pt x="0" y="769874"/>
                  </a:moveTo>
                  <a:cubicBezTo>
                    <a:pt x="0" y="344678"/>
                    <a:pt x="344678" y="0"/>
                    <a:pt x="769874" y="0"/>
                  </a:cubicBezTo>
                  <a:lnTo>
                    <a:pt x="4385310" y="0"/>
                  </a:lnTo>
                  <a:cubicBezTo>
                    <a:pt x="4810506" y="0"/>
                    <a:pt x="5155184" y="344678"/>
                    <a:pt x="5155184" y="769874"/>
                  </a:cubicBezTo>
                  <a:lnTo>
                    <a:pt x="5155184" y="3848989"/>
                  </a:lnTo>
                  <a:cubicBezTo>
                    <a:pt x="5155184" y="4274185"/>
                    <a:pt x="4810506" y="4618863"/>
                    <a:pt x="4385310" y="4618863"/>
                  </a:cubicBezTo>
                  <a:lnTo>
                    <a:pt x="769874" y="4618863"/>
                  </a:lnTo>
                  <a:cubicBezTo>
                    <a:pt x="344678" y="4618736"/>
                    <a:pt x="0" y="4274185"/>
                    <a:pt x="0" y="3848989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380831" y="5357231"/>
            <a:ext cx="934183" cy="886520"/>
            <a:chOff x="0" y="0"/>
            <a:chExt cx="1245578" cy="11820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5616" cy="1181989"/>
            </a:xfrm>
            <a:custGeom>
              <a:avLst/>
              <a:gdLst/>
              <a:ahLst/>
              <a:cxnLst/>
              <a:rect r="r" b="b" t="t" l="l"/>
              <a:pathLst>
                <a:path h="1181989" w="1245616">
                  <a:moveTo>
                    <a:pt x="0" y="591058"/>
                  </a:moveTo>
                  <a:cubicBezTo>
                    <a:pt x="0" y="264668"/>
                    <a:pt x="278892" y="0"/>
                    <a:pt x="622808" y="0"/>
                  </a:cubicBezTo>
                  <a:cubicBezTo>
                    <a:pt x="966724" y="0"/>
                    <a:pt x="1245616" y="264668"/>
                    <a:pt x="1245616" y="591058"/>
                  </a:cubicBezTo>
                  <a:cubicBezTo>
                    <a:pt x="1245616" y="917448"/>
                    <a:pt x="966724" y="1181989"/>
                    <a:pt x="622808" y="1181989"/>
                  </a:cubicBezTo>
                  <a:cubicBezTo>
                    <a:pt x="278892" y="1181989"/>
                    <a:pt x="0" y="917448"/>
                    <a:pt x="0" y="59105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344654" y="6556467"/>
            <a:ext cx="3221965" cy="97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Constantes Biologiques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44654" y="7667044"/>
            <a:ext cx="3221965" cy="57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Analyses sanguines,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tension, autres indicateurs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vitaux.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211023" y="5765225"/>
            <a:ext cx="3866359" cy="3464090"/>
            <a:chOff x="0" y="0"/>
            <a:chExt cx="5155146" cy="46187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55184" cy="4618863"/>
            </a:xfrm>
            <a:custGeom>
              <a:avLst/>
              <a:gdLst/>
              <a:ahLst/>
              <a:cxnLst/>
              <a:rect r="r" b="b" t="t" l="l"/>
              <a:pathLst>
                <a:path h="4618863" w="5155184">
                  <a:moveTo>
                    <a:pt x="0" y="769874"/>
                  </a:moveTo>
                  <a:cubicBezTo>
                    <a:pt x="0" y="344678"/>
                    <a:pt x="344678" y="0"/>
                    <a:pt x="769874" y="0"/>
                  </a:cubicBezTo>
                  <a:lnTo>
                    <a:pt x="4385310" y="0"/>
                  </a:lnTo>
                  <a:cubicBezTo>
                    <a:pt x="4810506" y="0"/>
                    <a:pt x="5155184" y="344678"/>
                    <a:pt x="5155184" y="769874"/>
                  </a:cubicBezTo>
                  <a:lnTo>
                    <a:pt x="5155184" y="3848989"/>
                  </a:lnTo>
                  <a:cubicBezTo>
                    <a:pt x="5155184" y="4274185"/>
                    <a:pt x="4810506" y="4618863"/>
                    <a:pt x="4385310" y="4618863"/>
                  </a:cubicBezTo>
                  <a:lnTo>
                    <a:pt x="769874" y="4618863"/>
                  </a:lnTo>
                  <a:cubicBezTo>
                    <a:pt x="344678" y="4618736"/>
                    <a:pt x="0" y="4274185"/>
                    <a:pt x="0" y="3848989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677111" y="5300996"/>
            <a:ext cx="934183" cy="886520"/>
            <a:chOff x="0" y="0"/>
            <a:chExt cx="1245578" cy="11820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45616" cy="1181989"/>
            </a:xfrm>
            <a:custGeom>
              <a:avLst/>
              <a:gdLst/>
              <a:ahLst/>
              <a:cxnLst/>
              <a:rect r="r" b="b" t="t" l="l"/>
              <a:pathLst>
                <a:path h="1181989" w="1245616">
                  <a:moveTo>
                    <a:pt x="0" y="591058"/>
                  </a:moveTo>
                  <a:cubicBezTo>
                    <a:pt x="0" y="264668"/>
                    <a:pt x="278892" y="0"/>
                    <a:pt x="622808" y="0"/>
                  </a:cubicBezTo>
                  <a:cubicBezTo>
                    <a:pt x="966724" y="0"/>
                    <a:pt x="1245616" y="264668"/>
                    <a:pt x="1245616" y="591058"/>
                  </a:cubicBezTo>
                  <a:cubicBezTo>
                    <a:pt x="1245616" y="917448"/>
                    <a:pt x="966724" y="1181989"/>
                    <a:pt x="622808" y="1181989"/>
                  </a:cubicBezTo>
                  <a:cubicBezTo>
                    <a:pt x="278892" y="1181989"/>
                    <a:pt x="0" y="917448"/>
                    <a:pt x="0" y="59105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551322" y="6480210"/>
            <a:ext cx="3221965" cy="97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Type de Séjour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51322" y="7623191"/>
            <a:ext cx="3221965" cy="57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Durée, motif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d'hospitalisation,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services impliqués.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834861" y="5822423"/>
            <a:ext cx="3866359" cy="3464090"/>
            <a:chOff x="0" y="0"/>
            <a:chExt cx="5155146" cy="46187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55184" cy="4618863"/>
            </a:xfrm>
            <a:custGeom>
              <a:avLst/>
              <a:gdLst/>
              <a:ahLst/>
              <a:cxnLst/>
              <a:rect r="r" b="b" t="t" l="l"/>
              <a:pathLst>
                <a:path h="4618863" w="5155184">
                  <a:moveTo>
                    <a:pt x="0" y="769874"/>
                  </a:moveTo>
                  <a:cubicBezTo>
                    <a:pt x="0" y="344678"/>
                    <a:pt x="344678" y="0"/>
                    <a:pt x="769874" y="0"/>
                  </a:cubicBezTo>
                  <a:lnTo>
                    <a:pt x="4385310" y="0"/>
                  </a:lnTo>
                  <a:cubicBezTo>
                    <a:pt x="4810506" y="0"/>
                    <a:pt x="5155184" y="344678"/>
                    <a:pt x="5155184" y="769874"/>
                  </a:cubicBezTo>
                  <a:lnTo>
                    <a:pt x="5155184" y="3848989"/>
                  </a:lnTo>
                  <a:cubicBezTo>
                    <a:pt x="5155184" y="4274185"/>
                    <a:pt x="4810506" y="4618863"/>
                    <a:pt x="4385310" y="4618863"/>
                  </a:cubicBezTo>
                  <a:lnTo>
                    <a:pt x="769874" y="4618863"/>
                  </a:lnTo>
                  <a:cubicBezTo>
                    <a:pt x="344678" y="4618736"/>
                    <a:pt x="0" y="4274185"/>
                    <a:pt x="0" y="3848989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152245" y="5357231"/>
            <a:ext cx="934183" cy="886520"/>
            <a:chOff x="0" y="0"/>
            <a:chExt cx="1245578" cy="11820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45616" cy="1181989"/>
            </a:xfrm>
            <a:custGeom>
              <a:avLst/>
              <a:gdLst/>
              <a:ahLst/>
              <a:cxnLst/>
              <a:rect r="r" b="b" t="t" l="l"/>
              <a:pathLst>
                <a:path h="1181989" w="1245616">
                  <a:moveTo>
                    <a:pt x="0" y="591058"/>
                  </a:moveTo>
                  <a:cubicBezTo>
                    <a:pt x="0" y="264668"/>
                    <a:pt x="278892" y="0"/>
                    <a:pt x="622808" y="0"/>
                  </a:cubicBezTo>
                  <a:cubicBezTo>
                    <a:pt x="966724" y="0"/>
                    <a:pt x="1245616" y="264668"/>
                    <a:pt x="1245616" y="591058"/>
                  </a:cubicBezTo>
                  <a:cubicBezTo>
                    <a:pt x="1245616" y="917448"/>
                    <a:pt x="966724" y="1181989"/>
                    <a:pt x="622808" y="1181989"/>
                  </a:cubicBezTo>
                  <a:cubicBezTo>
                    <a:pt x="278892" y="1181989"/>
                    <a:pt x="0" y="917448"/>
                    <a:pt x="0" y="59105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34" id="34" descr="Hospital logo"/>
          <p:cNvSpPr/>
          <p:nvPr/>
        </p:nvSpPr>
        <p:spPr>
          <a:xfrm flipH="false" flipV="false" rot="0">
            <a:off x="6448701" y="5633676"/>
            <a:ext cx="340309" cy="340309"/>
          </a:xfrm>
          <a:custGeom>
            <a:avLst/>
            <a:gdLst/>
            <a:ahLst/>
            <a:cxnLst/>
            <a:rect r="r" b="b" t="t" l="l"/>
            <a:pathLst>
              <a:path h="340309" w="340309">
                <a:moveTo>
                  <a:pt x="0" y="0"/>
                </a:moveTo>
                <a:lnTo>
                  <a:pt x="340309" y="0"/>
                </a:lnTo>
                <a:lnTo>
                  <a:pt x="340309" y="340309"/>
                </a:lnTo>
                <a:lnTo>
                  <a:pt x="0" y="3403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137985" y="6541218"/>
            <a:ext cx="3221965" cy="97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Médication &amp; Traitement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37985" y="7623191"/>
            <a:ext cx="3221965" cy="57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Prescriptions actuelles et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passées, interventions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chirurgicales.</a:t>
            </a:r>
          </a:p>
        </p:txBody>
      </p:sp>
      <p:sp>
        <p:nvSpPr>
          <p:cNvPr name="Freeform 37" id="37" descr="electrocardiogram"/>
          <p:cNvSpPr/>
          <p:nvPr/>
        </p:nvSpPr>
        <p:spPr>
          <a:xfrm flipH="false" flipV="false" rot="0">
            <a:off x="10658227" y="5631771"/>
            <a:ext cx="340309" cy="340309"/>
          </a:xfrm>
          <a:custGeom>
            <a:avLst/>
            <a:gdLst/>
            <a:ahLst/>
            <a:cxnLst/>
            <a:rect r="r" b="b" t="t" l="l"/>
            <a:pathLst>
              <a:path h="340309" w="340309">
                <a:moveTo>
                  <a:pt x="0" y="0"/>
                </a:moveTo>
                <a:lnTo>
                  <a:pt x="340310" y="0"/>
                </a:lnTo>
                <a:lnTo>
                  <a:pt x="340310" y="340309"/>
                </a:lnTo>
                <a:lnTo>
                  <a:pt x="0" y="3403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 descr="Hospital"/>
          <p:cNvSpPr/>
          <p:nvPr/>
        </p:nvSpPr>
        <p:spPr>
          <a:xfrm flipH="false" flipV="false" rot="0">
            <a:off x="14973567" y="5559323"/>
            <a:ext cx="341262" cy="341262"/>
          </a:xfrm>
          <a:custGeom>
            <a:avLst/>
            <a:gdLst/>
            <a:ahLst/>
            <a:cxnLst/>
            <a:rect r="r" b="b" t="t" l="l"/>
            <a:pathLst>
              <a:path h="341262" w="341262">
                <a:moveTo>
                  <a:pt x="0" y="0"/>
                </a:moveTo>
                <a:lnTo>
                  <a:pt x="341261" y="0"/>
                </a:lnTo>
                <a:lnTo>
                  <a:pt x="341261" y="341262"/>
                </a:lnTo>
                <a:lnTo>
                  <a:pt x="0" y="3412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440885"/>
            <a:ext cx="2012785" cy="431044"/>
            <a:chOff x="0" y="0"/>
            <a:chExt cx="2683713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83764" cy="574802"/>
            </a:xfrm>
            <a:custGeom>
              <a:avLst/>
              <a:gdLst/>
              <a:ahLst/>
              <a:cxnLst/>
              <a:rect r="r" b="b" t="t" l="l"/>
              <a:pathLst>
                <a:path h="574802" w="2683764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2411349" y="0"/>
                  </a:lnTo>
                  <a:cubicBezTo>
                    <a:pt x="2561844" y="0"/>
                    <a:pt x="2683764" y="121920"/>
                    <a:pt x="2683764" y="272415"/>
                  </a:cubicBezTo>
                  <a:lnTo>
                    <a:pt x="2683764" y="302387"/>
                  </a:lnTo>
                  <a:cubicBezTo>
                    <a:pt x="2683764" y="452882"/>
                    <a:pt x="2561844" y="574802"/>
                    <a:pt x="2411349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955" y="1507093"/>
            <a:ext cx="1763506" cy="24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35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OPÉRATIONNEL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842554"/>
            <a:ext cx="16315868" cy="102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Justification en langage métier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2825867"/>
            <a:ext cx="16315868" cy="103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Comprendre les raisons du score de risque n'a jamais été aussi simple et sécurisé. Notre solution vous fournit une justification claire et conforme, directement là où vous en avez besoin.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41439" y="4879658"/>
            <a:ext cx="5520242" cy="4735716"/>
            <a:chOff x="0" y="0"/>
            <a:chExt cx="7360323" cy="6314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60412" cy="6314313"/>
            </a:xfrm>
            <a:custGeom>
              <a:avLst/>
              <a:gdLst/>
              <a:ahLst/>
              <a:cxnLst/>
              <a:rect r="r" b="b" t="t" l="l"/>
              <a:pathLst>
                <a:path h="6314313" w="7360412">
                  <a:moveTo>
                    <a:pt x="0" y="1052449"/>
                  </a:moveTo>
                  <a:cubicBezTo>
                    <a:pt x="0" y="471170"/>
                    <a:pt x="471170" y="0"/>
                    <a:pt x="1052449" y="0"/>
                  </a:cubicBezTo>
                  <a:lnTo>
                    <a:pt x="6307963" y="0"/>
                  </a:lnTo>
                  <a:cubicBezTo>
                    <a:pt x="6889242" y="0"/>
                    <a:pt x="7360412" y="471170"/>
                    <a:pt x="7360412" y="1052449"/>
                  </a:cubicBezTo>
                  <a:lnTo>
                    <a:pt x="7360412" y="5261864"/>
                  </a:lnTo>
                  <a:cubicBezTo>
                    <a:pt x="7360412" y="5843143"/>
                    <a:pt x="6889242" y="6314313"/>
                    <a:pt x="6307963" y="6314313"/>
                  </a:cubicBezTo>
                  <a:lnTo>
                    <a:pt x="1052449" y="6314313"/>
                  </a:lnTo>
                  <a:cubicBezTo>
                    <a:pt x="471170" y="6314313"/>
                    <a:pt x="0" y="5843143"/>
                    <a:pt x="0" y="5261864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630005" y="4229548"/>
            <a:ext cx="1343120" cy="1369809"/>
            <a:chOff x="0" y="0"/>
            <a:chExt cx="1790827" cy="18264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0954" cy="1826514"/>
            </a:xfrm>
            <a:custGeom>
              <a:avLst/>
              <a:gdLst/>
              <a:ahLst/>
              <a:cxnLst/>
              <a:rect r="r" b="b" t="t" l="l"/>
              <a:pathLst>
                <a:path h="1826514" w="1790954">
                  <a:moveTo>
                    <a:pt x="0" y="913257"/>
                  </a:moveTo>
                  <a:cubicBezTo>
                    <a:pt x="0" y="408813"/>
                    <a:pt x="400939" y="0"/>
                    <a:pt x="895477" y="0"/>
                  </a:cubicBezTo>
                  <a:cubicBezTo>
                    <a:pt x="1390015" y="0"/>
                    <a:pt x="1790954" y="408813"/>
                    <a:pt x="1790954" y="913257"/>
                  </a:cubicBezTo>
                  <a:cubicBezTo>
                    <a:pt x="1790954" y="1417701"/>
                    <a:pt x="1390015" y="1826514"/>
                    <a:pt x="895477" y="1826514"/>
                  </a:cubicBezTo>
                  <a:cubicBezTo>
                    <a:pt x="400939" y="1826514"/>
                    <a:pt x="0" y="1417574"/>
                    <a:pt x="0" y="913257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40085" y="5852017"/>
            <a:ext cx="4600356" cy="130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Analyse Locale et Pertinente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7672" y="7033136"/>
            <a:ext cx="4600356" cy="74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Le brief est généré directement sur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votre poste, à partir de comptes-rendus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masqués, pour une pertinence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contextuelle maximale.</a:t>
            </a:r>
          </a:p>
        </p:txBody>
      </p:sp>
      <p:sp>
        <p:nvSpPr>
          <p:cNvPr name="Freeform 17" id="17" descr="server"/>
          <p:cNvSpPr/>
          <p:nvPr/>
        </p:nvSpPr>
        <p:spPr>
          <a:xfrm flipH="false" flipV="false" rot="0">
            <a:off x="2926461" y="4526956"/>
            <a:ext cx="751161" cy="751161"/>
          </a:xfrm>
          <a:custGeom>
            <a:avLst/>
            <a:gdLst/>
            <a:ahLst/>
            <a:cxnLst/>
            <a:rect r="r" b="b" t="t" l="l"/>
            <a:pathLst>
              <a:path h="751161" w="751161">
                <a:moveTo>
                  <a:pt x="0" y="0"/>
                </a:moveTo>
                <a:lnTo>
                  <a:pt x="751161" y="0"/>
                </a:lnTo>
                <a:lnTo>
                  <a:pt x="751161" y="751161"/>
                </a:lnTo>
                <a:lnTo>
                  <a:pt x="0" y="7511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214205" y="4953057"/>
            <a:ext cx="5583155" cy="4687100"/>
            <a:chOff x="0" y="0"/>
            <a:chExt cx="7444207" cy="62494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44232" cy="6249543"/>
            </a:xfrm>
            <a:custGeom>
              <a:avLst/>
              <a:gdLst/>
              <a:ahLst/>
              <a:cxnLst/>
              <a:rect r="r" b="b" t="t" l="l"/>
              <a:pathLst>
                <a:path h="6249543" w="7444232">
                  <a:moveTo>
                    <a:pt x="0" y="1041654"/>
                  </a:moveTo>
                  <a:cubicBezTo>
                    <a:pt x="0" y="466344"/>
                    <a:pt x="466344" y="0"/>
                    <a:pt x="1041654" y="0"/>
                  </a:cubicBezTo>
                  <a:lnTo>
                    <a:pt x="6402578" y="0"/>
                  </a:lnTo>
                  <a:cubicBezTo>
                    <a:pt x="6977888" y="0"/>
                    <a:pt x="7444232" y="466344"/>
                    <a:pt x="7444232" y="1041654"/>
                  </a:cubicBezTo>
                  <a:lnTo>
                    <a:pt x="7444232" y="5207889"/>
                  </a:lnTo>
                  <a:cubicBezTo>
                    <a:pt x="7444232" y="5783199"/>
                    <a:pt x="6977888" y="6249543"/>
                    <a:pt x="6402578" y="6249543"/>
                  </a:cubicBezTo>
                  <a:lnTo>
                    <a:pt x="1041654" y="6249543"/>
                  </a:lnTo>
                  <a:cubicBezTo>
                    <a:pt x="466344" y="6249416"/>
                    <a:pt x="0" y="5783072"/>
                    <a:pt x="0" y="5207889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819509" y="5914939"/>
            <a:ext cx="4652791" cy="129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Protection des Données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19509" y="7131320"/>
            <a:ext cx="4652791" cy="73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Aucune donnée nominative n'est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envoyée sur Internet, garantissant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une conformité stricte au RGPD et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au secret médical.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39476" y="4975936"/>
            <a:ext cx="5520242" cy="4736678"/>
            <a:chOff x="0" y="0"/>
            <a:chExt cx="7360323" cy="63155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60285" cy="6315583"/>
            </a:xfrm>
            <a:custGeom>
              <a:avLst/>
              <a:gdLst/>
              <a:ahLst/>
              <a:cxnLst/>
              <a:rect r="r" b="b" t="t" l="l"/>
              <a:pathLst>
                <a:path h="6315583" w="7360285">
                  <a:moveTo>
                    <a:pt x="0" y="1052576"/>
                  </a:moveTo>
                  <a:cubicBezTo>
                    <a:pt x="0" y="471297"/>
                    <a:pt x="471297" y="0"/>
                    <a:pt x="1052576" y="0"/>
                  </a:cubicBezTo>
                  <a:lnTo>
                    <a:pt x="6307709" y="0"/>
                  </a:lnTo>
                  <a:cubicBezTo>
                    <a:pt x="6889115" y="0"/>
                    <a:pt x="7360285" y="471297"/>
                    <a:pt x="7360285" y="1052576"/>
                  </a:cubicBezTo>
                  <a:lnTo>
                    <a:pt x="7360285" y="5263007"/>
                  </a:lnTo>
                  <a:cubicBezTo>
                    <a:pt x="7360285" y="5844413"/>
                    <a:pt x="6888988" y="6315583"/>
                    <a:pt x="6307709" y="6315583"/>
                  </a:cubicBezTo>
                  <a:lnTo>
                    <a:pt x="1052576" y="6315583"/>
                  </a:lnTo>
                  <a:cubicBezTo>
                    <a:pt x="471297" y="6315583"/>
                    <a:pt x="0" y="5844286"/>
                    <a:pt x="0" y="5263007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38122" y="5950210"/>
            <a:ext cx="4600356" cy="1304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Clarté pour le Staff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21911" y="7131320"/>
            <a:ext cx="4600356" cy="74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Le résultat est une phrase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compréhensible par tous, en langage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métier, sans jargon statistique.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399040" y="4240035"/>
            <a:ext cx="1343120" cy="1369809"/>
            <a:chOff x="0" y="0"/>
            <a:chExt cx="1790827" cy="18264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90954" cy="1826514"/>
            </a:xfrm>
            <a:custGeom>
              <a:avLst/>
              <a:gdLst/>
              <a:ahLst/>
              <a:cxnLst/>
              <a:rect r="r" b="b" t="t" l="l"/>
              <a:pathLst>
                <a:path h="1826514" w="1790954">
                  <a:moveTo>
                    <a:pt x="0" y="913257"/>
                  </a:moveTo>
                  <a:cubicBezTo>
                    <a:pt x="0" y="408813"/>
                    <a:pt x="400939" y="0"/>
                    <a:pt x="895477" y="0"/>
                  </a:cubicBezTo>
                  <a:cubicBezTo>
                    <a:pt x="1390015" y="0"/>
                    <a:pt x="1790954" y="408813"/>
                    <a:pt x="1790954" y="913257"/>
                  </a:cubicBezTo>
                  <a:cubicBezTo>
                    <a:pt x="1790954" y="1417701"/>
                    <a:pt x="1390015" y="1826514"/>
                    <a:pt x="895477" y="1826514"/>
                  </a:cubicBezTo>
                  <a:cubicBezTo>
                    <a:pt x="400939" y="1826514"/>
                    <a:pt x="0" y="1417574"/>
                    <a:pt x="0" y="913257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28" id="28" descr="Firewall"/>
          <p:cNvSpPr/>
          <p:nvPr/>
        </p:nvSpPr>
        <p:spPr>
          <a:xfrm flipH="false" flipV="false" rot="0">
            <a:off x="8711708" y="4554607"/>
            <a:ext cx="751161" cy="751161"/>
          </a:xfrm>
          <a:custGeom>
            <a:avLst/>
            <a:gdLst/>
            <a:ahLst/>
            <a:cxnLst/>
            <a:rect r="r" b="b" t="t" l="l"/>
            <a:pathLst>
              <a:path h="751161" w="751161">
                <a:moveTo>
                  <a:pt x="0" y="0"/>
                </a:moveTo>
                <a:lnTo>
                  <a:pt x="751160" y="0"/>
                </a:lnTo>
                <a:lnTo>
                  <a:pt x="751160" y="751161"/>
                </a:lnTo>
                <a:lnTo>
                  <a:pt x="0" y="751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4254820" y="4257189"/>
            <a:ext cx="1343120" cy="1369809"/>
            <a:chOff x="0" y="0"/>
            <a:chExt cx="1790827" cy="18264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90954" cy="1826514"/>
            </a:xfrm>
            <a:custGeom>
              <a:avLst/>
              <a:gdLst/>
              <a:ahLst/>
              <a:cxnLst/>
              <a:rect r="r" b="b" t="t" l="l"/>
              <a:pathLst>
                <a:path h="1826514" w="1790954">
                  <a:moveTo>
                    <a:pt x="0" y="913257"/>
                  </a:moveTo>
                  <a:cubicBezTo>
                    <a:pt x="0" y="408813"/>
                    <a:pt x="400939" y="0"/>
                    <a:pt x="895477" y="0"/>
                  </a:cubicBezTo>
                  <a:cubicBezTo>
                    <a:pt x="1390015" y="0"/>
                    <a:pt x="1790954" y="408813"/>
                    <a:pt x="1790954" y="913257"/>
                  </a:cubicBezTo>
                  <a:cubicBezTo>
                    <a:pt x="1790954" y="1417701"/>
                    <a:pt x="1390015" y="1826514"/>
                    <a:pt x="895477" y="1826514"/>
                  </a:cubicBezTo>
                  <a:cubicBezTo>
                    <a:pt x="400939" y="1826514"/>
                    <a:pt x="0" y="1417574"/>
                    <a:pt x="0" y="913257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31" id="31" descr="Social welfare"/>
          <p:cNvSpPr/>
          <p:nvPr/>
        </p:nvSpPr>
        <p:spPr>
          <a:xfrm flipH="false" flipV="false" rot="0">
            <a:off x="14551285" y="4554607"/>
            <a:ext cx="751161" cy="751161"/>
          </a:xfrm>
          <a:custGeom>
            <a:avLst/>
            <a:gdLst/>
            <a:ahLst/>
            <a:cxnLst/>
            <a:rect r="r" b="b" t="t" l="l"/>
            <a:pathLst>
              <a:path h="751161" w="751161">
                <a:moveTo>
                  <a:pt x="0" y="0"/>
                </a:moveTo>
                <a:lnTo>
                  <a:pt x="751161" y="0"/>
                </a:lnTo>
                <a:lnTo>
                  <a:pt x="751161" y="751161"/>
                </a:lnTo>
                <a:lnTo>
                  <a:pt x="0" y="7511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277607"/>
            <a:ext cx="16315868" cy="102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Deux modules, un socle unique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438" y="2750801"/>
            <a:ext cx="17230954" cy="57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4"/>
              </a:lnSpc>
            </a:pPr>
            <a:r>
              <a:rPr lang="en-US" sz="210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Readmit = cœur de l'offre. Flow = ancrage terrain.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15068" y="4496724"/>
            <a:ext cx="7058777" cy="3664239"/>
            <a:chOff x="0" y="0"/>
            <a:chExt cx="9411703" cy="48856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11716" cy="4885690"/>
            </a:xfrm>
            <a:custGeom>
              <a:avLst/>
              <a:gdLst/>
              <a:ahLst/>
              <a:cxnLst/>
              <a:rect r="r" b="b" t="t" l="l"/>
              <a:pathLst>
                <a:path h="4885690" w="9411716">
                  <a:moveTo>
                    <a:pt x="0" y="814324"/>
                  </a:moveTo>
                  <a:cubicBezTo>
                    <a:pt x="0" y="364617"/>
                    <a:pt x="364617" y="0"/>
                    <a:pt x="814324" y="0"/>
                  </a:cubicBezTo>
                  <a:lnTo>
                    <a:pt x="8597392" y="0"/>
                  </a:lnTo>
                  <a:cubicBezTo>
                    <a:pt x="9047099" y="0"/>
                    <a:pt x="9411716" y="364617"/>
                    <a:pt x="9411716" y="814324"/>
                  </a:cubicBezTo>
                  <a:lnTo>
                    <a:pt x="9411716" y="4071366"/>
                  </a:lnTo>
                  <a:cubicBezTo>
                    <a:pt x="9411716" y="4521073"/>
                    <a:pt x="9047100" y="4885690"/>
                    <a:pt x="8597392" y="4885690"/>
                  </a:cubicBezTo>
                  <a:lnTo>
                    <a:pt x="814324" y="4885690"/>
                  </a:lnTo>
                  <a:cubicBezTo>
                    <a:pt x="364617" y="4885690"/>
                    <a:pt x="0" y="4521073"/>
                    <a:pt x="0" y="4071366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897136" y="3956923"/>
            <a:ext cx="1093499" cy="1084374"/>
            <a:chOff x="0" y="0"/>
            <a:chExt cx="1457998" cy="1445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57960" cy="1445768"/>
            </a:xfrm>
            <a:custGeom>
              <a:avLst/>
              <a:gdLst/>
              <a:ahLst/>
              <a:cxnLst/>
              <a:rect r="r" b="b" t="t" l="l"/>
              <a:pathLst>
                <a:path h="1445768" w="1457960">
                  <a:moveTo>
                    <a:pt x="0" y="722884"/>
                  </a:moveTo>
                  <a:cubicBezTo>
                    <a:pt x="0" y="323723"/>
                    <a:pt x="326390" y="0"/>
                    <a:pt x="728980" y="0"/>
                  </a:cubicBezTo>
                  <a:cubicBezTo>
                    <a:pt x="1131570" y="0"/>
                    <a:pt x="1457960" y="323723"/>
                    <a:pt x="1457960" y="722884"/>
                  </a:cubicBezTo>
                  <a:cubicBezTo>
                    <a:pt x="1457960" y="1122045"/>
                    <a:pt x="1131570" y="1445768"/>
                    <a:pt x="728980" y="1445768"/>
                  </a:cubicBezTo>
                  <a:cubicBezTo>
                    <a:pt x="326390" y="1445768"/>
                    <a:pt x="0" y="1122172"/>
                    <a:pt x="0" y="722884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680173" y="5234397"/>
            <a:ext cx="5882316" cy="102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CISIA Readmit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79021" y="6135310"/>
            <a:ext cx="5882316" cy="60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Le cœur de l'offre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Coordination, direction, gouvernance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Score de risque, explicabilité SHAP, registre biais</a:t>
            </a:r>
          </a:p>
        </p:txBody>
      </p:sp>
      <p:sp>
        <p:nvSpPr>
          <p:cNvPr name="Freeform 14" id="14" descr="1 circle"/>
          <p:cNvSpPr/>
          <p:nvPr/>
        </p:nvSpPr>
        <p:spPr>
          <a:xfrm flipH="false" flipV="false" rot="0">
            <a:off x="5158692" y="4203583"/>
            <a:ext cx="571519" cy="591045"/>
          </a:xfrm>
          <a:custGeom>
            <a:avLst/>
            <a:gdLst/>
            <a:ahLst/>
            <a:cxnLst/>
            <a:rect r="r" b="b" t="t" l="l"/>
            <a:pathLst>
              <a:path h="591045" w="571519">
                <a:moveTo>
                  <a:pt x="0" y="0"/>
                </a:moveTo>
                <a:lnTo>
                  <a:pt x="571519" y="0"/>
                </a:lnTo>
                <a:lnTo>
                  <a:pt x="571519" y="591045"/>
                </a:lnTo>
                <a:lnTo>
                  <a:pt x="0" y="591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3416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134895" y="4495505"/>
            <a:ext cx="7057825" cy="3665230"/>
            <a:chOff x="0" y="0"/>
            <a:chExt cx="9410433" cy="48869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10319" cy="4886960"/>
            </a:xfrm>
            <a:custGeom>
              <a:avLst/>
              <a:gdLst/>
              <a:ahLst/>
              <a:cxnLst/>
              <a:rect r="r" b="b" t="t" l="l"/>
              <a:pathLst>
                <a:path h="4886960" w="9410319">
                  <a:moveTo>
                    <a:pt x="0" y="814451"/>
                  </a:moveTo>
                  <a:cubicBezTo>
                    <a:pt x="0" y="364617"/>
                    <a:pt x="364617" y="0"/>
                    <a:pt x="814451" y="0"/>
                  </a:cubicBezTo>
                  <a:lnTo>
                    <a:pt x="8595868" y="0"/>
                  </a:lnTo>
                  <a:cubicBezTo>
                    <a:pt x="9045702" y="0"/>
                    <a:pt x="9410319" y="364617"/>
                    <a:pt x="9410319" y="814451"/>
                  </a:cubicBezTo>
                  <a:lnTo>
                    <a:pt x="9410319" y="4072509"/>
                  </a:lnTo>
                  <a:cubicBezTo>
                    <a:pt x="9410319" y="4522343"/>
                    <a:pt x="9045702" y="4886960"/>
                    <a:pt x="8595868" y="4886960"/>
                  </a:cubicBezTo>
                  <a:lnTo>
                    <a:pt x="814451" y="4886960"/>
                  </a:lnTo>
                  <a:cubicBezTo>
                    <a:pt x="364617" y="4886960"/>
                    <a:pt x="0" y="4522343"/>
                    <a:pt x="0" y="4072509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135708" y="3896868"/>
            <a:ext cx="1092422" cy="1135313"/>
            <a:chOff x="0" y="0"/>
            <a:chExt cx="1456563" cy="15137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56436" cy="1513840"/>
            </a:xfrm>
            <a:custGeom>
              <a:avLst/>
              <a:gdLst/>
              <a:ahLst/>
              <a:cxnLst/>
              <a:rect r="r" b="b" t="t" l="l"/>
              <a:pathLst>
                <a:path h="1513840" w="1456436">
                  <a:moveTo>
                    <a:pt x="0" y="756920"/>
                  </a:moveTo>
                  <a:cubicBezTo>
                    <a:pt x="0" y="338836"/>
                    <a:pt x="326009" y="0"/>
                    <a:pt x="728218" y="0"/>
                  </a:cubicBezTo>
                  <a:cubicBezTo>
                    <a:pt x="1130427" y="0"/>
                    <a:pt x="1456436" y="338836"/>
                    <a:pt x="1456436" y="756920"/>
                  </a:cubicBezTo>
                  <a:cubicBezTo>
                    <a:pt x="1456436" y="1175004"/>
                    <a:pt x="1130427" y="1513840"/>
                    <a:pt x="728218" y="1513840"/>
                  </a:cubicBezTo>
                  <a:cubicBezTo>
                    <a:pt x="326009" y="1513840"/>
                    <a:pt x="0" y="1174877"/>
                    <a:pt x="0" y="75692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40209" y="5227644"/>
            <a:ext cx="5882469" cy="78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CISIA Flow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40209" y="6135176"/>
            <a:ext cx="5882469" cy="62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Ancrage terrain (optionnel)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Soignants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Plan d'étage, lits, alertes temps réel</a:t>
            </a:r>
          </a:p>
        </p:txBody>
      </p:sp>
      <p:sp>
        <p:nvSpPr>
          <p:cNvPr name="Freeform 21" id="21" descr="2 circles"/>
          <p:cNvSpPr/>
          <p:nvPr/>
        </p:nvSpPr>
        <p:spPr>
          <a:xfrm flipH="false" flipV="false" rot="0">
            <a:off x="13382606" y="4164730"/>
            <a:ext cx="599589" cy="599589"/>
          </a:xfrm>
          <a:custGeom>
            <a:avLst/>
            <a:gdLst/>
            <a:ahLst/>
            <a:cxnLst/>
            <a:rect r="r" b="b" t="t" l="l"/>
            <a:pathLst>
              <a:path h="599589" w="599589">
                <a:moveTo>
                  <a:pt x="0" y="0"/>
                </a:moveTo>
                <a:lnTo>
                  <a:pt x="599589" y="0"/>
                </a:lnTo>
                <a:lnTo>
                  <a:pt x="599589" y="599589"/>
                </a:lnTo>
                <a:lnTo>
                  <a:pt x="0" y="5995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424502"/>
            <a:ext cx="2644588" cy="366255"/>
            <a:chOff x="0" y="0"/>
            <a:chExt cx="3526117" cy="488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26155" cy="488315"/>
            </a:xfrm>
            <a:custGeom>
              <a:avLst/>
              <a:gdLst/>
              <a:ahLst/>
              <a:cxnLst/>
              <a:rect r="r" b="b" t="t" l="l"/>
              <a:pathLst>
                <a:path h="488315" w="3526155">
                  <a:moveTo>
                    <a:pt x="0" y="231521"/>
                  </a:moveTo>
                  <a:cubicBezTo>
                    <a:pt x="0" y="103632"/>
                    <a:pt x="103632" y="0"/>
                    <a:pt x="231521" y="0"/>
                  </a:cubicBezTo>
                  <a:lnTo>
                    <a:pt x="3294634" y="0"/>
                  </a:lnTo>
                  <a:cubicBezTo>
                    <a:pt x="3422523" y="0"/>
                    <a:pt x="3526155" y="103632"/>
                    <a:pt x="3526155" y="231521"/>
                  </a:cubicBezTo>
                  <a:lnTo>
                    <a:pt x="3526155" y="256794"/>
                  </a:lnTo>
                  <a:cubicBezTo>
                    <a:pt x="3526155" y="384683"/>
                    <a:pt x="3422523" y="488315"/>
                    <a:pt x="3294634" y="488315"/>
                  </a:cubicBezTo>
                  <a:lnTo>
                    <a:pt x="231521" y="488315"/>
                  </a:lnTo>
                  <a:cubicBezTo>
                    <a:pt x="103632" y="488315"/>
                    <a:pt x="0" y="384683"/>
                    <a:pt x="0" y="256794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7218" y="1477547"/>
            <a:ext cx="2500360" cy="21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35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SÉCURITÉ &amp; CONFORMITÉ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729807"/>
            <a:ext cx="16315868" cy="89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Sécurité &amp; Conformité : Vos Données, Votre Contrôle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3406664"/>
            <a:ext cx="16315868" cy="83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Notre solution est conçue autour des principes de sécurité et de conformité les plus stricts,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vous offrant une tranquillité d'esprit totale quant à la gestion des données de santé sensibles.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67540" y="5060775"/>
            <a:ext cx="3866359" cy="4172350"/>
            <a:chOff x="0" y="0"/>
            <a:chExt cx="5155146" cy="55631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55057" cy="5563108"/>
            </a:xfrm>
            <a:custGeom>
              <a:avLst/>
              <a:gdLst/>
              <a:ahLst/>
              <a:cxnLst/>
              <a:rect r="r" b="b" t="t" l="l"/>
              <a:pathLst>
                <a:path h="5563108" w="5155057">
                  <a:moveTo>
                    <a:pt x="0" y="859155"/>
                  </a:moveTo>
                  <a:cubicBezTo>
                    <a:pt x="0" y="384683"/>
                    <a:pt x="384683" y="0"/>
                    <a:pt x="859155" y="0"/>
                  </a:cubicBezTo>
                  <a:lnTo>
                    <a:pt x="4295902" y="0"/>
                  </a:lnTo>
                  <a:cubicBezTo>
                    <a:pt x="4770374" y="0"/>
                    <a:pt x="5155057" y="384683"/>
                    <a:pt x="5155057" y="859155"/>
                  </a:cubicBezTo>
                  <a:lnTo>
                    <a:pt x="5155057" y="4703953"/>
                  </a:lnTo>
                  <a:cubicBezTo>
                    <a:pt x="5155057" y="5178425"/>
                    <a:pt x="4770374" y="5563108"/>
                    <a:pt x="4295902" y="5563108"/>
                  </a:cubicBezTo>
                  <a:lnTo>
                    <a:pt x="859155" y="5563108"/>
                  </a:lnTo>
                  <a:cubicBezTo>
                    <a:pt x="384683" y="5563108"/>
                    <a:pt x="0" y="5178425"/>
                    <a:pt x="0" y="4703953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433638" y="4501220"/>
            <a:ext cx="934183" cy="1067638"/>
            <a:chOff x="0" y="0"/>
            <a:chExt cx="1245578" cy="14235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45616" cy="1423416"/>
            </a:xfrm>
            <a:custGeom>
              <a:avLst/>
              <a:gdLst/>
              <a:ahLst/>
              <a:cxnLst/>
              <a:rect r="r" b="b" t="t" l="l"/>
              <a:pathLst>
                <a:path h="1423416" w="1245616">
                  <a:moveTo>
                    <a:pt x="0" y="711708"/>
                  </a:moveTo>
                  <a:cubicBezTo>
                    <a:pt x="0" y="318643"/>
                    <a:pt x="278892" y="0"/>
                    <a:pt x="622808" y="0"/>
                  </a:cubicBezTo>
                  <a:cubicBezTo>
                    <a:pt x="966724" y="0"/>
                    <a:pt x="1245616" y="318643"/>
                    <a:pt x="1245616" y="711708"/>
                  </a:cubicBezTo>
                  <a:cubicBezTo>
                    <a:pt x="1245616" y="1104773"/>
                    <a:pt x="966724" y="1423416"/>
                    <a:pt x="622808" y="1423416"/>
                  </a:cubicBezTo>
                  <a:cubicBezTo>
                    <a:pt x="278892" y="1423416"/>
                    <a:pt x="0" y="1104900"/>
                    <a:pt x="0" y="71170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15" id="15" descr="Blockchain"/>
          <p:cNvSpPr/>
          <p:nvPr/>
        </p:nvSpPr>
        <p:spPr>
          <a:xfrm flipH="false" flipV="false" rot="0">
            <a:off x="2748201" y="4866789"/>
            <a:ext cx="340309" cy="340309"/>
          </a:xfrm>
          <a:custGeom>
            <a:avLst/>
            <a:gdLst/>
            <a:ahLst/>
            <a:cxnLst/>
            <a:rect r="r" b="b" t="t" l="l"/>
            <a:pathLst>
              <a:path h="340309" w="340309">
                <a:moveTo>
                  <a:pt x="0" y="0"/>
                </a:moveTo>
                <a:lnTo>
                  <a:pt x="340309" y="0"/>
                </a:lnTo>
                <a:lnTo>
                  <a:pt x="340309" y="340309"/>
                </a:lnTo>
                <a:lnTo>
                  <a:pt x="0" y="3403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07849" y="5770997"/>
            <a:ext cx="3221965" cy="115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Contrôle Local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1093" y="6728079"/>
            <a:ext cx="3221965" cy="65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Le traitement de toutes les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données de santé s'effectue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sous votre stricte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supervision, garantissant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une souveraineté totale.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55052" y="4993100"/>
            <a:ext cx="3866359" cy="4172350"/>
            <a:chOff x="0" y="0"/>
            <a:chExt cx="5155146" cy="55631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55057" cy="5563108"/>
            </a:xfrm>
            <a:custGeom>
              <a:avLst/>
              <a:gdLst/>
              <a:ahLst/>
              <a:cxnLst/>
              <a:rect r="r" b="b" t="t" l="l"/>
              <a:pathLst>
                <a:path h="5563108" w="5155057">
                  <a:moveTo>
                    <a:pt x="0" y="859155"/>
                  </a:moveTo>
                  <a:cubicBezTo>
                    <a:pt x="0" y="384683"/>
                    <a:pt x="384683" y="0"/>
                    <a:pt x="859155" y="0"/>
                  </a:cubicBezTo>
                  <a:lnTo>
                    <a:pt x="4295902" y="0"/>
                  </a:lnTo>
                  <a:cubicBezTo>
                    <a:pt x="4770374" y="0"/>
                    <a:pt x="5155057" y="384683"/>
                    <a:pt x="5155057" y="859155"/>
                  </a:cubicBezTo>
                  <a:lnTo>
                    <a:pt x="5155057" y="4703953"/>
                  </a:lnTo>
                  <a:cubicBezTo>
                    <a:pt x="5155057" y="5178425"/>
                    <a:pt x="4770374" y="5563108"/>
                    <a:pt x="4295902" y="5563108"/>
                  </a:cubicBezTo>
                  <a:lnTo>
                    <a:pt x="859155" y="5563108"/>
                  </a:lnTo>
                  <a:cubicBezTo>
                    <a:pt x="384683" y="5563108"/>
                    <a:pt x="0" y="5178425"/>
                    <a:pt x="0" y="4703953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12469" y="4501220"/>
            <a:ext cx="934183" cy="1067638"/>
            <a:chOff x="0" y="0"/>
            <a:chExt cx="1245578" cy="14235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45616" cy="1423416"/>
            </a:xfrm>
            <a:custGeom>
              <a:avLst/>
              <a:gdLst/>
              <a:ahLst/>
              <a:cxnLst/>
              <a:rect r="r" b="b" t="t" l="l"/>
              <a:pathLst>
                <a:path h="1423416" w="1245616">
                  <a:moveTo>
                    <a:pt x="0" y="711708"/>
                  </a:moveTo>
                  <a:cubicBezTo>
                    <a:pt x="0" y="318643"/>
                    <a:pt x="278892" y="0"/>
                    <a:pt x="622808" y="0"/>
                  </a:cubicBezTo>
                  <a:cubicBezTo>
                    <a:pt x="966724" y="0"/>
                    <a:pt x="1245616" y="318643"/>
                    <a:pt x="1245616" y="711708"/>
                  </a:cubicBezTo>
                  <a:cubicBezTo>
                    <a:pt x="1245616" y="1104773"/>
                    <a:pt x="966724" y="1423416"/>
                    <a:pt x="622808" y="1423416"/>
                  </a:cubicBezTo>
                  <a:cubicBezTo>
                    <a:pt x="278892" y="1423416"/>
                    <a:pt x="0" y="1104900"/>
                    <a:pt x="0" y="71170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576292" y="5763368"/>
            <a:ext cx="3221965" cy="11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Exclusion des Biens Sociaux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61906" y="6859629"/>
            <a:ext cx="3221965" cy="65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Les proxys socio-individuels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sensibles sont délibérément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exclus du calcul du score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pour une éthique irréprochable.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442661" y="4993100"/>
            <a:ext cx="3866359" cy="4172350"/>
            <a:chOff x="0" y="0"/>
            <a:chExt cx="5155146" cy="55631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55057" cy="5563108"/>
            </a:xfrm>
            <a:custGeom>
              <a:avLst/>
              <a:gdLst/>
              <a:ahLst/>
              <a:cxnLst/>
              <a:rect r="r" b="b" t="t" l="l"/>
              <a:pathLst>
                <a:path h="5563108" w="5155057">
                  <a:moveTo>
                    <a:pt x="0" y="859155"/>
                  </a:moveTo>
                  <a:cubicBezTo>
                    <a:pt x="0" y="384683"/>
                    <a:pt x="384683" y="0"/>
                    <a:pt x="859155" y="0"/>
                  </a:cubicBezTo>
                  <a:lnTo>
                    <a:pt x="4295902" y="0"/>
                  </a:lnTo>
                  <a:cubicBezTo>
                    <a:pt x="4770374" y="0"/>
                    <a:pt x="5155057" y="384683"/>
                    <a:pt x="5155057" y="859155"/>
                  </a:cubicBezTo>
                  <a:lnTo>
                    <a:pt x="5155057" y="4703953"/>
                  </a:lnTo>
                  <a:cubicBezTo>
                    <a:pt x="5155057" y="5178425"/>
                    <a:pt x="4770374" y="5563108"/>
                    <a:pt x="4295902" y="5563108"/>
                  </a:cubicBezTo>
                  <a:lnTo>
                    <a:pt x="859155" y="5563108"/>
                  </a:lnTo>
                  <a:cubicBezTo>
                    <a:pt x="384683" y="5563108"/>
                    <a:pt x="0" y="5178425"/>
                    <a:pt x="0" y="4703953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908749" y="4433545"/>
            <a:ext cx="934183" cy="1067638"/>
            <a:chOff x="0" y="0"/>
            <a:chExt cx="1245578" cy="14235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45616" cy="1423416"/>
            </a:xfrm>
            <a:custGeom>
              <a:avLst/>
              <a:gdLst/>
              <a:ahLst/>
              <a:cxnLst/>
              <a:rect r="r" b="b" t="t" l="l"/>
              <a:pathLst>
                <a:path h="1423416" w="1245616">
                  <a:moveTo>
                    <a:pt x="0" y="711708"/>
                  </a:moveTo>
                  <a:cubicBezTo>
                    <a:pt x="0" y="318643"/>
                    <a:pt x="278892" y="0"/>
                    <a:pt x="622808" y="0"/>
                  </a:cubicBezTo>
                  <a:cubicBezTo>
                    <a:pt x="966724" y="0"/>
                    <a:pt x="1245616" y="318643"/>
                    <a:pt x="1245616" y="711708"/>
                  </a:cubicBezTo>
                  <a:cubicBezTo>
                    <a:pt x="1245616" y="1104773"/>
                    <a:pt x="966724" y="1423416"/>
                    <a:pt x="622808" y="1423416"/>
                  </a:cubicBezTo>
                  <a:cubicBezTo>
                    <a:pt x="278892" y="1423416"/>
                    <a:pt x="0" y="1104900"/>
                    <a:pt x="0" y="71170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782961" y="5764320"/>
            <a:ext cx="3221965" cy="11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Registre Traçable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66759" y="6859629"/>
            <a:ext cx="3221965" cy="65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Chaque variable utilisée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dispose d'un usage clair et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d'une justification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documentée pour une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transparence maximale.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066500" y="5061728"/>
            <a:ext cx="3866359" cy="4172350"/>
            <a:chOff x="0" y="0"/>
            <a:chExt cx="5155146" cy="556313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55057" cy="5563108"/>
            </a:xfrm>
            <a:custGeom>
              <a:avLst/>
              <a:gdLst/>
              <a:ahLst/>
              <a:cxnLst/>
              <a:rect r="r" b="b" t="t" l="l"/>
              <a:pathLst>
                <a:path h="5563108" w="5155057">
                  <a:moveTo>
                    <a:pt x="0" y="859155"/>
                  </a:moveTo>
                  <a:cubicBezTo>
                    <a:pt x="0" y="384683"/>
                    <a:pt x="384683" y="0"/>
                    <a:pt x="859155" y="0"/>
                  </a:cubicBezTo>
                  <a:lnTo>
                    <a:pt x="4295902" y="0"/>
                  </a:lnTo>
                  <a:cubicBezTo>
                    <a:pt x="4770374" y="0"/>
                    <a:pt x="5155057" y="384683"/>
                    <a:pt x="5155057" y="859155"/>
                  </a:cubicBezTo>
                  <a:lnTo>
                    <a:pt x="5155057" y="4703953"/>
                  </a:lnTo>
                  <a:cubicBezTo>
                    <a:pt x="5155057" y="5178425"/>
                    <a:pt x="4770374" y="5563108"/>
                    <a:pt x="4295902" y="5563108"/>
                  </a:cubicBezTo>
                  <a:lnTo>
                    <a:pt x="859155" y="5563108"/>
                  </a:lnTo>
                  <a:cubicBezTo>
                    <a:pt x="384683" y="5563108"/>
                    <a:pt x="0" y="5178425"/>
                    <a:pt x="0" y="4703953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383884" y="4501220"/>
            <a:ext cx="934183" cy="1067638"/>
            <a:chOff x="0" y="0"/>
            <a:chExt cx="1245578" cy="142351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45616" cy="1423416"/>
            </a:xfrm>
            <a:custGeom>
              <a:avLst/>
              <a:gdLst/>
              <a:ahLst/>
              <a:cxnLst/>
              <a:rect r="r" b="b" t="t" l="l"/>
              <a:pathLst>
                <a:path h="1423416" w="1245616">
                  <a:moveTo>
                    <a:pt x="0" y="711708"/>
                  </a:moveTo>
                  <a:cubicBezTo>
                    <a:pt x="0" y="318643"/>
                    <a:pt x="278892" y="0"/>
                    <a:pt x="622808" y="0"/>
                  </a:cubicBezTo>
                  <a:cubicBezTo>
                    <a:pt x="966724" y="0"/>
                    <a:pt x="1245616" y="318643"/>
                    <a:pt x="1245616" y="711708"/>
                  </a:cubicBezTo>
                  <a:cubicBezTo>
                    <a:pt x="1245616" y="1104773"/>
                    <a:pt x="966724" y="1423416"/>
                    <a:pt x="622808" y="1423416"/>
                  </a:cubicBezTo>
                  <a:cubicBezTo>
                    <a:pt x="278892" y="1423416"/>
                    <a:pt x="0" y="1104900"/>
                    <a:pt x="0" y="711708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Freeform 34" id="34" descr="People - Avatar"/>
          <p:cNvSpPr/>
          <p:nvPr/>
        </p:nvSpPr>
        <p:spPr>
          <a:xfrm flipH="false" flipV="false" rot="0">
            <a:off x="6680340" y="4868694"/>
            <a:ext cx="340309" cy="340309"/>
          </a:xfrm>
          <a:custGeom>
            <a:avLst/>
            <a:gdLst/>
            <a:ahLst/>
            <a:cxnLst/>
            <a:rect r="r" b="b" t="t" l="l"/>
            <a:pathLst>
              <a:path h="340309" w="340309">
                <a:moveTo>
                  <a:pt x="0" y="0"/>
                </a:moveTo>
                <a:lnTo>
                  <a:pt x="340309" y="0"/>
                </a:lnTo>
                <a:lnTo>
                  <a:pt x="340309" y="340309"/>
                </a:lnTo>
                <a:lnTo>
                  <a:pt x="0" y="3403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369624" y="5779579"/>
            <a:ext cx="3221965" cy="11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Identité Anonymisée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369624" y="6859629"/>
            <a:ext cx="3221965" cy="65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L'identité des patients est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isolée dans un coffre sécurisé,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totalement dissociée du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moteur de score prédictif.</a:t>
            </a:r>
          </a:p>
        </p:txBody>
      </p:sp>
      <p:sp>
        <p:nvSpPr>
          <p:cNvPr name="Freeform 37" id="37" descr="Holding a heart"/>
          <p:cNvSpPr/>
          <p:nvPr/>
        </p:nvSpPr>
        <p:spPr>
          <a:xfrm flipH="false" flipV="false" rot="0">
            <a:off x="10889866" y="4866789"/>
            <a:ext cx="340309" cy="340309"/>
          </a:xfrm>
          <a:custGeom>
            <a:avLst/>
            <a:gdLst/>
            <a:ahLst/>
            <a:cxnLst/>
            <a:rect r="r" b="b" t="t" l="l"/>
            <a:pathLst>
              <a:path h="340309" w="340309">
                <a:moveTo>
                  <a:pt x="0" y="0"/>
                </a:moveTo>
                <a:lnTo>
                  <a:pt x="340309" y="0"/>
                </a:lnTo>
                <a:lnTo>
                  <a:pt x="340309" y="340309"/>
                </a:lnTo>
                <a:lnTo>
                  <a:pt x="0" y="3403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 descr="Book - Open"/>
          <p:cNvSpPr/>
          <p:nvPr/>
        </p:nvSpPr>
        <p:spPr>
          <a:xfrm flipH="false" flipV="false" rot="0">
            <a:off x="15205205" y="4779093"/>
            <a:ext cx="341262" cy="341262"/>
          </a:xfrm>
          <a:custGeom>
            <a:avLst/>
            <a:gdLst/>
            <a:ahLst/>
            <a:cxnLst/>
            <a:rect r="r" b="b" t="t" l="l"/>
            <a:pathLst>
              <a:path h="341262" w="341262">
                <a:moveTo>
                  <a:pt x="0" y="0"/>
                </a:moveTo>
                <a:lnTo>
                  <a:pt x="341262" y="0"/>
                </a:lnTo>
                <a:lnTo>
                  <a:pt x="341262" y="341261"/>
                </a:lnTo>
                <a:lnTo>
                  <a:pt x="0" y="3412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013422"/>
            <a:ext cx="1928336" cy="366255"/>
            <a:chOff x="0" y="0"/>
            <a:chExt cx="2571115" cy="4883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71115" cy="488315"/>
            </a:xfrm>
            <a:custGeom>
              <a:avLst/>
              <a:gdLst/>
              <a:ahLst/>
              <a:cxnLst/>
              <a:rect r="r" b="b" t="t" l="l"/>
              <a:pathLst>
                <a:path h="488315" w="2571115">
                  <a:moveTo>
                    <a:pt x="0" y="231521"/>
                  </a:moveTo>
                  <a:cubicBezTo>
                    <a:pt x="0" y="103632"/>
                    <a:pt x="103632" y="0"/>
                    <a:pt x="231521" y="0"/>
                  </a:cubicBezTo>
                  <a:lnTo>
                    <a:pt x="2339594" y="0"/>
                  </a:lnTo>
                  <a:cubicBezTo>
                    <a:pt x="2467483" y="0"/>
                    <a:pt x="2571115" y="103632"/>
                    <a:pt x="2571115" y="231521"/>
                  </a:cubicBezTo>
                  <a:lnTo>
                    <a:pt x="2571115" y="256794"/>
                  </a:lnTo>
                  <a:cubicBezTo>
                    <a:pt x="2571115" y="384683"/>
                    <a:pt x="2467483" y="488315"/>
                    <a:pt x="2339594" y="488315"/>
                  </a:cubicBezTo>
                  <a:lnTo>
                    <a:pt x="231521" y="488315"/>
                  </a:lnTo>
                  <a:cubicBezTo>
                    <a:pt x="103632" y="488315"/>
                    <a:pt x="0" y="384683"/>
                    <a:pt x="0" y="256794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7218" y="1066695"/>
            <a:ext cx="1675800" cy="28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35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DIFFÉRENCIATION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318717"/>
            <a:ext cx="16315868" cy="89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 qui différencie CISIA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2398852"/>
            <a:ext cx="16315868" cy="837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Notre approche unique intègre la puissance de l'IA avec une attention rigoureuse à la souveraineté, la transparence et la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facilité d'utilisation, pour une solution inégalée sur le marché.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8083" y="3909260"/>
            <a:ext cx="5520242" cy="2920746"/>
            <a:chOff x="0" y="0"/>
            <a:chExt cx="7360323" cy="3894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60412" cy="3894328"/>
            </a:xfrm>
            <a:custGeom>
              <a:avLst/>
              <a:gdLst/>
              <a:ahLst/>
              <a:cxnLst/>
              <a:rect r="r" b="b" t="t" l="l"/>
              <a:pathLst>
                <a:path h="3894328" w="7360412">
                  <a:moveTo>
                    <a:pt x="0" y="649097"/>
                  </a:moveTo>
                  <a:cubicBezTo>
                    <a:pt x="0" y="290576"/>
                    <a:pt x="290576" y="0"/>
                    <a:pt x="649097" y="0"/>
                  </a:cubicBezTo>
                  <a:lnTo>
                    <a:pt x="6711315" y="0"/>
                  </a:lnTo>
                  <a:cubicBezTo>
                    <a:pt x="7069836" y="0"/>
                    <a:pt x="7360412" y="290576"/>
                    <a:pt x="7360412" y="649097"/>
                  </a:cubicBezTo>
                  <a:lnTo>
                    <a:pt x="7360412" y="3245231"/>
                  </a:lnTo>
                  <a:cubicBezTo>
                    <a:pt x="7360412" y="3603752"/>
                    <a:pt x="7069836" y="3894328"/>
                    <a:pt x="6711315" y="3894328"/>
                  </a:cubicBezTo>
                  <a:lnTo>
                    <a:pt x="649097" y="3894328"/>
                  </a:lnTo>
                  <a:cubicBezTo>
                    <a:pt x="290576" y="3894328"/>
                    <a:pt x="0" y="3603752"/>
                    <a:pt x="0" y="3245231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839717" y="3479340"/>
            <a:ext cx="855059" cy="864594"/>
            <a:chOff x="0" y="0"/>
            <a:chExt cx="1140079" cy="1152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0079" cy="1152779"/>
            </a:xfrm>
            <a:custGeom>
              <a:avLst/>
              <a:gdLst/>
              <a:ahLst/>
              <a:cxnLst/>
              <a:rect r="r" b="b" t="t" l="l"/>
              <a:pathLst>
                <a:path h="1152779" w="1140079">
                  <a:moveTo>
                    <a:pt x="0" y="576453"/>
                  </a:moveTo>
                  <a:cubicBezTo>
                    <a:pt x="0" y="258064"/>
                    <a:pt x="255270" y="0"/>
                    <a:pt x="570103" y="0"/>
                  </a:cubicBezTo>
                  <a:cubicBezTo>
                    <a:pt x="884936" y="0"/>
                    <a:pt x="1140079" y="258064"/>
                    <a:pt x="1140079" y="576453"/>
                  </a:cubicBezTo>
                  <a:cubicBezTo>
                    <a:pt x="1140079" y="894842"/>
                    <a:pt x="884809" y="1152779"/>
                    <a:pt x="570103" y="1152779"/>
                  </a:cubicBezTo>
                  <a:cubicBezTo>
                    <a:pt x="255397" y="1152779"/>
                    <a:pt x="0" y="894715"/>
                    <a:pt x="0" y="57645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06719" y="4484113"/>
            <a:ext cx="4600356" cy="8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Local First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0508" y="5034172"/>
            <a:ext cx="4600356" cy="48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L'IA est exécutée directement sur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votre poste ou serveur local,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garantissant une souveraineté totale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de vos données et une intégration sécurisée.</a:t>
            </a:r>
          </a:p>
        </p:txBody>
      </p:sp>
      <p:sp>
        <p:nvSpPr>
          <p:cNvPr name="Freeform 17" id="17" descr="AI technology"/>
          <p:cNvSpPr/>
          <p:nvPr/>
        </p:nvSpPr>
        <p:spPr>
          <a:xfrm flipH="false" flipV="false" rot="0">
            <a:off x="3044666" y="3688109"/>
            <a:ext cx="447075" cy="447075"/>
          </a:xfrm>
          <a:custGeom>
            <a:avLst/>
            <a:gdLst/>
            <a:ahLst/>
            <a:cxnLst/>
            <a:rect r="r" b="b" t="t" l="l"/>
            <a:pathLst>
              <a:path h="447075" w="447075">
                <a:moveTo>
                  <a:pt x="0" y="0"/>
                </a:moveTo>
                <a:lnTo>
                  <a:pt x="447075" y="0"/>
                </a:lnTo>
                <a:lnTo>
                  <a:pt x="447075" y="447074"/>
                </a:lnTo>
                <a:lnTo>
                  <a:pt x="0" y="447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180839" y="3955009"/>
            <a:ext cx="5583155" cy="2890237"/>
            <a:chOff x="0" y="0"/>
            <a:chExt cx="7444207" cy="38536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44105" cy="3853561"/>
            </a:xfrm>
            <a:custGeom>
              <a:avLst/>
              <a:gdLst/>
              <a:ahLst/>
              <a:cxnLst/>
              <a:rect r="r" b="b" t="t" l="l"/>
              <a:pathLst>
                <a:path h="3853561" w="7444105">
                  <a:moveTo>
                    <a:pt x="0" y="642239"/>
                  </a:moveTo>
                  <a:cubicBezTo>
                    <a:pt x="0" y="287528"/>
                    <a:pt x="287528" y="0"/>
                    <a:pt x="642239" y="0"/>
                  </a:cubicBezTo>
                  <a:lnTo>
                    <a:pt x="6801866" y="0"/>
                  </a:lnTo>
                  <a:cubicBezTo>
                    <a:pt x="7156577" y="0"/>
                    <a:pt x="7444105" y="287528"/>
                    <a:pt x="7444105" y="642239"/>
                  </a:cubicBezTo>
                  <a:lnTo>
                    <a:pt x="7444105" y="3211322"/>
                  </a:lnTo>
                  <a:cubicBezTo>
                    <a:pt x="7444105" y="3566033"/>
                    <a:pt x="7156577" y="3853561"/>
                    <a:pt x="6801866" y="3853561"/>
                  </a:cubicBezTo>
                  <a:lnTo>
                    <a:pt x="642239" y="3853561"/>
                  </a:lnTo>
                  <a:cubicBezTo>
                    <a:pt x="287528" y="3853688"/>
                    <a:pt x="0" y="3566033"/>
                    <a:pt x="0" y="3211322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39162" y="3528908"/>
            <a:ext cx="864594" cy="855059"/>
            <a:chOff x="0" y="0"/>
            <a:chExt cx="1152792" cy="11400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52779" cy="1140079"/>
            </a:xfrm>
            <a:custGeom>
              <a:avLst/>
              <a:gdLst/>
              <a:ahLst/>
              <a:cxnLst/>
              <a:rect r="r" b="b" t="t" l="l"/>
              <a:pathLst>
                <a:path h="1140079" w="1152779">
                  <a:moveTo>
                    <a:pt x="0" y="570103"/>
                  </a:moveTo>
                  <a:cubicBezTo>
                    <a:pt x="0" y="255270"/>
                    <a:pt x="258064" y="0"/>
                    <a:pt x="576453" y="0"/>
                  </a:cubicBezTo>
                  <a:cubicBezTo>
                    <a:pt x="894842" y="0"/>
                    <a:pt x="1152779" y="255270"/>
                    <a:pt x="1152779" y="570103"/>
                  </a:cubicBezTo>
                  <a:cubicBezTo>
                    <a:pt x="1152779" y="884936"/>
                    <a:pt x="894715" y="1140079"/>
                    <a:pt x="576453" y="1140079"/>
                  </a:cubicBezTo>
                  <a:cubicBezTo>
                    <a:pt x="258191" y="1140079"/>
                    <a:pt x="0" y="884809"/>
                    <a:pt x="0" y="57010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786153" y="4522241"/>
            <a:ext cx="4652791" cy="82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Explicable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86153" y="5042745"/>
            <a:ext cx="4652791" cy="48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Chaque score est accompagné d'une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explication intelligible grâce aux valeurs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SHAP et à une traduction en langage métier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pour une meilleure compréhension clinique.</a:t>
            </a:r>
          </a:p>
        </p:txBody>
      </p:sp>
      <p:sp>
        <p:nvSpPr>
          <p:cNvPr name="Freeform 24" id="24" descr="books"/>
          <p:cNvSpPr/>
          <p:nvPr/>
        </p:nvSpPr>
        <p:spPr>
          <a:xfrm flipH="false" flipV="false" rot="0">
            <a:off x="8746017" y="3731000"/>
            <a:ext cx="451837" cy="451837"/>
          </a:xfrm>
          <a:custGeom>
            <a:avLst/>
            <a:gdLst/>
            <a:ahLst/>
            <a:cxnLst/>
            <a:rect r="r" b="b" t="t" l="l"/>
            <a:pathLst>
              <a:path h="451837" w="451837">
                <a:moveTo>
                  <a:pt x="0" y="0"/>
                </a:moveTo>
                <a:lnTo>
                  <a:pt x="451837" y="0"/>
                </a:lnTo>
                <a:lnTo>
                  <a:pt x="451837" y="451837"/>
                </a:lnTo>
                <a:lnTo>
                  <a:pt x="0" y="4518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006120" y="3969315"/>
            <a:ext cx="5520242" cy="2920746"/>
            <a:chOff x="0" y="0"/>
            <a:chExt cx="7360323" cy="38943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60412" cy="3894328"/>
            </a:xfrm>
            <a:custGeom>
              <a:avLst/>
              <a:gdLst/>
              <a:ahLst/>
              <a:cxnLst/>
              <a:rect r="r" b="b" t="t" l="l"/>
              <a:pathLst>
                <a:path h="3894328" w="7360412">
                  <a:moveTo>
                    <a:pt x="0" y="649097"/>
                  </a:moveTo>
                  <a:cubicBezTo>
                    <a:pt x="0" y="290576"/>
                    <a:pt x="290576" y="0"/>
                    <a:pt x="649097" y="0"/>
                  </a:cubicBezTo>
                  <a:lnTo>
                    <a:pt x="6711315" y="0"/>
                  </a:lnTo>
                  <a:cubicBezTo>
                    <a:pt x="7069836" y="0"/>
                    <a:pt x="7360412" y="290576"/>
                    <a:pt x="7360412" y="649097"/>
                  </a:cubicBezTo>
                  <a:lnTo>
                    <a:pt x="7360412" y="3245231"/>
                  </a:lnTo>
                  <a:cubicBezTo>
                    <a:pt x="7360412" y="3603752"/>
                    <a:pt x="7069836" y="3894328"/>
                    <a:pt x="6711315" y="3894328"/>
                  </a:cubicBezTo>
                  <a:lnTo>
                    <a:pt x="649097" y="3894328"/>
                  </a:lnTo>
                  <a:cubicBezTo>
                    <a:pt x="290576" y="3894328"/>
                    <a:pt x="0" y="3603752"/>
                    <a:pt x="0" y="3245231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337754" y="3539395"/>
            <a:ext cx="855059" cy="864594"/>
            <a:chOff x="0" y="0"/>
            <a:chExt cx="1140079" cy="1152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0079" cy="1152779"/>
            </a:xfrm>
            <a:custGeom>
              <a:avLst/>
              <a:gdLst/>
              <a:ahLst/>
              <a:cxnLst/>
              <a:rect r="r" b="b" t="t" l="l"/>
              <a:pathLst>
                <a:path h="1152779" w="1140079">
                  <a:moveTo>
                    <a:pt x="0" y="576453"/>
                  </a:moveTo>
                  <a:cubicBezTo>
                    <a:pt x="0" y="258064"/>
                    <a:pt x="255270" y="0"/>
                    <a:pt x="570103" y="0"/>
                  </a:cubicBezTo>
                  <a:cubicBezTo>
                    <a:pt x="884936" y="0"/>
                    <a:pt x="1140079" y="258064"/>
                    <a:pt x="1140079" y="576453"/>
                  </a:cubicBezTo>
                  <a:cubicBezTo>
                    <a:pt x="1140079" y="894842"/>
                    <a:pt x="884809" y="1152779"/>
                    <a:pt x="570103" y="1152779"/>
                  </a:cubicBezTo>
                  <a:cubicBezTo>
                    <a:pt x="255397" y="1152779"/>
                    <a:pt x="0" y="894715"/>
                    <a:pt x="0" y="57645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518012" y="4522241"/>
            <a:ext cx="4600356" cy="8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Gouvernable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18012" y="5042745"/>
            <a:ext cx="4600356" cy="48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Un registre RGPD complet et un audit des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biais intégré assurent une transparence et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une conformité sans faille, de bout en bout.</a:t>
            </a:r>
          </a:p>
        </p:txBody>
      </p:sp>
      <p:sp>
        <p:nvSpPr>
          <p:cNvPr name="Freeform 31" id="31" descr="Book"/>
          <p:cNvSpPr/>
          <p:nvPr/>
        </p:nvSpPr>
        <p:spPr>
          <a:xfrm flipH="false" flipV="false" rot="0">
            <a:off x="14542703" y="3748154"/>
            <a:ext cx="447075" cy="447075"/>
          </a:xfrm>
          <a:custGeom>
            <a:avLst/>
            <a:gdLst/>
            <a:ahLst/>
            <a:cxnLst/>
            <a:rect r="r" b="b" t="t" l="l"/>
            <a:pathLst>
              <a:path h="447075" w="447075">
                <a:moveTo>
                  <a:pt x="0" y="0"/>
                </a:moveTo>
                <a:lnTo>
                  <a:pt x="447075" y="0"/>
                </a:lnTo>
                <a:lnTo>
                  <a:pt x="447075" y="447075"/>
                </a:lnTo>
                <a:lnTo>
                  <a:pt x="0" y="4470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32955" y="7675531"/>
            <a:ext cx="16736120" cy="2067592"/>
            <a:chOff x="0" y="0"/>
            <a:chExt cx="22314827" cy="27567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314790" cy="2756789"/>
            </a:xfrm>
            <a:custGeom>
              <a:avLst/>
              <a:gdLst/>
              <a:ahLst/>
              <a:cxnLst/>
              <a:rect r="r" b="b" t="t" l="l"/>
              <a:pathLst>
                <a:path h="2756789" w="22314790">
                  <a:moveTo>
                    <a:pt x="0" y="459486"/>
                  </a:moveTo>
                  <a:cubicBezTo>
                    <a:pt x="0" y="205740"/>
                    <a:pt x="205740" y="0"/>
                    <a:pt x="459486" y="0"/>
                  </a:cubicBezTo>
                  <a:lnTo>
                    <a:pt x="21855303" y="0"/>
                  </a:lnTo>
                  <a:cubicBezTo>
                    <a:pt x="22109049" y="0"/>
                    <a:pt x="22314790" y="205740"/>
                    <a:pt x="22314790" y="459486"/>
                  </a:cubicBezTo>
                  <a:lnTo>
                    <a:pt x="22314790" y="2297303"/>
                  </a:lnTo>
                  <a:cubicBezTo>
                    <a:pt x="22314790" y="2551049"/>
                    <a:pt x="22109049" y="2756789"/>
                    <a:pt x="21855303" y="2756789"/>
                  </a:cubicBezTo>
                  <a:lnTo>
                    <a:pt x="459486" y="2756789"/>
                  </a:lnTo>
                  <a:cubicBezTo>
                    <a:pt x="205740" y="2756789"/>
                    <a:pt x="0" y="2551049"/>
                    <a:pt x="0" y="2297303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332308" y="7330450"/>
            <a:ext cx="865546" cy="855059"/>
            <a:chOff x="0" y="0"/>
            <a:chExt cx="1154062" cy="114007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4049" cy="1140079"/>
            </a:xfrm>
            <a:custGeom>
              <a:avLst/>
              <a:gdLst/>
              <a:ahLst/>
              <a:cxnLst/>
              <a:rect r="r" b="b" t="t" l="l"/>
              <a:pathLst>
                <a:path h="1140079" w="1154049">
                  <a:moveTo>
                    <a:pt x="0" y="570103"/>
                  </a:moveTo>
                  <a:cubicBezTo>
                    <a:pt x="0" y="255270"/>
                    <a:pt x="258318" y="0"/>
                    <a:pt x="577088" y="0"/>
                  </a:cubicBezTo>
                  <a:cubicBezTo>
                    <a:pt x="895858" y="0"/>
                    <a:pt x="1154049" y="255270"/>
                    <a:pt x="1154049" y="570103"/>
                  </a:cubicBezTo>
                  <a:cubicBezTo>
                    <a:pt x="1154049" y="884936"/>
                    <a:pt x="895731" y="1140079"/>
                    <a:pt x="577088" y="1140079"/>
                  </a:cubicBezTo>
                  <a:cubicBezTo>
                    <a:pt x="258445" y="1140079"/>
                    <a:pt x="0" y="884809"/>
                    <a:pt x="0" y="57010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37218" y="8062598"/>
            <a:ext cx="13946924" cy="60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Prêt à Démontrer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7218" y="8718461"/>
            <a:ext cx="13946924" cy="37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Un parcours client fluide et rapide en seulement 5 clics, pour une prise en main immédiate et une démonstration concrète de la valeur.</a:t>
            </a:r>
          </a:p>
        </p:txBody>
      </p:sp>
      <p:sp>
        <p:nvSpPr>
          <p:cNvPr name="Freeform 38" id="38" descr="tool"/>
          <p:cNvSpPr/>
          <p:nvPr/>
        </p:nvSpPr>
        <p:spPr>
          <a:xfrm flipH="false" flipV="false" rot="0">
            <a:off x="8551555" y="7523007"/>
            <a:ext cx="452790" cy="452790"/>
          </a:xfrm>
          <a:custGeom>
            <a:avLst/>
            <a:gdLst/>
            <a:ahLst/>
            <a:cxnLst/>
            <a:rect r="r" b="b" t="t" l="l"/>
            <a:pathLst>
              <a:path h="452790" w="452790">
                <a:moveTo>
                  <a:pt x="0" y="0"/>
                </a:moveTo>
                <a:lnTo>
                  <a:pt x="452789" y="0"/>
                </a:lnTo>
                <a:lnTo>
                  <a:pt x="452789" y="452790"/>
                </a:lnTo>
                <a:lnTo>
                  <a:pt x="0" y="4527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889512"/>
            <a:ext cx="2862939" cy="431044"/>
            <a:chOff x="0" y="0"/>
            <a:chExt cx="3817252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7239" cy="574802"/>
            </a:xfrm>
            <a:custGeom>
              <a:avLst/>
              <a:gdLst/>
              <a:ahLst/>
              <a:cxnLst/>
              <a:rect r="r" b="b" t="t" l="l"/>
              <a:pathLst>
                <a:path h="574802" w="3817239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3544824" y="0"/>
                  </a:lnTo>
                  <a:cubicBezTo>
                    <a:pt x="3695319" y="0"/>
                    <a:pt x="3817239" y="121920"/>
                    <a:pt x="3817239" y="272415"/>
                  </a:cubicBezTo>
                  <a:lnTo>
                    <a:pt x="3817239" y="302387"/>
                  </a:lnTo>
                  <a:cubicBezTo>
                    <a:pt x="3817239" y="452882"/>
                    <a:pt x="3695319" y="574802"/>
                    <a:pt x="3544824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955" y="1955121"/>
            <a:ext cx="2560415" cy="24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35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QUALITÉ DES DONNÉES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291172"/>
            <a:ext cx="16315868" cy="102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Qualité des données (risque maîtrisé)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3622424"/>
            <a:ext cx="17230954" cy="57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Avant même l'application du modèle, nous assainissons vos données pour garantir la fiabilité et la pertinence de chaque score.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09212" y="5380111"/>
            <a:ext cx="5520242" cy="2920746"/>
            <a:chOff x="0" y="0"/>
            <a:chExt cx="7360323" cy="3894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60412" cy="3894328"/>
            </a:xfrm>
            <a:custGeom>
              <a:avLst/>
              <a:gdLst/>
              <a:ahLst/>
              <a:cxnLst/>
              <a:rect r="r" b="b" t="t" l="l"/>
              <a:pathLst>
                <a:path h="3894328" w="7360412">
                  <a:moveTo>
                    <a:pt x="0" y="649097"/>
                  </a:moveTo>
                  <a:cubicBezTo>
                    <a:pt x="0" y="290576"/>
                    <a:pt x="290576" y="0"/>
                    <a:pt x="649097" y="0"/>
                  </a:cubicBezTo>
                  <a:lnTo>
                    <a:pt x="6711315" y="0"/>
                  </a:lnTo>
                  <a:cubicBezTo>
                    <a:pt x="7069836" y="0"/>
                    <a:pt x="7360412" y="290576"/>
                    <a:pt x="7360412" y="649097"/>
                  </a:cubicBezTo>
                  <a:lnTo>
                    <a:pt x="7360412" y="3245231"/>
                  </a:lnTo>
                  <a:cubicBezTo>
                    <a:pt x="7360412" y="3603752"/>
                    <a:pt x="7069836" y="3894328"/>
                    <a:pt x="6711315" y="3894328"/>
                  </a:cubicBezTo>
                  <a:lnTo>
                    <a:pt x="649097" y="3894328"/>
                  </a:lnTo>
                  <a:cubicBezTo>
                    <a:pt x="290576" y="3894328"/>
                    <a:pt x="0" y="3603752"/>
                    <a:pt x="0" y="3245231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040847" y="4950200"/>
            <a:ext cx="855059" cy="864594"/>
            <a:chOff x="0" y="0"/>
            <a:chExt cx="1140079" cy="11527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0079" cy="1152779"/>
            </a:xfrm>
            <a:custGeom>
              <a:avLst/>
              <a:gdLst/>
              <a:ahLst/>
              <a:cxnLst/>
              <a:rect r="r" b="b" t="t" l="l"/>
              <a:pathLst>
                <a:path h="1152779" w="1140079">
                  <a:moveTo>
                    <a:pt x="0" y="576453"/>
                  </a:moveTo>
                  <a:cubicBezTo>
                    <a:pt x="0" y="258064"/>
                    <a:pt x="255270" y="0"/>
                    <a:pt x="570103" y="0"/>
                  </a:cubicBezTo>
                  <a:cubicBezTo>
                    <a:pt x="884936" y="0"/>
                    <a:pt x="1140079" y="258064"/>
                    <a:pt x="1140079" y="576453"/>
                  </a:cubicBezTo>
                  <a:cubicBezTo>
                    <a:pt x="1140079" y="894842"/>
                    <a:pt x="884809" y="1152779"/>
                    <a:pt x="570103" y="1152779"/>
                  </a:cubicBezTo>
                  <a:cubicBezTo>
                    <a:pt x="255397" y="1152779"/>
                    <a:pt x="0" y="894715"/>
                    <a:pt x="0" y="57645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07849" y="5954973"/>
            <a:ext cx="4600356" cy="8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Assainissement Préalable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7849" y="6622275"/>
            <a:ext cx="4600356" cy="48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Nous identifions et corrigeons les anomalies: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durées incohérentes, constantes hors plage,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signaux capteurs faibles.</a:t>
            </a:r>
          </a:p>
        </p:txBody>
      </p:sp>
      <p:sp>
        <p:nvSpPr>
          <p:cNvPr name="Freeform 17" id="17" descr="ruler"/>
          <p:cNvSpPr/>
          <p:nvPr/>
        </p:nvSpPr>
        <p:spPr>
          <a:xfrm flipH="false" flipV="false" rot="0">
            <a:off x="3245796" y="5158483"/>
            <a:ext cx="447075" cy="447075"/>
          </a:xfrm>
          <a:custGeom>
            <a:avLst/>
            <a:gdLst/>
            <a:ahLst/>
            <a:cxnLst/>
            <a:rect r="r" b="b" t="t" l="l"/>
            <a:pathLst>
              <a:path h="447075" w="447075">
                <a:moveTo>
                  <a:pt x="0" y="0"/>
                </a:moveTo>
                <a:lnTo>
                  <a:pt x="447075" y="0"/>
                </a:lnTo>
                <a:lnTo>
                  <a:pt x="447075" y="447075"/>
                </a:lnTo>
                <a:lnTo>
                  <a:pt x="0" y="447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381969" y="5425869"/>
            <a:ext cx="5583155" cy="2890237"/>
            <a:chOff x="0" y="0"/>
            <a:chExt cx="7444207" cy="38536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44105" cy="3853561"/>
            </a:xfrm>
            <a:custGeom>
              <a:avLst/>
              <a:gdLst/>
              <a:ahLst/>
              <a:cxnLst/>
              <a:rect r="r" b="b" t="t" l="l"/>
              <a:pathLst>
                <a:path h="3853561" w="7444105">
                  <a:moveTo>
                    <a:pt x="0" y="642239"/>
                  </a:moveTo>
                  <a:cubicBezTo>
                    <a:pt x="0" y="287528"/>
                    <a:pt x="287528" y="0"/>
                    <a:pt x="642239" y="0"/>
                  </a:cubicBezTo>
                  <a:lnTo>
                    <a:pt x="6801866" y="0"/>
                  </a:lnTo>
                  <a:cubicBezTo>
                    <a:pt x="7156577" y="0"/>
                    <a:pt x="7444105" y="287528"/>
                    <a:pt x="7444105" y="642239"/>
                  </a:cubicBezTo>
                  <a:lnTo>
                    <a:pt x="7444105" y="3211322"/>
                  </a:lnTo>
                  <a:cubicBezTo>
                    <a:pt x="7444105" y="3566033"/>
                    <a:pt x="7156577" y="3853561"/>
                    <a:pt x="6801866" y="3853561"/>
                  </a:cubicBezTo>
                  <a:lnTo>
                    <a:pt x="642239" y="3853561"/>
                  </a:lnTo>
                  <a:cubicBezTo>
                    <a:pt x="287528" y="3853688"/>
                    <a:pt x="0" y="3566033"/>
                    <a:pt x="0" y="3211322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740302" y="4999768"/>
            <a:ext cx="864594" cy="855059"/>
            <a:chOff x="0" y="0"/>
            <a:chExt cx="1152792" cy="11400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52779" cy="1140079"/>
            </a:xfrm>
            <a:custGeom>
              <a:avLst/>
              <a:gdLst/>
              <a:ahLst/>
              <a:cxnLst/>
              <a:rect r="r" b="b" t="t" l="l"/>
              <a:pathLst>
                <a:path h="1140079" w="1152779">
                  <a:moveTo>
                    <a:pt x="0" y="570103"/>
                  </a:moveTo>
                  <a:cubicBezTo>
                    <a:pt x="0" y="255270"/>
                    <a:pt x="258064" y="0"/>
                    <a:pt x="576453" y="0"/>
                  </a:cubicBezTo>
                  <a:cubicBezTo>
                    <a:pt x="894842" y="0"/>
                    <a:pt x="1152779" y="255270"/>
                    <a:pt x="1152779" y="570103"/>
                  </a:cubicBezTo>
                  <a:cubicBezTo>
                    <a:pt x="1152779" y="884936"/>
                    <a:pt x="894715" y="1140079"/>
                    <a:pt x="576453" y="1140079"/>
                  </a:cubicBezTo>
                  <a:cubicBezTo>
                    <a:pt x="258191" y="1140079"/>
                    <a:pt x="0" y="884809"/>
                    <a:pt x="0" y="57010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987283" y="5993101"/>
            <a:ext cx="4652791" cy="82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Exclusion Stratégique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70128" y="6671843"/>
            <a:ext cx="4652791" cy="48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Ce qui n’est pas fiable n’entre pas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silencieusement dans le score, évitant toute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contamination des prédictions.</a:t>
            </a:r>
          </a:p>
        </p:txBody>
      </p:sp>
      <p:sp>
        <p:nvSpPr>
          <p:cNvPr name="Freeform 24" id="24" descr="Report"/>
          <p:cNvSpPr/>
          <p:nvPr/>
        </p:nvSpPr>
        <p:spPr>
          <a:xfrm flipH="false" flipV="false" rot="0">
            <a:off x="8947156" y="5201860"/>
            <a:ext cx="451837" cy="451837"/>
          </a:xfrm>
          <a:custGeom>
            <a:avLst/>
            <a:gdLst/>
            <a:ahLst/>
            <a:cxnLst/>
            <a:rect r="r" b="b" t="t" l="l"/>
            <a:pathLst>
              <a:path h="451837" w="451837">
                <a:moveTo>
                  <a:pt x="0" y="0"/>
                </a:moveTo>
                <a:lnTo>
                  <a:pt x="451838" y="0"/>
                </a:lnTo>
                <a:lnTo>
                  <a:pt x="451838" y="451837"/>
                </a:lnTo>
                <a:lnTo>
                  <a:pt x="0" y="4518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207250" y="5440166"/>
            <a:ext cx="5520242" cy="2920746"/>
            <a:chOff x="0" y="0"/>
            <a:chExt cx="7360323" cy="38943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60412" cy="3894328"/>
            </a:xfrm>
            <a:custGeom>
              <a:avLst/>
              <a:gdLst/>
              <a:ahLst/>
              <a:cxnLst/>
              <a:rect r="r" b="b" t="t" l="l"/>
              <a:pathLst>
                <a:path h="3894328" w="7360412">
                  <a:moveTo>
                    <a:pt x="0" y="649097"/>
                  </a:moveTo>
                  <a:cubicBezTo>
                    <a:pt x="0" y="290576"/>
                    <a:pt x="290576" y="0"/>
                    <a:pt x="649097" y="0"/>
                  </a:cubicBezTo>
                  <a:lnTo>
                    <a:pt x="6711315" y="0"/>
                  </a:lnTo>
                  <a:cubicBezTo>
                    <a:pt x="7069836" y="0"/>
                    <a:pt x="7360412" y="290576"/>
                    <a:pt x="7360412" y="649097"/>
                  </a:cubicBezTo>
                  <a:lnTo>
                    <a:pt x="7360412" y="3245231"/>
                  </a:lnTo>
                  <a:cubicBezTo>
                    <a:pt x="7360412" y="3603752"/>
                    <a:pt x="7069836" y="3894328"/>
                    <a:pt x="6711315" y="3894328"/>
                  </a:cubicBezTo>
                  <a:lnTo>
                    <a:pt x="649097" y="3894328"/>
                  </a:lnTo>
                  <a:cubicBezTo>
                    <a:pt x="290576" y="3894328"/>
                    <a:pt x="0" y="3603752"/>
                    <a:pt x="0" y="3245231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538884" y="5010255"/>
            <a:ext cx="855059" cy="864594"/>
            <a:chOff x="0" y="0"/>
            <a:chExt cx="1140079" cy="1152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40079" cy="1152779"/>
            </a:xfrm>
            <a:custGeom>
              <a:avLst/>
              <a:gdLst/>
              <a:ahLst/>
              <a:cxnLst/>
              <a:rect r="r" b="b" t="t" l="l"/>
              <a:pathLst>
                <a:path h="1152779" w="1140079">
                  <a:moveTo>
                    <a:pt x="0" y="576453"/>
                  </a:moveTo>
                  <a:cubicBezTo>
                    <a:pt x="0" y="258064"/>
                    <a:pt x="255270" y="0"/>
                    <a:pt x="570103" y="0"/>
                  </a:cubicBezTo>
                  <a:cubicBezTo>
                    <a:pt x="884936" y="0"/>
                    <a:pt x="1140079" y="258064"/>
                    <a:pt x="1140079" y="576453"/>
                  </a:cubicBezTo>
                  <a:cubicBezTo>
                    <a:pt x="1140079" y="894842"/>
                    <a:pt x="884809" y="1152779"/>
                    <a:pt x="570103" y="1152779"/>
                  </a:cubicBezTo>
                  <a:cubicBezTo>
                    <a:pt x="255397" y="1152779"/>
                    <a:pt x="0" y="894715"/>
                    <a:pt x="0" y="57645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805886" y="6015028"/>
            <a:ext cx="4600356" cy="8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Moins de Fausses Alertes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05886" y="6718554"/>
            <a:ext cx="4600356" cy="48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Une meilleure qualité des données se traduit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par une réduction significative des alertes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erronées, augmentant l’adoption métier.</a:t>
            </a:r>
          </a:p>
        </p:txBody>
      </p:sp>
      <p:sp>
        <p:nvSpPr>
          <p:cNvPr name="Freeform 31" id="31" descr="Pyramid diagram"/>
          <p:cNvSpPr/>
          <p:nvPr/>
        </p:nvSpPr>
        <p:spPr>
          <a:xfrm flipH="false" flipV="false" rot="0">
            <a:off x="14743833" y="5219014"/>
            <a:ext cx="447075" cy="447075"/>
          </a:xfrm>
          <a:custGeom>
            <a:avLst/>
            <a:gdLst/>
            <a:ahLst/>
            <a:cxnLst/>
            <a:rect r="r" b="b" t="t" l="l"/>
            <a:pathLst>
              <a:path h="447075" w="447075">
                <a:moveTo>
                  <a:pt x="0" y="0"/>
                </a:moveTo>
                <a:lnTo>
                  <a:pt x="447075" y="0"/>
                </a:lnTo>
                <a:lnTo>
                  <a:pt x="447075" y="447075"/>
                </a:lnTo>
                <a:lnTo>
                  <a:pt x="0" y="4470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922858"/>
            <a:ext cx="1770164" cy="388001"/>
            <a:chOff x="0" y="0"/>
            <a:chExt cx="2360219" cy="517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0168" cy="517271"/>
            </a:xfrm>
            <a:custGeom>
              <a:avLst/>
              <a:gdLst/>
              <a:ahLst/>
              <a:cxnLst/>
              <a:rect r="r" b="b" t="t" l="l"/>
              <a:pathLst>
                <a:path h="517271" w="2360168">
                  <a:moveTo>
                    <a:pt x="0" y="245110"/>
                  </a:moveTo>
                  <a:cubicBezTo>
                    <a:pt x="0" y="109728"/>
                    <a:pt x="109728" y="0"/>
                    <a:pt x="245110" y="0"/>
                  </a:cubicBezTo>
                  <a:lnTo>
                    <a:pt x="2115058" y="0"/>
                  </a:lnTo>
                  <a:cubicBezTo>
                    <a:pt x="2250440" y="0"/>
                    <a:pt x="2360168" y="109728"/>
                    <a:pt x="2360168" y="245110"/>
                  </a:cubicBezTo>
                  <a:lnTo>
                    <a:pt x="2360168" y="272161"/>
                  </a:lnTo>
                  <a:cubicBezTo>
                    <a:pt x="2360168" y="407543"/>
                    <a:pt x="2250440" y="517271"/>
                    <a:pt x="2115058" y="517271"/>
                  </a:cubicBezTo>
                  <a:lnTo>
                    <a:pt x="245110" y="517271"/>
                  </a:lnTo>
                  <a:cubicBezTo>
                    <a:pt x="109728" y="517271"/>
                    <a:pt x="0" y="407543"/>
                    <a:pt x="0" y="272161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5800" y="979951"/>
            <a:ext cx="1433684" cy="26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351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MODÉLISATION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259881"/>
            <a:ext cx="14126319" cy="95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RandomForest</a:t>
            </a: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retenu — PR-AUC sur test, seuil F2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2369937"/>
            <a:ext cx="14874493" cy="7268318"/>
            <a:chOff x="0" y="0"/>
            <a:chExt cx="19150000" cy="93575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50012" cy="9357479"/>
            </a:xfrm>
            <a:custGeom>
              <a:avLst/>
              <a:gdLst/>
              <a:ahLst/>
              <a:cxnLst/>
              <a:rect r="r" b="b" t="t" l="l"/>
              <a:pathLst>
                <a:path h="9357479" w="19150012">
                  <a:moveTo>
                    <a:pt x="0" y="0"/>
                  </a:moveTo>
                  <a:lnTo>
                    <a:pt x="19150012" y="0"/>
                  </a:lnTo>
                  <a:lnTo>
                    <a:pt x="19150012" y="9357479"/>
                  </a:lnTo>
                  <a:lnTo>
                    <a:pt x="0" y="93574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185" r="0" b="-2185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1208532"/>
            <a:ext cx="1273740" cy="431044"/>
            <a:chOff x="0" y="0"/>
            <a:chExt cx="1698320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8371" cy="574802"/>
            </a:xfrm>
            <a:custGeom>
              <a:avLst/>
              <a:gdLst/>
              <a:ahLst/>
              <a:cxnLst/>
              <a:rect r="r" b="b" t="t" l="l"/>
              <a:pathLst>
                <a:path h="574802" w="1698371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1425956" y="0"/>
                  </a:lnTo>
                  <a:cubicBezTo>
                    <a:pt x="1576451" y="0"/>
                    <a:pt x="1698371" y="121920"/>
                    <a:pt x="1698371" y="272415"/>
                  </a:cubicBezTo>
                  <a:lnTo>
                    <a:pt x="1698371" y="302387"/>
                  </a:lnTo>
                  <a:cubicBezTo>
                    <a:pt x="1698371" y="452882"/>
                    <a:pt x="1576451" y="574802"/>
                    <a:pt x="1425956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231" y="1284056"/>
            <a:ext cx="1848355" cy="2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ÉTHIQUE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408520" y="1208532"/>
            <a:ext cx="2096938" cy="431044"/>
            <a:chOff x="0" y="0"/>
            <a:chExt cx="2795918" cy="5747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95905" cy="574802"/>
            </a:xfrm>
            <a:custGeom>
              <a:avLst/>
              <a:gdLst/>
              <a:ahLst/>
              <a:cxnLst/>
              <a:rect r="r" b="b" t="t" l="l"/>
              <a:pathLst>
                <a:path h="574802" w="2795905">
                  <a:moveTo>
                    <a:pt x="0" y="272415"/>
                  </a:moveTo>
                  <a:cubicBezTo>
                    <a:pt x="0" y="121920"/>
                    <a:pt x="121920" y="0"/>
                    <a:pt x="272415" y="0"/>
                  </a:cubicBezTo>
                  <a:lnTo>
                    <a:pt x="2523490" y="0"/>
                  </a:lnTo>
                  <a:cubicBezTo>
                    <a:pt x="2673985" y="0"/>
                    <a:pt x="2795905" y="121920"/>
                    <a:pt x="2795905" y="272415"/>
                  </a:cubicBezTo>
                  <a:lnTo>
                    <a:pt x="2795905" y="302387"/>
                  </a:lnTo>
                  <a:cubicBezTo>
                    <a:pt x="2795905" y="452882"/>
                    <a:pt x="2673985" y="574802"/>
                    <a:pt x="2523490" y="574802"/>
                  </a:cubicBezTo>
                  <a:lnTo>
                    <a:pt x="272415" y="574802"/>
                  </a:lnTo>
                  <a:cubicBezTo>
                    <a:pt x="121920" y="574675"/>
                    <a:pt x="0" y="452755"/>
                    <a:pt x="0" y="302387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78760" y="1284056"/>
            <a:ext cx="2671553" cy="270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TRANSPARENCE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1610201"/>
            <a:ext cx="16315868" cy="102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Équité : on mesure, on ne cache pas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2941453"/>
            <a:ext cx="16315868" cy="103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L'équité est au cœur de notre démarche. Nous ne nous contentons pas de prédire, nous vous donnons les outils pour mesurer et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corriger les inégalités potentielles, renforçant ainsi la confiance de vos équipes et de vos instances.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19522" y="4696635"/>
            <a:ext cx="5520242" cy="4225738"/>
            <a:chOff x="0" y="0"/>
            <a:chExt cx="7360323" cy="56343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60285" cy="5634228"/>
            </a:xfrm>
            <a:custGeom>
              <a:avLst/>
              <a:gdLst/>
              <a:ahLst/>
              <a:cxnLst/>
              <a:rect r="r" b="b" t="t" l="l"/>
              <a:pathLst>
                <a:path h="5634228" w="7360285">
                  <a:moveTo>
                    <a:pt x="0" y="939038"/>
                  </a:moveTo>
                  <a:cubicBezTo>
                    <a:pt x="0" y="420497"/>
                    <a:pt x="420497" y="0"/>
                    <a:pt x="939038" y="0"/>
                  </a:cubicBezTo>
                  <a:lnTo>
                    <a:pt x="6421247" y="0"/>
                  </a:lnTo>
                  <a:cubicBezTo>
                    <a:pt x="6939915" y="0"/>
                    <a:pt x="7360285" y="420497"/>
                    <a:pt x="7360285" y="939038"/>
                  </a:cubicBezTo>
                  <a:lnTo>
                    <a:pt x="7360285" y="4695190"/>
                  </a:lnTo>
                  <a:cubicBezTo>
                    <a:pt x="7360285" y="5213858"/>
                    <a:pt x="6939788" y="5634228"/>
                    <a:pt x="6421247" y="5634228"/>
                  </a:cubicBezTo>
                  <a:lnTo>
                    <a:pt x="939038" y="5634228"/>
                  </a:lnTo>
                  <a:cubicBezTo>
                    <a:pt x="420497" y="5634355"/>
                    <a:pt x="0" y="5213858"/>
                    <a:pt x="0" y="4695190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851156" y="4266724"/>
            <a:ext cx="855059" cy="864594"/>
            <a:chOff x="0" y="0"/>
            <a:chExt cx="1140079" cy="11527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0079" cy="1152779"/>
            </a:xfrm>
            <a:custGeom>
              <a:avLst/>
              <a:gdLst/>
              <a:ahLst/>
              <a:cxnLst/>
              <a:rect r="r" b="b" t="t" l="l"/>
              <a:pathLst>
                <a:path h="1152779" w="1140079">
                  <a:moveTo>
                    <a:pt x="0" y="576453"/>
                  </a:moveTo>
                  <a:cubicBezTo>
                    <a:pt x="0" y="258064"/>
                    <a:pt x="255270" y="0"/>
                    <a:pt x="570103" y="0"/>
                  </a:cubicBezTo>
                  <a:cubicBezTo>
                    <a:pt x="884936" y="0"/>
                    <a:pt x="1140079" y="258064"/>
                    <a:pt x="1140079" y="576453"/>
                  </a:cubicBezTo>
                  <a:cubicBezTo>
                    <a:pt x="1140079" y="894842"/>
                    <a:pt x="884809" y="1152779"/>
                    <a:pt x="570103" y="1152779"/>
                  </a:cubicBezTo>
                  <a:cubicBezTo>
                    <a:pt x="255397" y="1152779"/>
                    <a:pt x="0" y="894715"/>
                    <a:pt x="0" y="57645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18159" y="5271497"/>
            <a:ext cx="4600356" cy="8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Audit Automatique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8159" y="6203794"/>
            <a:ext cx="4600356" cy="48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Un audit constant et automatisé des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performances par sexe, âge et territoire,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pour une vision objective des éventuels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déséquilibres.</a:t>
            </a:r>
          </a:p>
        </p:txBody>
      </p:sp>
      <p:sp>
        <p:nvSpPr>
          <p:cNvPr name="Freeform 20" id="20" descr="flow chart"/>
          <p:cNvSpPr/>
          <p:nvPr/>
        </p:nvSpPr>
        <p:spPr>
          <a:xfrm flipH="false" flipV="false" rot="0">
            <a:off x="3056106" y="4475007"/>
            <a:ext cx="447075" cy="447075"/>
          </a:xfrm>
          <a:custGeom>
            <a:avLst/>
            <a:gdLst/>
            <a:ahLst/>
            <a:cxnLst/>
            <a:rect r="r" b="b" t="t" l="l"/>
            <a:pathLst>
              <a:path h="447075" w="447075">
                <a:moveTo>
                  <a:pt x="0" y="0"/>
                </a:moveTo>
                <a:lnTo>
                  <a:pt x="447075" y="0"/>
                </a:lnTo>
                <a:lnTo>
                  <a:pt x="447075" y="447075"/>
                </a:lnTo>
                <a:lnTo>
                  <a:pt x="0" y="447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192279" y="4742393"/>
            <a:ext cx="5583155" cy="4179027"/>
            <a:chOff x="0" y="0"/>
            <a:chExt cx="7444207" cy="55720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44232" cy="5572125"/>
            </a:xfrm>
            <a:custGeom>
              <a:avLst/>
              <a:gdLst/>
              <a:ahLst/>
              <a:cxnLst/>
              <a:rect r="r" b="b" t="t" l="l"/>
              <a:pathLst>
                <a:path h="5572125" w="7444232">
                  <a:moveTo>
                    <a:pt x="0" y="928751"/>
                  </a:moveTo>
                  <a:cubicBezTo>
                    <a:pt x="0" y="415798"/>
                    <a:pt x="415798" y="0"/>
                    <a:pt x="928751" y="0"/>
                  </a:cubicBezTo>
                  <a:lnTo>
                    <a:pt x="6515481" y="0"/>
                  </a:lnTo>
                  <a:cubicBezTo>
                    <a:pt x="7028435" y="0"/>
                    <a:pt x="7444232" y="415798"/>
                    <a:pt x="7444232" y="928751"/>
                  </a:cubicBezTo>
                  <a:lnTo>
                    <a:pt x="7444232" y="4643374"/>
                  </a:lnTo>
                  <a:cubicBezTo>
                    <a:pt x="7444232" y="5156327"/>
                    <a:pt x="7028435" y="5572125"/>
                    <a:pt x="6515481" y="5572125"/>
                  </a:cubicBezTo>
                  <a:lnTo>
                    <a:pt x="928751" y="5572125"/>
                  </a:lnTo>
                  <a:cubicBezTo>
                    <a:pt x="415798" y="5571998"/>
                    <a:pt x="0" y="5156200"/>
                    <a:pt x="0" y="4643374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50602" y="4316292"/>
            <a:ext cx="864594" cy="855059"/>
            <a:chOff x="0" y="0"/>
            <a:chExt cx="1152792" cy="11400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2779" cy="1140079"/>
            </a:xfrm>
            <a:custGeom>
              <a:avLst/>
              <a:gdLst/>
              <a:ahLst/>
              <a:cxnLst/>
              <a:rect r="r" b="b" t="t" l="l"/>
              <a:pathLst>
                <a:path h="1140079" w="1152779">
                  <a:moveTo>
                    <a:pt x="0" y="570103"/>
                  </a:moveTo>
                  <a:cubicBezTo>
                    <a:pt x="0" y="255270"/>
                    <a:pt x="258064" y="0"/>
                    <a:pt x="576453" y="0"/>
                  </a:cubicBezTo>
                  <a:cubicBezTo>
                    <a:pt x="894842" y="0"/>
                    <a:pt x="1152779" y="255270"/>
                    <a:pt x="1152779" y="570103"/>
                  </a:cubicBezTo>
                  <a:cubicBezTo>
                    <a:pt x="1152779" y="884936"/>
                    <a:pt x="894715" y="1140079"/>
                    <a:pt x="576453" y="1140079"/>
                  </a:cubicBezTo>
                  <a:cubicBezTo>
                    <a:pt x="258191" y="1140079"/>
                    <a:pt x="0" y="884809"/>
                    <a:pt x="0" y="57010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6797592" y="5309626"/>
            <a:ext cx="4652791" cy="822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Visibilité des Écarts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97592" y="6232398"/>
            <a:ext cx="4652791" cy="483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Les écarts de performance sont mis en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lumière, rendant ces informations cruciales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visibles et actionnables pour vos comités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qualité et d'éthique.</a:t>
            </a:r>
          </a:p>
        </p:txBody>
      </p:sp>
      <p:sp>
        <p:nvSpPr>
          <p:cNvPr name="Freeform 27" id="27" descr="AI"/>
          <p:cNvSpPr/>
          <p:nvPr/>
        </p:nvSpPr>
        <p:spPr>
          <a:xfrm flipH="false" flipV="false" rot="0">
            <a:off x="8757456" y="4518384"/>
            <a:ext cx="451837" cy="451837"/>
          </a:xfrm>
          <a:custGeom>
            <a:avLst/>
            <a:gdLst/>
            <a:ahLst/>
            <a:cxnLst/>
            <a:rect r="r" b="b" t="t" l="l"/>
            <a:pathLst>
              <a:path h="451837" w="451837">
                <a:moveTo>
                  <a:pt x="0" y="0"/>
                </a:moveTo>
                <a:lnTo>
                  <a:pt x="451838" y="0"/>
                </a:lnTo>
                <a:lnTo>
                  <a:pt x="451838" y="451837"/>
                </a:lnTo>
                <a:lnTo>
                  <a:pt x="0" y="4518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2017559" y="4756690"/>
            <a:ext cx="5520242" cy="4164730"/>
            <a:chOff x="0" y="0"/>
            <a:chExt cx="7360323" cy="555297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60412" cy="5553075"/>
            </a:xfrm>
            <a:custGeom>
              <a:avLst/>
              <a:gdLst/>
              <a:ahLst/>
              <a:cxnLst/>
              <a:rect r="r" b="b" t="t" l="l"/>
              <a:pathLst>
                <a:path h="5553075" w="7360412">
                  <a:moveTo>
                    <a:pt x="0" y="925576"/>
                  </a:moveTo>
                  <a:cubicBezTo>
                    <a:pt x="0" y="414401"/>
                    <a:pt x="414401" y="0"/>
                    <a:pt x="925576" y="0"/>
                  </a:cubicBezTo>
                  <a:lnTo>
                    <a:pt x="6434836" y="0"/>
                  </a:lnTo>
                  <a:cubicBezTo>
                    <a:pt x="6946011" y="0"/>
                    <a:pt x="7360412" y="414401"/>
                    <a:pt x="7360412" y="925576"/>
                  </a:cubicBezTo>
                  <a:lnTo>
                    <a:pt x="7360412" y="4627499"/>
                  </a:lnTo>
                  <a:cubicBezTo>
                    <a:pt x="7360412" y="5138674"/>
                    <a:pt x="6946011" y="5553075"/>
                    <a:pt x="6434836" y="5553075"/>
                  </a:cubicBezTo>
                  <a:lnTo>
                    <a:pt x="925576" y="5553075"/>
                  </a:lnTo>
                  <a:cubicBezTo>
                    <a:pt x="414401" y="5552948"/>
                    <a:pt x="0" y="5138547"/>
                    <a:pt x="0" y="4627499"/>
                  </a:cubicBezTo>
                  <a:close/>
                </a:path>
              </a:pathLst>
            </a:custGeom>
            <a:solidFill>
              <a:srgbClr val="E7FAF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349193" y="4326779"/>
            <a:ext cx="855059" cy="864594"/>
            <a:chOff x="0" y="0"/>
            <a:chExt cx="1140079" cy="11527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0079" cy="1152779"/>
            </a:xfrm>
            <a:custGeom>
              <a:avLst/>
              <a:gdLst/>
              <a:ahLst/>
              <a:cxnLst/>
              <a:rect r="r" b="b" t="t" l="l"/>
              <a:pathLst>
                <a:path h="1152779" w="1140079">
                  <a:moveTo>
                    <a:pt x="0" y="576453"/>
                  </a:moveTo>
                  <a:cubicBezTo>
                    <a:pt x="0" y="258064"/>
                    <a:pt x="255270" y="0"/>
                    <a:pt x="570103" y="0"/>
                  </a:cubicBezTo>
                  <a:cubicBezTo>
                    <a:pt x="884936" y="0"/>
                    <a:pt x="1140079" y="258064"/>
                    <a:pt x="1140079" y="576453"/>
                  </a:cubicBezTo>
                  <a:cubicBezTo>
                    <a:pt x="1140079" y="894842"/>
                    <a:pt x="884809" y="1152779"/>
                    <a:pt x="570103" y="1152779"/>
                  </a:cubicBezTo>
                  <a:cubicBezTo>
                    <a:pt x="255397" y="1152779"/>
                    <a:pt x="0" y="894715"/>
                    <a:pt x="0" y="576453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616196" y="5331552"/>
            <a:ext cx="4600356" cy="830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Crédibilité Renforcée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16196" y="6263850"/>
            <a:ext cx="4600356" cy="48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Cette transparence totale n'est pas seulement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une obligation, c'est un atout majeur pour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construire et maintenir la crédibilité auprès des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médecins, du personnel soignant et de la </a:t>
            </a:r>
          </a:p>
          <a:p>
            <a:pPr algn="l">
              <a:lnSpc>
                <a:spcPts val="2875"/>
              </a:lnSpc>
            </a:pPr>
            <a:r>
              <a:rPr lang="en-US" sz="18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direction.</a:t>
            </a:r>
          </a:p>
        </p:txBody>
      </p:sp>
      <p:sp>
        <p:nvSpPr>
          <p:cNvPr name="Freeform 34" id="34" descr="inspiration"/>
          <p:cNvSpPr/>
          <p:nvPr/>
        </p:nvSpPr>
        <p:spPr>
          <a:xfrm flipH="false" flipV="false" rot="0">
            <a:off x="14554143" y="4535538"/>
            <a:ext cx="447075" cy="447075"/>
          </a:xfrm>
          <a:custGeom>
            <a:avLst/>
            <a:gdLst/>
            <a:ahLst/>
            <a:cxnLst/>
            <a:rect r="r" b="b" t="t" l="l"/>
            <a:pathLst>
              <a:path h="447075" w="447075">
                <a:moveTo>
                  <a:pt x="0" y="0"/>
                </a:moveTo>
                <a:lnTo>
                  <a:pt x="447075" y="0"/>
                </a:lnTo>
                <a:lnTo>
                  <a:pt x="447075" y="447075"/>
                </a:lnTo>
                <a:lnTo>
                  <a:pt x="0" y="4470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822027"/>
            <a:ext cx="2215201" cy="388001"/>
            <a:chOff x="0" y="0"/>
            <a:chExt cx="2953601" cy="517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53512" cy="517271"/>
            </a:xfrm>
            <a:custGeom>
              <a:avLst/>
              <a:gdLst/>
              <a:ahLst/>
              <a:cxnLst/>
              <a:rect r="r" b="b" t="t" l="l"/>
              <a:pathLst>
                <a:path h="517271" w="2953512">
                  <a:moveTo>
                    <a:pt x="0" y="245110"/>
                  </a:moveTo>
                  <a:cubicBezTo>
                    <a:pt x="0" y="109728"/>
                    <a:pt x="109728" y="0"/>
                    <a:pt x="245110" y="0"/>
                  </a:cubicBezTo>
                  <a:lnTo>
                    <a:pt x="2708402" y="0"/>
                  </a:lnTo>
                  <a:cubicBezTo>
                    <a:pt x="2843784" y="0"/>
                    <a:pt x="2953512" y="109728"/>
                    <a:pt x="2953512" y="245110"/>
                  </a:cubicBezTo>
                  <a:lnTo>
                    <a:pt x="2953512" y="272161"/>
                  </a:lnTo>
                  <a:cubicBezTo>
                    <a:pt x="2953512" y="407543"/>
                    <a:pt x="2843784" y="517271"/>
                    <a:pt x="2708402" y="517271"/>
                  </a:cubicBezTo>
                  <a:lnTo>
                    <a:pt x="245110" y="517271"/>
                  </a:lnTo>
                  <a:cubicBezTo>
                    <a:pt x="109728" y="517271"/>
                    <a:pt x="0" y="407543"/>
                    <a:pt x="0" y="272161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6096" y="889054"/>
            <a:ext cx="2824067" cy="24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5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SCÉNARIO D'USAGE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159050"/>
            <a:ext cx="16315868" cy="94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Scénario d'usage : Le coordinateur au quotidien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2320804"/>
            <a:ext cx="16315868" cy="90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Découvrez comment CISIA transforme le quotidien du coordinateur, en rendant chaque prise de décision plus rapide, </a:t>
            </a:r>
          </a:p>
          <a:p>
            <a:pPr algn="l">
              <a:lnSpc>
                <a:spcPts val="3354"/>
              </a:lnSpc>
            </a:pPr>
            <a:r>
              <a:rPr lang="en-US" sz="2101">
                <a:solidFill>
                  <a:srgbClr val="4B4A4A"/>
                </a:solidFill>
                <a:latin typeface="Calibri (MS)"/>
                <a:ea typeface="Calibri (MS)"/>
                <a:cs typeface="Calibri (MS)"/>
                <a:sym typeface="Calibri (MS)"/>
              </a:rPr>
              <a:t>plus précise et plus humaine.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6476257"/>
            <a:ext cx="16315868" cy="28594"/>
            <a:chOff x="0" y="0"/>
            <a:chExt cx="21754490" cy="38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54464" cy="38100"/>
            </a:xfrm>
            <a:custGeom>
              <a:avLst/>
              <a:gdLst/>
              <a:ahLst/>
              <a:cxnLst/>
              <a:rect r="r" b="b" t="t" l="l"/>
              <a:pathLst>
                <a:path h="38100" w="2175446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35414" y="0"/>
                  </a:lnTo>
                  <a:cubicBezTo>
                    <a:pt x="21745955" y="0"/>
                    <a:pt x="21754464" y="8509"/>
                    <a:pt x="21754464" y="19050"/>
                  </a:cubicBezTo>
                  <a:cubicBezTo>
                    <a:pt x="21754464" y="29591"/>
                    <a:pt x="21745955" y="38100"/>
                    <a:pt x="2173541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9806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155596" y="5710238"/>
            <a:ext cx="28594" cy="766020"/>
            <a:chOff x="0" y="0"/>
            <a:chExt cx="38125" cy="10213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" cy="1021334"/>
            </a:xfrm>
            <a:custGeom>
              <a:avLst/>
              <a:gdLst/>
              <a:ahLst/>
              <a:cxnLst/>
              <a:rect r="r" b="b" t="t" l="l"/>
              <a:pathLst>
                <a:path h="102133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2284"/>
                  </a:lnTo>
                  <a:cubicBezTo>
                    <a:pt x="38100" y="1012825"/>
                    <a:pt x="29591" y="1021334"/>
                    <a:pt x="19050" y="1021334"/>
                  </a:cubicBezTo>
                  <a:cubicBezTo>
                    <a:pt x="8509" y="1021334"/>
                    <a:pt x="0" y="1012825"/>
                    <a:pt x="0" y="1002284"/>
                  </a:cubicBezTo>
                  <a:close/>
                </a:path>
              </a:pathLst>
            </a:custGeom>
            <a:solidFill>
              <a:srgbClr val="19806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074195" y="6380559"/>
            <a:ext cx="191386" cy="191395"/>
            <a:chOff x="0" y="0"/>
            <a:chExt cx="255181" cy="2551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5143" cy="255143"/>
            </a:xfrm>
            <a:custGeom>
              <a:avLst/>
              <a:gdLst/>
              <a:ahLst/>
              <a:cxnLst/>
              <a:rect r="r" b="b" t="t" l="l"/>
              <a:pathLst>
                <a:path h="255143" w="255143">
                  <a:moveTo>
                    <a:pt x="0" y="127635"/>
                  </a:moveTo>
                  <a:cubicBezTo>
                    <a:pt x="0" y="57150"/>
                    <a:pt x="57150" y="0"/>
                    <a:pt x="127635" y="0"/>
                  </a:cubicBezTo>
                  <a:cubicBezTo>
                    <a:pt x="198120" y="0"/>
                    <a:pt x="255143" y="57150"/>
                    <a:pt x="255143" y="127635"/>
                  </a:cubicBezTo>
                  <a:cubicBezTo>
                    <a:pt x="255143" y="198120"/>
                    <a:pt x="198120" y="255143"/>
                    <a:pt x="127635" y="255143"/>
                  </a:cubicBezTo>
                  <a:cubicBezTo>
                    <a:pt x="57150" y="255143"/>
                    <a:pt x="0" y="198120"/>
                    <a:pt x="0" y="127635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88219" y="4644619"/>
            <a:ext cx="6363491" cy="1070381"/>
            <a:chOff x="0" y="0"/>
            <a:chExt cx="8484654" cy="14271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84615" cy="1427188"/>
            </a:xfrm>
            <a:custGeom>
              <a:avLst/>
              <a:gdLst/>
              <a:ahLst/>
              <a:cxnLst/>
              <a:rect r="r" b="b" t="t" l="l"/>
              <a:pathLst>
                <a:path h="1427188" w="8484615">
                  <a:moveTo>
                    <a:pt x="0" y="147026"/>
                  </a:moveTo>
                  <a:cubicBezTo>
                    <a:pt x="0" y="65837"/>
                    <a:pt x="137795" y="0"/>
                    <a:pt x="307721" y="0"/>
                  </a:cubicBezTo>
                  <a:lnTo>
                    <a:pt x="8176895" y="0"/>
                  </a:lnTo>
                  <a:cubicBezTo>
                    <a:pt x="8346821" y="0"/>
                    <a:pt x="8484615" y="65837"/>
                    <a:pt x="8484615" y="147026"/>
                  </a:cubicBezTo>
                  <a:lnTo>
                    <a:pt x="8484615" y="1280155"/>
                  </a:lnTo>
                  <a:cubicBezTo>
                    <a:pt x="8484615" y="1361344"/>
                    <a:pt x="8346821" y="1427188"/>
                    <a:pt x="8176895" y="1427188"/>
                  </a:cubicBezTo>
                  <a:lnTo>
                    <a:pt x="307721" y="1427188"/>
                  </a:lnTo>
                  <a:cubicBezTo>
                    <a:pt x="137795" y="1427188"/>
                    <a:pt x="0" y="1361344"/>
                    <a:pt x="0" y="1280155"/>
                  </a:cubicBezTo>
                  <a:close/>
                </a:path>
              </a:pathLst>
            </a:custGeom>
            <a:solidFill>
              <a:srgbClr val="D1EFE4"/>
            </a:solidFill>
            <a:ln w="9532" cap="sq">
              <a:solidFill>
                <a:srgbClr val="00674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72026" y="4948085"/>
            <a:ext cx="5824328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8h30 - Filtration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476230" y="6476257"/>
            <a:ext cx="28594" cy="766020"/>
            <a:chOff x="0" y="0"/>
            <a:chExt cx="38125" cy="10213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100" cy="1021334"/>
            </a:xfrm>
            <a:custGeom>
              <a:avLst/>
              <a:gdLst/>
              <a:ahLst/>
              <a:cxnLst/>
              <a:rect r="r" b="b" t="t" l="l"/>
              <a:pathLst>
                <a:path h="102133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2284"/>
                  </a:lnTo>
                  <a:cubicBezTo>
                    <a:pt x="38100" y="1012825"/>
                    <a:pt x="29591" y="1021334"/>
                    <a:pt x="19050" y="1021334"/>
                  </a:cubicBezTo>
                  <a:cubicBezTo>
                    <a:pt x="8509" y="1021334"/>
                    <a:pt x="0" y="1012825"/>
                    <a:pt x="0" y="1002284"/>
                  </a:cubicBezTo>
                  <a:close/>
                </a:path>
              </a:pathLst>
            </a:custGeom>
            <a:solidFill>
              <a:srgbClr val="19806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94839" y="6380559"/>
            <a:ext cx="191386" cy="191395"/>
            <a:chOff x="0" y="0"/>
            <a:chExt cx="255181" cy="25519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5143" cy="255143"/>
            </a:xfrm>
            <a:custGeom>
              <a:avLst/>
              <a:gdLst/>
              <a:ahLst/>
              <a:cxnLst/>
              <a:rect r="r" b="b" t="t" l="l"/>
              <a:pathLst>
                <a:path h="255143" w="255143">
                  <a:moveTo>
                    <a:pt x="0" y="127635"/>
                  </a:moveTo>
                  <a:cubicBezTo>
                    <a:pt x="0" y="57150"/>
                    <a:pt x="57150" y="0"/>
                    <a:pt x="127635" y="0"/>
                  </a:cubicBezTo>
                  <a:cubicBezTo>
                    <a:pt x="198120" y="0"/>
                    <a:pt x="255143" y="57150"/>
                    <a:pt x="255143" y="127635"/>
                  </a:cubicBezTo>
                  <a:cubicBezTo>
                    <a:pt x="255143" y="198120"/>
                    <a:pt x="198120" y="255143"/>
                    <a:pt x="127635" y="255143"/>
                  </a:cubicBezTo>
                  <a:cubicBezTo>
                    <a:pt x="57150" y="255143"/>
                    <a:pt x="0" y="198120"/>
                    <a:pt x="0" y="127635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308710" y="7237514"/>
            <a:ext cx="6363643" cy="1120135"/>
            <a:chOff x="0" y="0"/>
            <a:chExt cx="8484857" cy="149351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84870" cy="1493526"/>
            </a:xfrm>
            <a:custGeom>
              <a:avLst/>
              <a:gdLst/>
              <a:ahLst/>
              <a:cxnLst/>
              <a:rect r="r" b="b" t="t" l="l"/>
              <a:pathLst>
                <a:path h="1493526" w="8484870">
                  <a:moveTo>
                    <a:pt x="0" y="153860"/>
                  </a:moveTo>
                  <a:cubicBezTo>
                    <a:pt x="0" y="68898"/>
                    <a:pt x="137795" y="0"/>
                    <a:pt x="307721" y="0"/>
                  </a:cubicBezTo>
                  <a:lnTo>
                    <a:pt x="8177149" y="0"/>
                  </a:lnTo>
                  <a:cubicBezTo>
                    <a:pt x="8347075" y="0"/>
                    <a:pt x="8484870" y="68898"/>
                    <a:pt x="8484870" y="153860"/>
                  </a:cubicBezTo>
                  <a:lnTo>
                    <a:pt x="8484870" y="1339660"/>
                  </a:lnTo>
                  <a:cubicBezTo>
                    <a:pt x="8484870" y="1424623"/>
                    <a:pt x="8347075" y="1493526"/>
                    <a:pt x="8177149" y="1493526"/>
                  </a:cubicBezTo>
                  <a:lnTo>
                    <a:pt x="307721" y="1493526"/>
                  </a:lnTo>
                  <a:cubicBezTo>
                    <a:pt x="137795" y="1493526"/>
                    <a:pt x="0" y="1424623"/>
                    <a:pt x="0" y="1339660"/>
                  </a:cubicBezTo>
                  <a:close/>
                </a:path>
              </a:pathLst>
            </a:custGeom>
            <a:solidFill>
              <a:srgbClr val="D1EFE4"/>
            </a:solidFill>
            <a:ln w="9532" cap="sq">
              <a:solidFill>
                <a:srgbClr val="006747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4578286" y="7598147"/>
            <a:ext cx="5824480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Analyse Approfondie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796864" y="5710238"/>
            <a:ext cx="28594" cy="766020"/>
            <a:chOff x="0" y="0"/>
            <a:chExt cx="38125" cy="10213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00" cy="1021334"/>
            </a:xfrm>
            <a:custGeom>
              <a:avLst/>
              <a:gdLst/>
              <a:ahLst/>
              <a:cxnLst/>
              <a:rect r="r" b="b" t="t" l="l"/>
              <a:pathLst>
                <a:path h="102133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2284"/>
                  </a:lnTo>
                  <a:cubicBezTo>
                    <a:pt x="38100" y="1012825"/>
                    <a:pt x="29591" y="1021334"/>
                    <a:pt x="19050" y="1021334"/>
                  </a:cubicBezTo>
                  <a:cubicBezTo>
                    <a:pt x="8509" y="1021334"/>
                    <a:pt x="0" y="1012825"/>
                    <a:pt x="0" y="1002284"/>
                  </a:cubicBezTo>
                  <a:close/>
                </a:path>
              </a:pathLst>
            </a:custGeom>
            <a:solidFill>
              <a:srgbClr val="19806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715473" y="6380559"/>
            <a:ext cx="191386" cy="191395"/>
            <a:chOff x="0" y="0"/>
            <a:chExt cx="255181" cy="2551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5143" cy="255143"/>
            </a:xfrm>
            <a:custGeom>
              <a:avLst/>
              <a:gdLst/>
              <a:ahLst/>
              <a:cxnLst/>
              <a:rect r="r" b="b" t="t" l="l"/>
              <a:pathLst>
                <a:path h="255143" w="255143">
                  <a:moveTo>
                    <a:pt x="0" y="127635"/>
                  </a:moveTo>
                  <a:cubicBezTo>
                    <a:pt x="0" y="57150"/>
                    <a:pt x="57150" y="0"/>
                    <a:pt x="127635" y="0"/>
                  </a:cubicBezTo>
                  <a:cubicBezTo>
                    <a:pt x="198120" y="0"/>
                    <a:pt x="255143" y="57150"/>
                    <a:pt x="255143" y="127635"/>
                  </a:cubicBezTo>
                  <a:cubicBezTo>
                    <a:pt x="255143" y="198120"/>
                    <a:pt x="198120" y="255143"/>
                    <a:pt x="127635" y="255143"/>
                  </a:cubicBezTo>
                  <a:cubicBezTo>
                    <a:pt x="57150" y="255143"/>
                    <a:pt x="0" y="198120"/>
                    <a:pt x="0" y="127635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629344" y="4644619"/>
            <a:ext cx="6363643" cy="1070381"/>
            <a:chOff x="0" y="0"/>
            <a:chExt cx="8484857" cy="142717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84870" cy="1427188"/>
            </a:xfrm>
            <a:custGeom>
              <a:avLst/>
              <a:gdLst/>
              <a:ahLst/>
              <a:cxnLst/>
              <a:rect r="r" b="b" t="t" l="l"/>
              <a:pathLst>
                <a:path h="1427188" w="8484870">
                  <a:moveTo>
                    <a:pt x="0" y="147026"/>
                  </a:moveTo>
                  <a:cubicBezTo>
                    <a:pt x="0" y="65837"/>
                    <a:pt x="137795" y="0"/>
                    <a:pt x="307721" y="0"/>
                  </a:cubicBezTo>
                  <a:lnTo>
                    <a:pt x="8177149" y="0"/>
                  </a:lnTo>
                  <a:cubicBezTo>
                    <a:pt x="8347075" y="0"/>
                    <a:pt x="8484870" y="65837"/>
                    <a:pt x="8484870" y="147026"/>
                  </a:cubicBezTo>
                  <a:lnTo>
                    <a:pt x="8484870" y="1280155"/>
                  </a:lnTo>
                  <a:cubicBezTo>
                    <a:pt x="8484870" y="1361344"/>
                    <a:pt x="8347075" y="1427188"/>
                    <a:pt x="8177149" y="1427188"/>
                  </a:cubicBezTo>
                  <a:lnTo>
                    <a:pt x="307721" y="1427188"/>
                  </a:lnTo>
                  <a:cubicBezTo>
                    <a:pt x="137795" y="1427188"/>
                    <a:pt x="0" y="1361344"/>
                    <a:pt x="0" y="1280155"/>
                  </a:cubicBezTo>
                  <a:close/>
                </a:path>
              </a:pathLst>
            </a:custGeom>
            <a:solidFill>
              <a:srgbClr val="D1EFE4"/>
            </a:solidFill>
            <a:ln w="9532" cap="sq">
              <a:solidFill>
                <a:srgbClr val="006747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7913218" y="4980375"/>
            <a:ext cx="5824480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Action Ciblée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117498" y="6476257"/>
            <a:ext cx="28594" cy="766020"/>
            <a:chOff x="0" y="0"/>
            <a:chExt cx="38125" cy="10213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100" cy="1021334"/>
            </a:xfrm>
            <a:custGeom>
              <a:avLst/>
              <a:gdLst/>
              <a:ahLst/>
              <a:cxnLst/>
              <a:rect r="r" b="b" t="t" l="l"/>
              <a:pathLst>
                <a:path h="102133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2284"/>
                  </a:lnTo>
                  <a:cubicBezTo>
                    <a:pt x="38100" y="1012825"/>
                    <a:pt x="29591" y="1021334"/>
                    <a:pt x="19050" y="1021334"/>
                  </a:cubicBezTo>
                  <a:cubicBezTo>
                    <a:pt x="8509" y="1021334"/>
                    <a:pt x="0" y="1012825"/>
                    <a:pt x="0" y="1002284"/>
                  </a:cubicBezTo>
                  <a:close/>
                </a:path>
              </a:pathLst>
            </a:custGeom>
            <a:solidFill>
              <a:srgbClr val="19806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036107" y="6380559"/>
            <a:ext cx="191386" cy="191395"/>
            <a:chOff x="0" y="0"/>
            <a:chExt cx="255181" cy="25519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5143" cy="255143"/>
            </a:xfrm>
            <a:custGeom>
              <a:avLst/>
              <a:gdLst/>
              <a:ahLst/>
              <a:cxnLst/>
              <a:rect r="r" b="b" t="t" l="l"/>
              <a:pathLst>
                <a:path h="255143" w="255143">
                  <a:moveTo>
                    <a:pt x="0" y="127635"/>
                  </a:moveTo>
                  <a:cubicBezTo>
                    <a:pt x="0" y="57150"/>
                    <a:pt x="57150" y="0"/>
                    <a:pt x="127635" y="0"/>
                  </a:cubicBezTo>
                  <a:cubicBezTo>
                    <a:pt x="198120" y="0"/>
                    <a:pt x="255143" y="57150"/>
                    <a:pt x="255143" y="127635"/>
                  </a:cubicBezTo>
                  <a:cubicBezTo>
                    <a:pt x="255143" y="198120"/>
                    <a:pt x="198120" y="255143"/>
                    <a:pt x="127635" y="255143"/>
                  </a:cubicBezTo>
                  <a:cubicBezTo>
                    <a:pt x="57150" y="255143"/>
                    <a:pt x="0" y="198120"/>
                    <a:pt x="0" y="127635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49978" y="7237514"/>
            <a:ext cx="6363643" cy="1120135"/>
            <a:chOff x="0" y="0"/>
            <a:chExt cx="8484857" cy="149351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84870" cy="1493526"/>
            </a:xfrm>
            <a:custGeom>
              <a:avLst/>
              <a:gdLst/>
              <a:ahLst/>
              <a:cxnLst/>
              <a:rect r="r" b="b" t="t" l="l"/>
              <a:pathLst>
                <a:path h="1493526" w="8484870">
                  <a:moveTo>
                    <a:pt x="0" y="153860"/>
                  </a:moveTo>
                  <a:cubicBezTo>
                    <a:pt x="0" y="68898"/>
                    <a:pt x="137795" y="0"/>
                    <a:pt x="307721" y="0"/>
                  </a:cubicBezTo>
                  <a:lnTo>
                    <a:pt x="8177149" y="0"/>
                  </a:lnTo>
                  <a:cubicBezTo>
                    <a:pt x="8347075" y="0"/>
                    <a:pt x="8484870" y="68898"/>
                    <a:pt x="8484870" y="153860"/>
                  </a:cubicBezTo>
                  <a:lnTo>
                    <a:pt x="8484870" y="1339660"/>
                  </a:lnTo>
                  <a:cubicBezTo>
                    <a:pt x="8484870" y="1424623"/>
                    <a:pt x="8347075" y="1493526"/>
                    <a:pt x="8177149" y="1493526"/>
                  </a:cubicBezTo>
                  <a:lnTo>
                    <a:pt x="307721" y="1493526"/>
                  </a:lnTo>
                  <a:cubicBezTo>
                    <a:pt x="137795" y="1493526"/>
                    <a:pt x="0" y="1424623"/>
                    <a:pt x="0" y="1339660"/>
                  </a:cubicBezTo>
                  <a:close/>
                </a:path>
              </a:pathLst>
            </a:custGeom>
            <a:solidFill>
              <a:srgbClr val="D1EFE4"/>
            </a:solidFill>
            <a:ln w="9532" cap="sq">
              <a:solidFill>
                <a:srgbClr val="006747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1219555" y="7598147"/>
            <a:ext cx="5824480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7"/>
              </a:lnSpc>
            </a:pPr>
            <a:r>
              <a:rPr lang="en-US" sz="2702" b="true">
                <a:solidFill>
                  <a:srgbClr val="4B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 Suivi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5F9F2">
                <a:alpha val="72157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991" y="1238621"/>
            <a:ext cx="1632985" cy="388001"/>
            <a:chOff x="0" y="0"/>
            <a:chExt cx="2177313" cy="5173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7288" cy="517271"/>
            </a:xfrm>
            <a:custGeom>
              <a:avLst/>
              <a:gdLst/>
              <a:ahLst/>
              <a:cxnLst/>
              <a:rect r="r" b="b" t="t" l="l"/>
              <a:pathLst>
                <a:path h="517271" w="2177288">
                  <a:moveTo>
                    <a:pt x="0" y="245110"/>
                  </a:moveTo>
                  <a:cubicBezTo>
                    <a:pt x="0" y="109728"/>
                    <a:pt x="109728" y="0"/>
                    <a:pt x="245110" y="0"/>
                  </a:cubicBezTo>
                  <a:lnTo>
                    <a:pt x="1932178" y="0"/>
                  </a:lnTo>
                  <a:cubicBezTo>
                    <a:pt x="2067560" y="0"/>
                    <a:pt x="2177288" y="109728"/>
                    <a:pt x="2177288" y="245110"/>
                  </a:cubicBezTo>
                  <a:lnTo>
                    <a:pt x="2177288" y="272161"/>
                  </a:lnTo>
                  <a:cubicBezTo>
                    <a:pt x="2177288" y="407543"/>
                    <a:pt x="2067560" y="517271"/>
                    <a:pt x="1932178" y="517271"/>
                  </a:cubicBezTo>
                  <a:lnTo>
                    <a:pt x="245110" y="517271"/>
                  </a:lnTo>
                  <a:cubicBezTo>
                    <a:pt x="109728" y="517271"/>
                    <a:pt x="0" y="407543"/>
                    <a:pt x="0" y="272161"/>
                  </a:cubicBezTo>
                  <a:close/>
                </a:path>
              </a:pathLst>
            </a:custGeom>
            <a:solidFill>
              <a:srgbClr val="CCFFE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6096" y="1305658"/>
            <a:ext cx="2241852" cy="24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576">
                <a:solidFill>
                  <a:srgbClr val="4B4A4A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1575645"/>
            <a:ext cx="16315868" cy="94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CISIA Readmit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3277" y="3482311"/>
            <a:ext cx="16315734" cy="124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Moins de réadmissions évitées trop tard.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3277" y="5096161"/>
            <a:ext cx="16315734" cy="124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Plus de suivi là où le risque est réel.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3277" y="6710953"/>
            <a:ext cx="16315734" cy="124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4"/>
              </a:lnSpc>
            </a:pPr>
            <a:r>
              <a:rPr lang="en-US" sz="5404" b="true">
                <a:solidFill>
                  <a:srgbClr val="0067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Sans compromettre le secret médical.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DAHWeySPSWE</dc:identifier>
  <dcterms:modified xsi:type="dcterms:W3CDTF">2011-08-01T06:04:30Z</dcterms:modified>
  <cp:revision>1</cp:revision>
  <dc:title>Copie de Projet_CISIA/LSB</dc:title>
</cp:coreProperties>
</file>